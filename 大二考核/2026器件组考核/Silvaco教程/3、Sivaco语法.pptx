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289" r:id="rId3"/>
    <p:sldId id="290" r:id="rId4"/>
    <p:sldId id="291" r:id="rId5"/>
    <p:sldId id="292" r:id="rId6"/>
    <p:sldId id="293" r:id="rId7"/>
    <p:sldId id="294" r:id="rId8"/>
    <p:sldId id="295" r:id="rId9"/>
    <p:sldId id="388" r:id="rId10"/>
    <p:sldId id="397" r:id="rId11"/>
    <p:sldId id="422" r:id="rId12"/>
    <p:sldId id="420" r:id="rId13"/>
    <p:sldId id="419" r:id="rId14"/>
    <p:sldId id="389" r:id="rId15"/>
    <p:sldId id="390" r:id="rId16"/>
    <p:sldId id="393" r:id="rId17"/>
    <p:sldId id="394" r:id="rId18"/>
    <p:sldId id="395" r:id="rId19"/>
    <p:sldId id="396" r:id="rId20"/>
    <p:sldId id="398" r:id="rId21"/>
    <p:sldId id="399" r:id="rId22"/>
    <p:sldId id="391" r:id="rId23"/>
    <p:sldId id="423" r:id="rId24"/>
    <p:sldId id="424" r:id="rId25"/>
    <p:sldId id="415" r:id="rId26"/>
    <p:sldId id="411" r:id="rId27"/>
    <p:sldId id="404" r:id="rId28"/>
    <p:sldId id="409" r:id="rId29"/>
    <p:sldId id="405" r:id="rId30"/>
    <p:sldId id="421" r:id="rId31"/>
    <p:sldId id="416" r:id="rId32"/>
    <p:sldId id="417" r:id="rId33"/>
    <p:sldId id="418" r:id="rId34"/>
    <p:sldId id="406" r:id="rId35"/>
    <p:sldId id="407" r:id="rId36"/>
    <p:sldId id="410" r:id="rId37"/>
    <p:sldId id="408" r:id="rId38"/>
    <p:sldId id="400" r:id="rId39"/>
    <p:sldId id="403" r:id="rId40"/>
    <p:sldId id="412" r:id="rId41"/>
    <p:sldId id="413" r:id="rId42"/>
    <p:sldId id="414" r:id="rId4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9039" autoAdjust="0"/>
    <p:restoredTop sz="94660"/>
  </p:normalViewPr>
  <p:slideViewPr>
    <p:cSldViewPr>
      <p:cViewPr varScale="1">
        <p:scale>
          <a:sx n="109" d="100"/>
          <a:sy n="109" d="100"/>
        </p:scale>
        <p:origin x="1700" y="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5C1CBE-2CB5-4065-9F10-607261F46265}" type="datetimeFigureOut">
              <a:rPr lang="zh-CN" altLang="en-US" smtClean="0"/>
              <a:t>2024/2/24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C190E8-38A7-4D35-AFEA-5A169D3BE9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0353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C190E8-38A7-4D35-AFEA-5A169D3BE9B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986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94A29-05AF-4801-8983-29D84B087BA6}" type="datetimeFigureOut">
              <a:rPr lang="zh-CN" altLang="en-US" smtClean="0"/>
              <a:t>2024/2/24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C6125-489F-4B4F-8ED8-8AA0BCAE3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526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94A29-05AF-4801-8983-29D84B087BA6}" type="datetimeFigureOut">
              <a:rPr lang="zh-CN" altLang="en-US" smtClean="0"/>
              <a:t>2024/2/24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C6125-489F-4B4F-8ED8-8AA0BCAE3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181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94A29-05AF-4801-8983-29D84B087BA6}" type="datetimeFigureOut">
              <a:rPr lang="zh-CN" altLang="en-US" smtClean="0"/>
              <a:t>2024/2/24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C6125-489F-4B4F-8ED8-8AA0BCAE3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950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94A29-05AF-4801-8983-29D84B087BA6}" type="datetimeFigureOut">
              <a:rPr lang="zh-CN" altLang="en-US" smtClean="0"/>
              <a:t>2024/2/24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C6125-489F-4B4F-8ED8-8AA0BCAE3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2383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94A29-05AF-4801-8983-29D84B087BA6}" type="datetimeFigureOut">
              <a:rPr lang="zh-CN" altLang="en-US" smtClean="0"/>
              <a:t>2024/2/24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C6125-489F-4B4F-8ED8-8AA0BCAE3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0753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94A29-05AF-4801-8983-29D84B087BA6}" type="datetimeFigureOut">
              <a:rPr lang="zh-CN" altLang="en-US" smtClean="0"/>
              <a:t>2024/2/24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C6125-489F-4B4F-8ED8-8AA0BCAE3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38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94A29-05AF-4801-8983-29D84B087BA6}" type="datetimeFigureOut">
              <a:rPr lang="zh-CN" altLang="en-US" smtClean="0"/>
              <a:t>2024/2/24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C6125-489F-4B4F-8ED8-8AA0BCAE3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420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94A29-05AF-4801-8983-29D84B087BA6}" type="datetimeFigureOut">
              <a:rPr lang="zh-CN" altLang="en-US" smtClean="0"/>
              <a:t>2024/2/24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C6125-489F-4B4F-8ED8-8AA0BCAE3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4596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94A29-05AF-4801-8983-29D84B087BA6}" type="datetimeFigureOut">
              <a:rPr lang="zh-CN" altLang="en-US" smtClean="0"/>
              <a:t>2024/2/24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C6125-489F-4B4F-8ED8-8AA0BCAE3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6148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94A29-05AF-4801-8983-29D84B087BA6}" type="datetimeFigureOut">
              <a:rPr lang="zh-CN" altLang="en-US" smtClean="0"/>
              <a:t>2024/2/24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C6125-489F-4B4F-8ED8-8AA0BCAE3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969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94A29-05AF-4801-8983-29D84B087BA6}" type="datetimeFigureOut">
              <a:rPr lang="zh-CN" altLang="en-US" smtClean="0"/>
              <a:t>2024/2/24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C6125-489F-4B4F-8ED8-8AA0BCAE3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71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D94A29-05AF-4801-8983-29D84B087BA6}" type="datetimeFigureOut">
              <a:rPr lang="zh-CN" altLang="en-US" smtClean="0"/>
              <a:t>2024/2/24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0C6125-489F-4B4F-8ED8-8AA0BCAE3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420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7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8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ctrTitle"/>
          </p:nvPr>
        </p:nvSpPr>
        <p:spPr>
          <a:xfrm>
            <a:off x="755650" y="1339850"/>
            <a:ext cx="7772400" cy="1873250"/>
          </a:xfrm>
        </p:spPr>
        <p:txBody>
          <a:bodyPr/>
          <a:lstStyle/>
          <a:p>
            <a:pPr lvl="0">
              <a:defRPr/>
            </a:pPr>
            <a:r>
              <a:rPr lang="zh-CN" altLang="en-US" sz="4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集成电路</a:t>
            </a:r>
            <a:r>
              <a:rPr lang="en-US" altLang="zh-CN" sz="4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EDA</a:t>
            </a:r>
            <a:r>
              <a:rPr lang="zh-CN" altLang="en-US" sz="4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技术</a:t>
            </a:r>
          </a:p>
        </p:txBody>
      </p:sp>
      <p:grpSp>
        <p:nvGrpSpPr>
          <p:cNvPr id="7172" name="Group 4"/>
          <p:cNvGrpSpPr>
            <a:grpSpLocks/>
          </p:cNvGrpSpPr>
          <p:nvPr/>
        </p:nvGrpSpPr>
        <p:grpSpPr bwMode="auto">
          <a:xfrm>
            <a:off x="250825" y="3357563"/>
            <a:ext cx="8610600" cy="201612"/>
            <a:chOff x="144" y="1680"/>
            <a:chExt cx="5424" cy="144"/>
          </a:xfrm>
        </p:grpSpPr>
        <p:sp>
          <p:nvSpPr>
            <p:cNvPr id="7175" name="Rectangle 5"/>
            <p:cNvSpPr>
              <a:spLocks noChangeArrowheads="1"/>
            </p:cNvSpPr>
            <p:nvPr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76" name="Rectangle 6"/>
            <p:cNvSpPr>
              <a:spLocks noChangeArrowheads="1"/>
            </p:cNvSpPr>
            <p:nvPr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rgbClr val="CC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77" name="Rectangle 7"/>
            <p:cNvSpPr>
              <a:spLocks noChangeArrowheads="1"/>
            </p:cNvSpPr>
            <p:nvPr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pic>
        <p:nvPicPr>
          <p:cNvPr id="717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3857628"/>
            <a:ext cx="4067175" cy="271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2"/>
          <p:cNvSpPr txBox="1">
            <a:spLocks/>
          </p:cNvSpPr>
          <p:nvPr/>
        </p:nvSpPr>
        <p:spPr>
          <a:xfrm>
            <a:off x="467544" y="3562623"/>
            <a:ext cx="7772400" cy="1873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4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4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4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</a:t>
            </a:r>
            <a:r>
              <a:rPr lang="zh-CN" altLang="en-US" sz="4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zh-CN" altLang="en-US" sz="4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282613"/>
      </p:ext>
    </p:extLst>
  </p:cSld>
  <p:clrMapOvr>
    <a:masterClrMapping/>
  </p:clrMapOvr>
  <p:transition advTm="22344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8728" y="1124744"/>
            <a:ext cx="9125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程序最重要的当然是语法，语法的规则主要事项如下：</a:t>
            </a:r>
          </a:p>
        </p:txBody>
      </p:sp>
      <p:sp>
        <p:nvSpPr>
          <p:cNvPr id="4" name="矩形 3"/>
          <p:cNvSpPr/>
          <p:nvPr/>
        </p:nvSpPr>
        <p:spPr>
          <a:xfrm>
            <a:off x="0" y="1844824"/>
            <a:ext cx="912527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命令可以简写，以不与其他简写相冲突为原则，如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“deposit”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可以用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“depo”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取代；不区分大小写；</a:t>
            </a:r>
            <a:endParaRPr lang="en-US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0"/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0"/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命令和参数之间、参数和参数之间以空格分开；</a:t>
            </a:r>
            <a:endParaRPr lang="en-US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0"/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0"/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一行写不完的在该行的末尾加反斜杠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“\”(</a:t>
            </a: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注意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“\”</a:t>
            </a: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前需留有空格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，则下一行和该行将被视为同一个命令；</a:t>
            </a:r>
            <a:endParaRPr lang="en-US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0"/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0"/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“#”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号后面是注释，仿真时不运行注释后面的内容；</a:t>
            </a:r>
          </a:p>
          <a:p>
            <a:pPr lvl="0"/>
            <a:endParaRPr lang="en-US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0"/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空行不运行。</a:t>
            </a:r>
          </a:p>
        </p:txBody>
      </p:sp>
    </p:spTree>
    <p:extLst>
      <p:ext uri="{BB962C8B-B14F-4D97-AF65-F5344CB8AC3E}">
        <p14:creationId xmlns:p14="http://schemas.microsoft.com/office/powerpoint/2010/main" val="4158655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9168" y="1015056"/>
            <a:ext cx="913483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由于同学们对工艺可能还不是很熟悉，我们换一个只涉及到器件结构的例子，我们看一个最简单的器件结构，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PN</a:t>
            </a:r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结二极管，例子是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diodeex01.in</a:t>
            </a:r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，仿真器是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ATLAS</a:t>
            </a:r>
            <a:r>
              <a:rPr lang="zh-CN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000" b="1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endParaRPr lang="zh-CN" altLang="zh-CN" sz="20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以下是利用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ATLAS</a:t>
            </a:r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进行器件仿真的主要语句。可以看到</a:t>
            </a:r>
            <a:r>
              <a:rPr lang="zh-CN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程序</a:t>
            </a:r>
            <a:r>
              <a:rPr lang="zh-CN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步骤包括了</a:t>
            </a: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910" y="2554728"/>
            <a:ext cx="5141894" cy="4303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8655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-71438" y="3861048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构建</a:t>
            </a:r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器件结构：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Mesh</a:t>
            </a:r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Region</a:t>
            </a:r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Electrode</a:t>
            </a:r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Doping</a:t>
            </a:r>
          </a:p>
          <a:p>
            <a:pPr lvl="0"/>
            <a:endParaRPr lang="zh-CN" altLang="zh-CN" sz="20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0"/>
            <a:r>
              <a:rPr lang="zh-CN" altLang="en-US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材料</a:t>
            </a:r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与选用模型描述：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Material</a:t>
            </a:r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Models</a:t>
            </a:r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Contact</a:t>
            </a:r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Interface</a:t>
            </a:r>
          </a:p>
          <a:p>
            <a:pPr lvl="0"/>
            <a:endParaRPr lang="zh-CN" altLang="zh-CN" sz="20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0"/>
            <a:r>
              <a:rPr lang="zh-CN" altLang="en-US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选择</a:t>
            </a:r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数值计算方法：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Method</a:t>
            </a:r>
          </a:p>
          <a:p>
            <a:pPr lvl="0"/>
            <a:endParaRPr lang="zh-CN" altLang="zh-CN" sz="20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0"/>
            <a:r>
              <a:rPr lang="zh-CN" altLang="en-US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求解</a:t>
            </a:r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描述：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Log</a:t>
            </a:r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Solve</a:t>
            </a:r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Load</a:t>
            </a:r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Save</a:t>
            </a:r>
          </a:p>
          <a:p>
            <a:pPr lvl="0"/>
            <a:endParaRPr lang="zh-CN" altLang="zh-CN" sz="20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0"/>
            <a:r>
              <a:rPr lang="zh-CN" altLang="en-US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结果</a:t>
            </a:r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分析：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Extract</a:t>
            </a:r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Tonyplot</a:t>
            </a:r>
            <a:endParaRPr lang="zh-CN" altLang="zh-CN" sz="20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027339"/>
            <a:ext cx="3888432" cy="28337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8655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-15455" y="1020523"/>
            <a:ext cx="45704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DeckBulid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的命令是</a:t>
            </a:r>
            <a:r>
              <a:rPr lang="zh-CN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以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go </a:t>
            </a:r>
            <a:r>
              <a:rPr lang="zh-CN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开始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</a:p>
        </p:txBody>
      </p:sp>
      <p:sp>
        <p:nvSpPr>
          <p:cNvPr id="6" name="矩形 5"/>
          <p:cNvSpPr/>
          <p:nvPr/>
        </p:nvSpPr>
        <p:spPr>
          <a:xfrm>
            <a:off x="-15455" y="2564904"/>
            <a:ext cx="915955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代表仿真之前要启动相应的仿真器，这个仿真器可以是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ATHENA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ALTAS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，或者其他仿真器比如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Ssuprem3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等等，想启动哪个就在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go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后面加上相应的仿真器名字，提供几个例子：</a:t>
            </a:r>
          </a:p>
        </p:txBody>
      </p:sp>
      <p:sp>
        <p:nvSpPr>
          <p:cNvPr id="7" name="矩形 6"/>
          <p:cNvSpPr/>
          <p:nvPr/>
        </p:nvSpPr>
        <p:spPr>
          <a:xfrm>
            <a:off x="0" y="4293096"/>
            <a:ext cx="942128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启动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器件仿真器 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ATLAS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，版本 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5.0.8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go  atlas simflags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="-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 5.0.8.R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"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0"/>
            <a:endParaRPr lang="en-US" altLang="zh-CN" sz="2400" b="1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0"/>
            <a:r>
              <a:rPr lang="zh-CN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启动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三维器件编辑器：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go devedit "-3d"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0"/>
            <a:endParaRPr lang="en-US" altLang="zh-CN" sz="2400" b="1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0"/>
            <a:r>
              <a:rPr lang="zh-CN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启动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工艺仿真器：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go </a:t>
            </a:r>
            <a:r>
              <a:rPr lang="en-US" altLang="zh-CN" sz="2400" b="1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athena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endParaRPr lang="en-US" altLang="zh-CN" sz="2400" b="1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390" y="1602726"/>
            <a:ext cx="4329406" cy="824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8655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072" y="1133654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程序第二步，生成结构。</a:t>
            </a:r>
          </a:p>
        </p:txBody>
      </p:sp>
      <p:sp>
        <p:nvSpPr>
          <p:cNvPr id="6" name="矩形 5"/>
          <p:cNvSpPr/>
          <p:nvPr/>
        </p:nvSpPr>
        <p:spPr>
          <a:xfrm>
            <a:off x="0" y="2314943"/>
            <a:ext cx="9139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ATLAS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x.mesh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. mesh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location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spacing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来定义网格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4562" y="1628800"/>
            <a:ext cx="3892432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4562" y="3068960"/>
            <a:ext cx="4213748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8655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0" y="1124744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网格疏密的区别如下图所示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586409"/>
            <a:ext cx="8102704" cy="52505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8655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0" y="1027895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然后就是定义区域了。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ATLAS 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的器件剖面可以按需要分成不同的区域，然后定义区域的特性。定义区域需要指明位置（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的范围），材料以及序号。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1" y="2276872"/>
            <a:ext cx="4608512" cy="633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-39286" y="3356992"/>
            <a:ext cx="91832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PN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结里面肯定有一个阳极，一个阴极，这里加以定义，定义顶部电极是阳极，底部电极是阴极。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903" y="4437112"/>
            <a:ext cx="6226574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8655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-24968" y="1031571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接下来定义掺杂情况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00" y="1628800"/>
            <a:ext cx="9168968" cy="2248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-7600" y="4221088"/>
            <a:ext cx="911610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到现在为止我们已经确定了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PN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结的结构，我们可以保存并在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tonyplot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里面输出它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5216687"/>
            <a:ext cx="6835876" cy="804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58037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24968" y="1031571"/>
            <a:ext cx="69557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对于高斯分布的掺杂浓度，一般情况下式这样的：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968" y="1556792"/>
            <a:ext cx="9168968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" y="2996950"/>
            <a:ext cx="8024606" cy="3852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1363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https://bkimg.cdn.bcebos.com/pic/4ec2d5628535e5dd25ea56d576c6a7efcf1b62f2?x-bce-process=image/resize,m_lfit,w_268,limit_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124744"/>
            <a:ext cx="2736304" cy="1039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bkimg.cdn.bcebos.com/pic/8718367adab44aedc679aca7b31c8701a18bfbba?x-bce-process=image/watermark,g_7,image_d2F0ZXIvYmFpa2U4MA==,xp_5,yp_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178500"/>
            <a:ext cx="5438392" cy="4241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4399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24968" y="1031571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高斯掺杂浓度图：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0303" y="1529044"/>
            <a:ext cx="6271989" cy="519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1265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9354" y="1134348"/>
            <a:ext cx="77620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x=0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x=1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之间，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y=0.1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的地方达到峰值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1E18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的掺杂浓度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-19203" y="1785332"/>
                <a:ext cx="8427307" cy="4891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 smtClean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CHARACTERISTIC=0.05</a:t>
                </a:r>
                <a:r>
                  <a:rPr lang="zh-CN" altLang="en-US" sz="2400" b="1" dirty="0" smtClean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，意味高斯分布的标准差为</a:t>
                </a:r>
                <a:r>
                  <a:rPr lang="en-US" altLang="zh-CN" sz="2400" b="1" dirty="0" smtClean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0.05/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√</m:t>
                    </m:r>
                    <m:r>
                      <a:rPr lang="en-US" altLang="zh-CN" sz="2400" b="1" i="1" smtClean="0"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𝟐</m:t>
                    </m:r>
                  </m:oMath>
                </a14:m>
                <a:endParaRPr lang="zh-CN" altLang="zh-CN" sz="24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203" y="1785332"/>
                <a:ext cx="8427307" cy="489173"/>
              </a:xfrm>
              <a:prstGeom prst="rect">
                <a:avLst/>
              </a:prstGeom>
              <a:blipFill rotWithShape="1">
                <a:blip r:embed="rId2"/>
                <a:stretch>
                  <a:fillRect l="-1158" t="-6250" b="-28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-13379" y="2476350"/>
                <a:ext cx="9144000" cy="12278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 smtClean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在默认的情况下，</a:t>
                </a:r>
                <a:r>
                  <a:rPr lang="en-US" altLang="zh-CN" sz="2400" b="1" dirty="0" smtClean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x&lt;0</a:t>
                </a:r>
                <a:r>
                  <a:rPr lang="zh-CN" altLang="en-US" sz="2400" b="1" dirty="0" smtClean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2400" b="1" dirty="0" smtClean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x&gt;1</a:t>
                </a:r>
                <a:r>
                  <a:rPr lang="zh-CN" altLang="en-US" sz="2400" b="1" dirty="0" smtClean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处，掺杂浓度通过以</a:t>
                </a:r>
                <a:r>
                  <a:rPr lang="en-US" altLang="zh-CN" sz="2400" b="1" dirty="0" smtClean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CHARACTERISTIC</a:t>
                </a:r>
                <a:r>
                  <a:rPr lang="zh-CN" altLang="en-US" sz="2400" b="1" dirty="0" smtClean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en-US" altLang="zh-CN" sz="2400" b="1" dirty="0" smtClean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(70/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√</m:t>
                    </m:r>
                    <m:r>
                      <a:rPr lang="en-US" altLang="zh-CN" sz="2400" b="1" i="1"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𝟐</m:t>
                    </m:r>
                  </m:oMath>
                </a14:m>
                <a:r>
                  <a:rPr lang="en-US" altLang="zh-CN" sz="2400" b="1" dirty="0" smtClean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)%</a:t>
                </a:r>
                <a:r>
                  <a:rPr lang="zh-CN" altLang="en-US" sz="2400" b="1" dirty="0" smtClean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分布，可以利用参数</a:t>
                </a:r>
                <a:r>
                  <a:rPr lang="en-US" altLang="zh-CN" sz="2400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RATIO.LATERAL</a:t>
                </a:r>
                <a:r>
                  <a:rPr lang="zh-CN" altLang="en-US" sz="2400" b="1" dirty="0" smtClean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来调节</a:t>
                </a:r>
                <a:endParaRPr lang="zh-CN" altLang="zh-CN" sz="24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379" y="2476350"/>
                <a:ext cx="9144000" cy="1227837"/>
              </a:xfrm>
              <a:prstGeom prst="rect">
                <a:avLst/>
              </a:prstGeom>
              <a:blipFill rotWithShape="1">
                <a:blip r:embed="rId3"/>
                <a:stretch>
                  <a:fillRect l="-1067" t="-4455" b="-103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49080"/>
            <a:ext cx="9168968" cy="2248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5763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484784"/>
            <a:ext cx="6265371" cy="53342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矩形 1"/>
          <p:cNvSpPr/>
          <p:nvPr/>
        </p:nvSpPr>
        <p:spPr>
          <a:xfrm>
            <a:off x="0" y="1062051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仿真出来的</a:t>
            </a:r>
            <a:r>
              <a:rPr lang="zh-CN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器件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结构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803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0" y="1013379"/>
            <a:ext cx="89644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处理完器件结构后，接下来的工作就是进行电学性质的仿真</a:t>
            </a:r>
          </a:p>
        </p:txBody>
      </p:sp>
      <p:sp>
        <p:nvSpPr>
          <p:cNvPr id="4" name="矩形 3"/>
          <p:cNvSpPr/>
          <p:nvPr/>
        </p:nvSpPr>
        <p:spPr>
          <a:xfrm>
            <a:off x="0" y="1541983"/>
            <a:ext cx="83884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在求解之前首先要选择模型以及定义接触类型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982" y="2204864"/>
            <a:ext cx="7269379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1671" y="3095248"/>
            <a:ext cx="91440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conmob</a:t>
            </a:r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指的是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Concentration Dependent</a:t>
            </a:r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，代表与载流子浓度相关的模型</a:t>
            </a:r>
            <a:r>
              <a:rPr lang="zh-CN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2000" b="1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endParaRPr lang="en-US" altLang="zh-CN" sz="20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000" b="1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fldmob</a:t>
            </a:r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指的是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Parallel Electric Field 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Dependence</a:t>
            </a:r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，代表的是与平行电场相关的模型，考虑的是速度饱和效应</a:t>
            </a:r>
            <a:r>
              <a:rPr lang="zh-CN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2000" b="1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endParaRPr lang="en-US" altLang="zh-CN" sz="20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000" b="1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srh</a:t>
            </a:r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指的是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Shockley-Read-Hall</a:t>
            </a:r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，代表肖克莱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里德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霍尔复合，考虑的是间接复合，借助复合中心的复合</a:t>
            </a:r>
            <a:r>
              <a:rPr lang="zh-CN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2000" b="1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endParaRPr lang="en-US" altLang="zh-CN" sz="20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auger</a:t>
            </a:r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指的是俄歇复合，一种非辐射复合</a:t>
            </a:r>
            <a:r>
              <a:rPr lang="zh-CN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2000" b="1" dirty="0" smtClean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endParaRPr lang="en-US" altLang="zh-CN" sz="20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000" b="1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bgn</a:t>
            </a:r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指的是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Bandgap Narrowing</a:t>
            </a:r>
            <a:r>
              <a:rPr lang="zh-CN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，代表禁带变窄效应。</a:t>
            </a:r>
          </a:p>
        </p:txBody>
      </p:sp>
    </p:spTree>
    <p:extLst>
      <p:ext uri="{BB962C8B-B14F-4D97-AF65-F5344CB8AC3E}">
        <p14:creationId xmlns:p14="http://schemas.microsoft.com/office/powerpoint/2010/main" val="825803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-15984" y="1124744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肖特基接触与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欧姆接触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6560" y="1756113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）肖特基接触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2" descr="https://upload-images.jianshu.io/upload_images/8365643-9104cb08b8ea5700.png?imageMogr2/auto-orient/strip|imageView2/2/w/334/format/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4" descr="https://upload-images.jianshu.io/upload_images/8365643-9104cb08b8ea5700.png?imageMogr2/auto-orient/strip|imageView2/2/format/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6" descr="https://upload-images.jianshu.io/upload_images/8365643-9104cb08b8ea5700.png?imageMogr2/auto-orient/strip|imageView2/2/format/webp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317" y="2234794"/>
            <a:ext cx="5922489" cy="4119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9656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62" y="1556792"/>
            <a:ext cx="7162800" cy="398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699792" y="5871904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不同材料的费米能级</a:t>
            </a:r>
          </a:p>
        </p:txBody>
      </p:sp>
    </p:spTree>
    <p:extLst>
      <p:ext uri="{BB962C8B-B14F-4D97-AF65-F5344CB8AC3E}">
        <p14:creationId xmlns:p14="http://schemas.microsoft.com/office/powerpoint/2010/main" val="259170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https://upload-images.jianshu.io/upload_images/8365643-c8e59eaa670153f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3" y="1196752"/>
            <a:ext cx="6829425" cy="490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2699792" y="6101552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费米能级与掺杂浓度的关系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70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https://upload-images.jianshu.io/upload_images/8365643-c130f945ab2bf95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18979"/>
            <a:ext cx="9119468" cy="3312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7866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https://upload-images.jianshu.io/upload_images/8365643-5f796719d132f35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84784"/>
            <a:ext cx="9144000" cy="3846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5129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0" name="Picture 2" descr="https://upload-images.jianshu.io/upload_images/8365643-22c4c9f13d2bb31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562" y="1062899"/>
            <a:ext cx="7920000" cy="5795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6917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-15984" y="1124744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肖特基接触与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欧姆接触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6560" y="1756113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）欧姆接触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15984" y="2436058"/>
            <a:ext cx="91599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金属与半导体形成欧姆接触是指在接触处是一个纯电阻，而且该电阻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越小越好。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2" descr="https://upload-images.jianshu.io/upload_images/8365643-8c41b4af65c12c7e.png?imageMogr2/auto-orient/strip|imageView2/2/w/1200/format/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4" descr="https://upload-images.jianshu.io/upload_images/8365643-8c41b4af65c12c7e.png?imageMogr2/auto-orient/strip|imageView2/2/format/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6" descr="https://upload-images.jianshu.io/upload_images/8365643-8c41b4af65c12c7e.png?imageMogr2/auto-orient/strip|imageView2/2/format/webp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6560" y="3573016"/>
            <a:ext cx="915998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很多时候我们并不想在金属与半导体接触面</a:t>
            </a:r>
            <a:r>
              <a:rPr lang="zh-CN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出现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肖特基</a:t>
            </a:r>
            <a:r>
              <a:rPr lang="zh-CN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势垒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，比如半导体器件用金属引线引出信号。理论上有两种方式，一是降低势垒高度，使载流子不需要很高的能量就可以跃过势垒；二是大幅减小势垒宽度，使载流子以隧穿的方式穿过。</a:t>
            </a:r>
          </a:p>
        </p:txBody>
      </p:sp>
    </p:spTree>
    <p:extLst>
      <p:ext uri="{BB962C8B-B14F-4D97-AF65-F5344CB8AC3E}">
        <p14:creationId xmlns:p14="http://schemas.microsoft.com/office/powerpoint/2010/main" val="796796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2" descr="https://upload-images.jianshu.io/upload_images/8365643-8c41b4af65c12c7e.png?imageMogr2/auto-orient/strip|imageView2/2/w/1200/format/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4" descr="https://upload-images.jianshu.io/upload_images/8365643-8c41b4af65c12c7e.png?imageMogr2/auto-orient/strip|imageView2/2/format/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6" descr="https://upload-images.jianshu.io/upload_images/8365643-8c41b4af65c12c7e.png?imageMogr2/auto-orient/strip|imageView2/2/format/webp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1" name="Picture 2" descr="https://upload-images.jianshu.io/upload_images/8365643-8c41b4af65c12c7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335" y="1959248"/>
            <a:ext cx="8393953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11"/>
          <p:cNvSpPr/>
          <p:nvPr/>
        </p:nvSpPr>
        <p:spPr>
          <a:xfrm>
            <a:off x="-19655" y="1196752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降低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势垒高度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61511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-1" y="1124744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载流子隧穿</a:t>
            </a:r>
            <a:endParaRPr lang="zh-CN" altLang="en-US" sz="2400" dirty="0"/>
          </a:p>
        </p:txBody>
      </p:sp>
      <p:grpSp>
        <p:nvGrpSpPr>
          <p:cNvPr id="6" name="Group 17"/>
          <p:cNvGrpSpPr/>
          <p:nvPr/>
        </p:nvGrpSpPr>
        <p:grpSpPr>
          <a:xfrm>
            <a:off x="2267744" y="1573441"/>
            <a:ext cx="4048944" cy="4942583"/>
            <a:chOff x="103" y="494"/>
            <a:chExt cx="2233" cy="2932"/>
          </a:xfrm>
        </p:grpSpPr>
        <p:pic>
          <p:nvPicPr>
            <p:cNvPr id="7" name="Picture 9" descr="8"/>
            <p:cNvPicPr>
              <a:picLocks noChangeAspect="1"/>
            </p:cNvPicPr>
            <p:nvPr/>
          </p:nvPicPr>
          <p:blipFill>
            <a:blip r:embed="rId2">
              <a:lum bright="-23999" contrast="42000"/>
            </a:blip>
            <a:stretch>
              <a:fillRect/>
            </a:stretch>
          </p:blipFill>
          <p:spPr>
            <a:xfrm>
              <a:off x="103" y="494"/>
              <a:ext cx="2233" cy="257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" name="Rectangle 16"/>
            <p:cNvSpPr/>
            <p:nvPr/>
          </p:nvSpPr>
          <p:spPr>
            <a:xfrm>
              <a:off x="612" y="3135"/>
              <a:ext cx="1270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 smtClean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齐纳击穿</a:t>
              </a:r>
              <a:endPara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5557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0" y="1196752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载流子隧穿</a:t>
            </a:r>
            <a:endParaRPr lang="zh-CN" alt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772816"/>
            <a:ext cx="8225984" cy="4176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4392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-15984" y="1124744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肖特基接触与欧姆接触的区别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1844824"/>
            <a:ext cx="91599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简单概括，就是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欧姆接触就是接触了之后电阻很小，肖特基接触就是电阻很大的</a:t>
            </a:r>
            <a:r>
              <a:rPr lang="zh-CN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接触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；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2996952"/>
            <a:ext cx="91599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或者说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欧姆接触就是伏安特性为直线的接触，伏安特性曲线的斜率就是欧姆接触电阻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；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肖特基接触就是伏安特性曲线为非直线的接触，典型的比如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PN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结的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IV</a:t>
            </a:r>
            <a:r>
              <a:rPr lang="zh-CN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特性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；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4527520"/>
            <a:ext cx="91599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从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能带</a:t>
            </a:r>
            <a:r>
              <a:rPr lang="zh-CN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结构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角度分析，欧姆接触就是接触面形成的</a:t>
            </a:r>
            <a:r>
              <a:rPr lang="zh-CN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电子跃迁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相对容易</a:t>
            </a:r>
            <a:r>
              <a:rPr lang="zh-CN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厚度很薄，肖特基接触反之。</a:t>
            </a:r>
          </a:p>
        </p:txBody>
      </p:sp>
    </p:spTree>
    <p:extLst>
      <p:ext uri="{BB962C8B-B14F-4D97-AF65-F5344CB8AC3E}">
        <p14:creationId xmlns:p14="http://schemas.microsoft.com/office/powerpoint/2010/main" val="12300217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-15984" y="1124744"/>
            <a:ext cx="85484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Concentration 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Dependent model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1738809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属于低电场迁移率模型，普遍的低场迁移率模型有两个，第一个利用“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Mobility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”指令，包括参数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MUN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MUP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TMUN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TMUP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2544986"/>
            <a:ext cx="2927667" cy="1868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12" y="4413711"/>
            <a:ext cx="7700497" cy="246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2504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-15984" y="1124744"/>
            <a:ext cx="85484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Concentration 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Dependent model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-15984" y="1830364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第二个就是在“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MODEL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”后直接利用“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conmob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”指令，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564904"/>
            <a:ext cx="6176927" cy="3361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0159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-15984" y="1124744"/>
            <a:ext cx="60281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Parallel Electric Field  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Dependence model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600960"/>
            <a:ext cx="5616364" cy="3600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-10760" y="1844824"/>
            <a:ext cx="51090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考虑速度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饱和效应的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标准迁移率模型</a:t>
            </a:r>
          </a:p>
        </p:txBody>
      </p:sp>
    </p:spTree>
    <p:extLst>
      <p:ext uri="{BB962C8B-B14F-4D97-AF65-F5344CB8AC3E}">
        <p14:creationId xmlns:p14="http://schemas.microsoft.com/office/powerpoint/2010/main" val="381764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0" y="1013379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沟道长度调制效应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Picture 4" descr="https://pic3.zhimg.com/d311ee438ff29d8a09fa3ca6dca3a80a_b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735" y="1518353"/>
            <a:ext cx="3797902" cy="2592000"/>
          </a:xfrm>
          <a:prstGeom prst="rect">
            <a:avLst/>
          </a:prstGeom>
          <a:noFill/>
        </p:spPr>
      </p:pic>
      <p:pic>
        <p:nvPicPr>
          <p:cNvPr id="7" name="Picture 6" descr="https://pic1.zhimg.com/adcb2cc6ea0db842c5d62c2f8d3a3724_b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85473" y="1477746"/>
            <a:ext cx="3839484" cy="2592000"/>
          </a:xfrm>
          <a:prstGeom prst="rect">
            <a:avLst/>
          </a:prstGeom>
          <a:noFill/>
        </p:spPr>
      </p:pic>
      <p:pic>
        <p:nvPicPr>
          <p:cNvPr id="8" name="Picture 8" descr="https://pic3.zhimg.com/ec7bca12d7ba9fe72f0838b1fccde91e_b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46878" y="4306510"/>
            <a:ext cx="3922650" cy="259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87657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0" y="1013379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速度饱和效应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82198" y="1451704"/>
            <a:ext cx="7036727" cy="3656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0" y="522920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="1" i="1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GS 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1.8V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的曲线为例，阈值电压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="1" i="1" baseline="-25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约为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0.5V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，饱和区分界点应为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1.3V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。但图中三条曲线均在小于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1.3V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处达到电流饱和，这意味着电流饱和早于沟道夹断。这是由于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速度饱和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引起的。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44503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0" y="1120676"/>
            <a:ext cx="90364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垂直电场使沟道中载流子靠近表面，表面的缺陷会阻碍载流子由源到漏的移动，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从而成为减小迁移率的因素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6590017"/>
              </p:ext>
            </p:extLst>
          </p:nvPr>
        </p:nvGraphicFramePr>
        <p:xfrm>
          <a:off x="2195736" y="2852936"/>
          <a:ext cx="3985341" cy="2016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" name="Equation" r:id="rId3" imgW="27736800" imgH="14020800" progId="Equation.DSMT4">
                  <p:embed/>
                </p:oleObj>
              </mc:Choice>
              <mc:Fallback>
                <p:oleObj name="Equation" r:id="rId3" imgW="27736800" imgH="140208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2852936"/>
                        <a:ext cx="3985341" cy="20162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7135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116204" y="1196752"/>
            <a:ext cx="9144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沿沟道</a:t>
            </a: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水平</a:t>
            </a: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电场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达到某一临界值时，载流子的速度将由于散射效应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即载流子间的碰撞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而趋于饱和。使得沟道电流不在随着漏极电压增加而增加。</a:t>
            </a:r>
            <a:endParaRPr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273327"/>
              </p:ext>
            </p:extLst>
          </p:nvPr>
        </p:nvGraphicFramePr>
        <p:xfrm>
          <a:off x="2246943" y="2852936"/>
          <a:ext cx="4507238" cy="2375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Equation" r:id="rId3" imgW="39319200" imgH="20726400" progId="Equation.DSMT4">
                  <p:embed/>
                </p:oleObj>
              </mc:Choice>
              <mc:Fallback>
                <p:oleObj name="Equation" r:id="rId3" imgW="39319200" imgH="2072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6943" y="2852936"/>
                        <a:ext cx="4507238" cy="237593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6836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-15984" y="1124744"/>
            <a:ext cx="60281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Shockley-Read-Hall recombination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15984" y="1830364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肖特基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雷德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霍尔复合（间接复合）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590800"/>
            <a:ext cx="64770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976" y="4437112"/>
            <a:ext cx="59436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4887614"/>
            <a:ext cx="823912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0" y="5418648"/>
            <a:ext cx="9084672" cy="611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6030272"/>
            <a:ext cx="8660472" cy="351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990" y="6381329"/>
            <a:ext cx="3508869" cy="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260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0" y="1013379"/>
            <a:ext cx="60281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Auger 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recombination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762111"/>
            <a:ext cx="5919425" cy="5087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60" y="1496591"/>
            <a:ext cx="56102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1496591"/>
            <a:ext cx="31051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9502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-15984" y="1124744"/>
            <a:ext cx="60281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Auger 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recombination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631" y="2330414"/>
            <a:ext cx="4032448" cy="323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592" y="5535762"/>
            <a:ext cx="2551141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942" y="1873575"/>
            <a:ext cx="545782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2557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-15984" y="1124744"/>
            <a:ext cx="60281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Bandgap Narrowing Effect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-15984" y="1844824"/>
            <a:ext cx="91599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随着掺杂水平的上升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，导带降低，价带上升，两者变化的程度基本一样。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537" y="2724794"/>
            <a:ext cx="5734050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459128"/>
            <a:ext cx="8559123" cy="2406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28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87" y="1844824"/>
            <a:ext cx="9021609" cy="2261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-15984" y="1124744"/>
            <a:ext cx="60281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最后的数值计算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691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-15984" y="1124744"/>
            <a:ext cx="60281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Newton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迭代法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577728"/>
            <a:ext cx="7529165" cy="426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00808"/>
            <a:ext cx="9144000" cy="709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2622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-15984" y="1124744"/>
            <a:ext cx="60281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Gummel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迭代法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512" y="1053617"/>
            <a:ext cx="1957600" cy="57295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984" y="2996951"/>
            <a:ext cx="2427744" cy="243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7774" y="3180502"/>
            <a:ext cx="3951956" cy="1034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7773" y="4882200"/>
            <a:ext cx="2720331" cy="1007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" y="1809749"/>
            <a:ext cx="7335228" cy="844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0462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-15984" y="1124744"/>
            <a:ext cx="60281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Block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迭代法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984" y="1632129"/>
            <a:ext cx="9159984" cy="81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17736" y="2852936"/>
            <a:ext cx="60281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组合迭代法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36" y="3789040"/>
            <a:ext cx="9126264" cy="1112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7192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623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Silvaco TCAD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-15984" y="1124744"/>
            <a:ext cx="60281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最后看输出结果</a:t>
            </a:r>
            <a:endParaRPr lang="zh-CN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60" y="1772816"/>
            <a:ext cx="9144000" cy="4259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0712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6720</TotalTime>
  <Words>1253</Words>
  <Application>Microsoft Office PowerPoint</Application>
  <PresentationFormat>全屏显示(4:3)</PresentationFormat>
  <Paragraphs>141</Paragraphs>
  <Slides>42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2" baseType="lpstr">
      <vt:lpstr>华文楷体</vt:lpstr>
      <vt:lpstr>楷体</vt:lpstr>
      <vt:lpstr>宋体</vt:lpstr>
      <vt:lpstr>Arial</vt:lpstr>
      <vt:lpstr>Calibri</vt:lpstr>
      <vt:lpstr>Cambria Math</vt:lpstr>
      <vt:lpstr>Times New Roman</vt:lpstr>
      <vt:lpstr>Wingdings</vt:lpstr>
      <vt:lpstr>Office 主题​​</vt:lpstr>
      <vt:lpstr>Equation</vt:lpstr>
      <vt:lpstr>集成电路EDA技术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集成电路EDA技术</dc:title>
  <dc:creator>个人用户</dc:creator>
  <cp:lastModifiedBy>黄承斌</cp:lastModifiedBy>
  <cp:revision>167</cp:revision>
  <dcterms:created xsi:type="dcterms:W3CDTF">2020-02-02T09:31:02Z</dcterms:created>
  <dcterms:modified xsi:type="dcterms:W3CDTF">2024-02-24T15:07:34Z</dcterms:modified>
</cp:coreProperties>
</file>