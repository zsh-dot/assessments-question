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7" r:id="rId5"/>
    <p:sldId id="312" r:id="rId6"/>
    <p:sldId id="313" r:id="rId7"/>
    <p:sldId id="314" r:id="rId8"/>
    <p:sldId id="259" r:id="rId9"/>
    <p:sldId id="303" r:id="rId10"/>
    <p:sldId id="304" r:id="rId11"/>
    <p:sldId id="305" r:id="rId12"/>
    <p:sldId id="307" r:id="rId13"/>
    <p:sldId id="306" r:id="rId14"/>
    <p:sldId id="308" r:id="rId15"/>
    <p:sldId id="309" r:id="rId16"/>
    <p:sldId id="301" r:id="rId17"/>
    <p:sldId id="310" r:id="rId18"/>
    <p:sldId id="311" r:id="rId19"/>
    <p:sldId id="315" r:id="rId20"/>
    <p:sldId id="316" r:id="rId21"/>
    <p:sldId id="317" r:id="rId22"/>
    <p:sldId id="318" r:id="rId23"/>
    <p:sldId id="319" r:id="rId24"/>
    <p:sldId id="321" r:id="rId25"/>
    <p:sldId id="320" r:id="rId26"/>
    <p:sldId id="322" r:id="rId27"/>
    <p:sldId id="324" r:id="rId28"/>
    <p:sldId id="325" r:id="rId29"/>
    <p:sldId id="326" r:id="rId30"/>
    <p:sldId id="327" r:id="rId31"/>
    <p:sldId id="331" r:id="rId32"/>
    <p:sldId id="333" r:id="rId33"/>
    <p:sldId id="329" r:id="rId34"/>
    <p:sldId id="330" r:id="rId35"/>
    <p:sldId id="328" r:id="rId36"/>
    <p:sldId id="332" r:id="rId37"/>
    <p:sldId id="334" r:id="rId38"/>
    <p:sldId id="264" r:id="rId39"/>
    <p:sldId id="335" r:id="rId40"/>
    <p:sldId id="349" r:id="rId41"/>
    <p:sldId id="350" r:id="rId42"/>
    <p:sldId id="351" r:id="rId43"/>
    <p:sldId id="352" r:id="rId44"/>
    <p:sldId id="292" r:id="rId45"/>
    <p:sldId id="293" r:id="rId46"/>
    <p:sldId id="294" r:id="rId47"/>
    <p:sldId id="337" r:id="rId48"/>
    <p:sldId id="338" r:id="rId49"/>
    <p:sldId id="339" r:id="rId50"/>
    <p:sldId id="340" r:id="rId51"/>
    <p:sldId id="342" r:id="rId52"/>
    <p:sldId id="343" r:id="rId53"/>
    <p:sldId id="344" r:id="rId54"/>
    <p:sldId id="345" r:id="rId55"/>
    <p:sldId id="290" r:id="rId56"/>
    <p:sldId id="280" r:id="rId57"/>
    <p:sldId id="284" r:id="rId58"/>
    <p:sldId id="281" r:id="rId59"/>
    <p:sldId id="283" r:id="rId60"/>
    <p:sldId id="291" r:id="rId61"/>
    <p:sldId id="287" r:id="rId62"/>
    <p:sldId id="285" r:id="rId63"/>
    <p:sldId id="267" r:id="rId64"/>
    <p:sldId id="300" r:id="rId65"/>
    <p:sldId id="268" r:id="rId66"/>
    <p:sldId id="298" r:id="rId67"/>
    <p:sldId id="295" r:id="rId68"/>
    <p:sldId id="346" r:id="rId69"/>
    <p:sldId id="347" r:id="rId70"/>
    <p:sldId id="348" r:id="rId7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87" autoAdjust="0"/>
    <p:restoredTop sz="94660"/>
  </p:normalViewPr>
  <p:slideViewPr>
    <p:cSldViewPr>
      <p:cViewPr varScale="1">
        <p:scale>
          <a:sx n="66" d="100"/>
          <a:sy n="66" d="100"/>
        </p:scale>
        <p:origin x="-183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8212-F003-466C-B7BB-C081996A460B}" type="datetimeFigureOut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147A-F1C9-46A0-A59B-DE394E7B19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596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8212-F003-466C-B7BB-C081996A460B}" type="datetimeFigureOut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147A-F1C9-46A0-A59B-DE394E7B19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558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8212-F003-466C-B7BB-C081996A460B}" type="datetimeFigureOut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147A-F1C9-46A0-A59B-DE394E7B19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668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8212-F003-466C-B7BB-C081996A460B}" type="datetimeFigureOut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147A-F1C9-46A0-A59B-DE394E7B19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609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8212-F003-466C-B7BB-C081996A460B}" type="datetimeFigureOut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147A-F1C9-46A0-A59B-DE394E7B19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300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8212-F003-466C-B7BB-C081996A460B}" type="datetimeFigureOut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147A-F1C9-46A0-A59B-DE394E7B19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985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8212-F003-466C-B7BB-C081996A460B}" type="datetimeFigureOut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147A-F1C9-46A0-A59B-DE394E7B19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830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8212-F003-466C-B7BB-C081996A460B}" type="datetimeFigureOut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147A-F1C9-46A0-A59B-DE394E7B19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896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8212-F003-466C-B7BB-C081996A460B}" type="datetimeFigureOut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147A-F1C9-46A0-A59B-DE394E7B19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172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8212-F003-466C-B7BB-C081996A460B}" type="datetimeFigureOut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147A-F1C9-46A0-A59B-DE394E7B19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502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8212-F003-466C-B7BB-C081996A460B}" type="datetimeFigureOut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147A-F1C9-46A0-A59B-DE394E7B19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412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68212-F003-466C-B7BB-C081996A460B}" type="datetimeFigureOut">
              <a:rPr lang="zh-CN" altLang="en-US" smtClean="0"/>
              <a:t>2021/4/19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B8147A-F1C9-46A0-A59B-DE394E7B19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218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6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image" Target="../media/image27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7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8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8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gi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ctrTitle"/>
          </p:nvPr>
        </p:nvSpPr>
        <p:spPr>
          <a:xfrm>
            <a:off x="755650" y="1339850"/>
            <a:ext cx="7772400" cy="1873250"/>
          </a:xfrm>
        </p:spPr>
        <p:txBody>
          <a:bodyPr/>
          <a:lstStyle/>
          <a:p>
            <a:pPr lvl="0">
              <a:defRPr/>
            </a:pPr>
            <a:r>
              <a:rPr lang="zh-CN" altLang="en-US" sz="4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集成电路</a:t>
            </a:r>
            <a:r>
              <a:rPr lang="en-US" altLang="zh-CN" sz="4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EDA</a:t>
            </a:r>
            <a:r>
              <a:rPr lang="zh-CN" altLang="en-US" sz="4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技术</a:t>
            </a:r>
          </a:p>
        </p:txBody>
      </p:sp>
      <p:grpSp>
        <p:nvGrpSpPr>
          <p:cNvPr id="7172" name="Group 4"/>
          <p:cNvGrpSpPr>
            <a:grpSpLocks/>
          </p:cNvGrpSpPr>
          <p:nvPr/>
        </p:nvGrpSpPr>
        <p:grpSpPr bwMode="auto">
          <a:xfrm>
            <a:off x="250825" y="3357563"/>
            <a:ext cx="8610600" cy="201612"/>
            <a:chOff x="144" y="1680"/>
            <a:chExt cx="5424" cy="144"/>
          </a:xfrm>
        </p:grpSpPr>
        <p:sp>
          <p:nvSpPr>
            <p:cNvPr id="7175" name="Rectangle 5"/>
            <p:cNvSpPr>
              <a:spLocks noChangeArrowheads="1"/>
            </p:cNvSpPr>
            <p:nvPr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76" name="Rectangle 6"/>
            <p:cNvSpPr>
              <a:spLocks noChangeArrowheads="1"/>
            </p:cNvSpPr>
            <p:nvPr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rgbClr val="CC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77" name="Rectangle 7"/>
            <p:cNvSpPr>
              <a:spLocks noChangeArrowheads="1"/>
            </p:cNvSpPr>
            <p:nvPr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pic>
        <p:nvPicPr>
          <p:cNvPr id="717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3857628"/>
            <a:ext cx="4067175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2"/>
          <p:cNvSpPr txBox="1">
            <a:spLocks/>
          </p:cNvSpPr>
          <p:nvPr/>
        </p:nvSpPr>
        <p:spPr>
          <a:xfrm>
            <a:off x="467544" y="3562623"/>
            <a:ext cx="7772400" cy="1873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、其他器件简介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860650"/>
      </p:ext>
    </p:extLst>
  </p:cSld>
  <p:clrMapOvr>
    <a:masterClrMapping/>
  </p:clrMapOvr>
  <p:transition advTm="22344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00" y="1124744"/>
            <a:ext cx="8563156" cy="5406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5269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4" y="1268760"/>
            <a:ext cx="8993601" cy="4840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4079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0" y="1550708"/>
            <a:ext cx="8794720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5786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9938" y="1124744"/>
            <a:ext cx="85225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结型场效应晶体管（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Junction Field-Effect Transistor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JFET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1988840"/>
            <a:ext cx="8477250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3298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021" y="1065702"/>
            <a:ext cx="6711082" cy="272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077072"/>
            <a:ext cx="7560610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0" y="1124744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栅电压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-36119" y="3776074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漏源电压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55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44" y="1700808"/>
            <a:ext cx="9004198" cy="3823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0" y="1124744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JFET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电压曲线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41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0" y="1124744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MESFET</a:t>
            </a:r>
          </a:p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Metal Epitaxial-Semiconductor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Field-Effect Transistor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pic>
        <p:nvPicPr>
          <p:cNvPr id="3074" name="Picture 2" descr="http://p1.pstatp.com/large/pgc-image/47298aa6a4f1469389ab23138e2e9e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25" y="2132856"/>
            <a:ext cx="4385102" cy="2466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p1.pstatp.com/large/pgc-image/b67516aa36744297a8d3710d4718bc0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4000768"/>
            <a:ext cx="4286280" cy="2411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407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268758"/>
            <a:ext cx="6607233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9218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314670"/>
            <a:ext cx="7704856" cy="4686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7918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68760"/>
            <a:ext cx="8392812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7918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052" y="1124744"/>
            <a:ext cx="4312163" cy="5699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2799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638" y="1013378"/>
            <a:ext cx="6532714" cy="5595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6252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056" y="1035331"/>
            <a:ext cx="6163287" cy="5749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205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645" y="1049282"/>
            <a:ext cx="6886779" cy="5620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595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047592"/>
            <a:ext cx="7416824" cy="5605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2331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344" y="1124744"/>
            <a:ext cx="6336704" cy="5577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799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40724" y="1131285"/>
            <a:ext cx="86077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newton trap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</a:t>
            </a: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vdrain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0.1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    </a:t>
            </a: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outf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mesfetex01.log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</a:t>
            </a: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vgate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0.0  </a:t>
            </a: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vstep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-0.1  </a:t>
            </a: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vfinal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-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= gate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322962"/>
            <a:ext cx="5530283" cy="45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395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02" y="1196752"/>
            <a:ext cx="8289978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2873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8" y="1340768"/>
            <a:ext cx="9039773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2513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3" y="1040402"/>
            <a:ext cx="8191579" cy="568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1309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60738" y="1048988"/>
            <a:ext cx="80116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vgate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</a:p>
          <a:p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</a:t>
            </a: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vdrain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0.0  </a:t>
            </a: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vstep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0.1 </a:t>
            </a: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vfinal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2 name = drain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49" y="2052687"/>
            <a:ext cx="5762625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10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10" descr="mesf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268760"/>
            <a:ext cx="6264696" cy="5381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102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4071159"/>
              </p:ext>
            </p:extLst>
          </p:nvPr>
        </p:nvGraphicFramePr>
        <p:xfrm>
          <a:off x="319695" y="1484784"/>
          <a:ext cx="8361733" cy="3384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2" name="Visio" r:id="rId3" imgW="4757622" imgH="5759560" progId="Visio.Drawing.11">
                  <p:embed/>
                </p:oleObj>
              </mc:Choice>
              <mc:Fallback>
                <p:oleObj name="Visio" r:id="rId3" imgW="4757622" imgH="5759560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62520" r="6509" b="6189"/>
                      <a:stretch>
                        <a:fillRect/>
                      </a:stretch>
                    </p:blipFill>
                    <p:spPr bwMode="auto">
                      <a:xfrm>
                        <a:off x="319695" y="1484784"/>
                        <a:ext cx="8361733" cy="3384376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1036312" y="5377912"/>
            <a:ext cx="69285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kumimoji="1" lang="en-US" altLang="zh-CN" sz="2400" dirty="0">
                <a:latin typeface="Times New Roman" pitchFamily="18" charset="0"/>
                <a:cs typeface="Times New Roman" panose="02020603050405020304" pitchFamily="18" charset="0"/>
              </a:rPr>
              <a:t>W</a:t>
            </a:r>
            <a:r>
              <a:rPr kumimoji="1" lang="zh-CN" altLang="en-US" sz="2400" dirty="0">
                <a:latin typeface="Times New Roman" pitchFamily="18" charset="0"/>
                <a:cs typeface="Times New Roman" panose="02020603050405020304" pitchFamily="18" charset="0"/>
              </a:rPr>
              <a:t>是肖特基势垒的耗尽区</a:t>
            </a:r>
            <a:r>
              <a:rPr kumimoji="1" lang="zh-CN" altLang="en-US" sz="2400" dirty="0" smtClean="0">
                <a:latin typeface="Times New Roman" pitchFamily="18" charset="0"/>
                <a:cs typeface="Times New Roman" panose="02020603050405020304" pitchFamily="18" charset="0"/>
              </a:rPr>
              <a:t>宽度，</a:t>
            </a:r>
            <a:r>
              <a:rPr kumimoji="1" lang="en-US" altLang="zh-CN" sz="2400" dirty="0" smtClean="0">
                <a:latin typeface="Times New Roman" pitchFamily="18" charset="0"/>
                <a:cs typeface="Times New Roman" panose="02020603050405020304" pitchFamily="18" charset="0"/>
              </a:rPr>
              <a:t>a-W</a:t>
            </a:r>
            <a:r>
              <a:rPr kumimoji="1" lang="zh-CN" altLang="en-US" sz="2400" dirty="0" smtClean="0">
                <a:latin typeface="Times New Roman" pitchFamily="18" charset="0"/>
                <a:cs typeface="Times New Roman" panose="02020603050405020304" pitchFamily="18" charset="0"/>
              </a:rPr>
              <a:t>为沟道宽度。 </a:t>
            </a:r>
            <a:endParaRPr kumimoji="1" lang="zh-CN" altLang="en-US" sz="2400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367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878232"/>
              </p:ext>
            </p:extLst>
          </p:nvPr>
        </p:nvGraphicFramePr>
        <p:xfrm>
          <a:off x="142844" y="1268760"/>
          <a:ext cx="8766002" cy="1584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7" name="Visio" r:id="rId3" imgW="6259210" imgH="5414874" progId="Visio.Drawing.11">
                  <p:embed/>
                </p:oleObj>
              </mc:Choice>
              <mc:Fallback>
                <p:oleObj name="Visio" r:id="rId3" imgW="6259210" imgH="5414874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1782" b="79515"/>
                      <a:stretch>
                        <a:fillRect/>
                      </a:stretch>
                    </p:blipFill>
                    <p:spPr bwMode="auto">
                      <a:xfrm>
                        <a:off x="142844" y="1268760"/>
                        <a:ext cx="8766002" cy="1584176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1337805"/>
              </p:ext>
            </p:extLst>
          </p:nvPr>
        </p:nvGraphicFramePr>
        <p:xfrm>
          <a:off x="323528" y="4221088"/>
          <a:ext cx="3816424" cy="1513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8" name="Visio" r:id="rId5" imgW="6259210" imgH="5414874" progId="Visio.Drawing.11">
                  <p:embed/>
                </p:oleObj>
              </mc:Choice>
              <mc:Fallback>
                <p:oleObj name="Visio" r:id="rId5" imgW="6259210" imgH="541487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0529" r="54883" b="58826"/>
                      <a:stretch>
                        <a:fillRect/>
                      </a:stretch>
                    </p:blipFill>
                    <p:spPr bwMode="auto">
                      <a:xfrm>
                        <a:off x="323528" y="4221088"/>
                        <a:ext cx="3816424" cy="15132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5292418"/>
              </p:ext>
            </p:extLst>
          </p:nvPr>
        </p:nvGraphicFramePr>
        <p:xfrm>
          <a:off x="5148064" y="3861048"/>
          <a:ext cx="3312368" cy="2237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9" name="Visio" r:id="rId6" imgW="6259210" imgH="5414874" progId="Visio.Drawing.11">
                  <p:embed/>
                </p:oleObj>
              </mc:Choice>
              <mc:Fallback>
                <p:oleObj name="Visio" r:id="rId6" imgW="6259210" imgH="541487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7861" t="23415" r="23448" b="54210"/>
                      <a:stretch>
                        <a:fillRect/>
                      </a:stretch>
                    </p:blipFill>
                    <p:spPr bwMode="auto">
                      <a:xfrm>
                        <a:off x="5148064" y="3861048"/>
                        <a:ext cx="3312368" cy="22379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4367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214049"/>
              </p:ext>
            </p:extLst>
          </p:nvPr>
        </p:nvGraphicFramePr>
        <p:xfrm>
          <a:off x="0" y="1268760"/>
          <a:ext cx="8972119" cy="187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1" name="Visio" r:id="rId3" imgW="6275141" imgH="5415849" progId="Visio.Drawing.11">
                  <p:embed/>
                </p:oleObj>
              </mc:Choice>
              <mc:Fallback>
                <p:oleObj name="Visio" r:id="rId3" imgW="6275141" imgH="5415849" progId="Visio.Drawing.11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45334" b="30577"/>
                      <a:stretch>
                        <a:fillRect/>
                      </a:stretch>
                    </p:blipFill>
                    <p:spPr bwMode="auto">
                      <a:xfrm>
                        <a:off x="0" y="1268760"/>
                        <a:ext cx="8972119" cy="187220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0260949"/>
              </p:ext>
            </p:extLst>
          </p:nvPr>
        </p:nvGraphicFramePr>
        <p:xfrm>
          <a:off x="142843" y="3933056"/>
          <a:ext cx="3700211" cy="187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2" name="Visio" r:id="rId5" imgW="6259210" imgH="5414874" progId="Visio.Drawing.11">
                  <p:embed/>
                </p:oleObj>
              </mc:Choice>
              <mc:Fallback>
                <p:oleObj name="Visio" r:id="rId5" imgW="6259210" imgH="541487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67316" r="55849" b="6889"/>
                      <a:stretch>
                        <a:fillRect/>
                      </a:stretch>
                    </p:blipFill>
                    <p:spPr bwMode="auto">
                      <a:xfrm>
                        <a:off x="142843" y="3933056"/>
                        <a:ext cx="3700211" cy="18722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3829733"/>
              </p:ext>
            </p:extLst>
          </p:nvPr>
        </p:nvGraphicFramePr>
        <p:xfrm>
          <a:off x="3825646" y="3717032"/>
          <a:ext cx="5032634" cy="1944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3" name="Visio" r:id="rId7" imgW="6259210" imgH="5414874" progId="Visio.Drawing.11">
                  <p:embed/>
                </p:oleObj>
              </mc:Choice>
              <mc:Fallback>
                <p:oleObj name="Visio" r:id="rId7" imgW="6259210" imgH="541487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6852" t="69402" b="6889"/>
                      <a:stretch>
                        <a:fillRect/>
                      </a:stretch>
                    </p:blipFill>
                    <p:spPr bwMode="auto">
                      <a:xfrm>
                        <a:off x="3825646" y="3717032"/>
                        <a:ext cx="5032634" cy="19442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4591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6" descr="https://pic1.zhimg.com/adcb2cc6ea0db842c5d62c2f8d3a3724_b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528" y="1340768"/>
            <a:ext cx="3839484" cy="2592000"/>
          </a:xfrm>
          <a:prstGeom prst="rect">
            <a:avLst/>
          </a:prstGeom>
          <a:noFill/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55129"/>
              </p:ext>
            </p:extLst>
          </p:nvPr>
        </p:nvGraphicFramePr>
        <p:xfrm>
          <a:off x="4392643" y="3212976"/>
          <a:ext cx="4465637" cy="345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3" name="Visio" r:id="rId4" imgW="4757622" imgH="5759560" progId="Visio.Drawing.11">
                  <p:embed/>
                </p:oleObj>
              </mc:Choice>
              <mc:Fallback>
                <p:oleObj name="Visio" r:id="rId4" imgW="4757622" imgH="575956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194" b="37450"/>
                      <a:stretch>
                        <a:fillRect/>
                      </a:stretch>
                    </p:blipFill>
                    <p:spPr bwMode="auto">
                      <a:xfrm>
                        <a:off x="4392643" y="3212976"/>
                        <a:ext cx="4465637" cy="345598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9868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61437" y="1124744"/>
            <a:ext cx="61895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FinFET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鳍式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结构场效应晶体管，三维）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7410" name="Picture 2" descr="https://t12.baidu.com/it/u=4108533878,1325486186&amp;fm=173&amp;app=49&amp;f=JPEG?w=640&amp;h=313&amp;s=045052222E20370952A38C580300909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880" y="1916832"/>
            <a:ext cx="7067364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2365201" y="5733256"/>
            <a:ext cx="42707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传统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MOS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结构发展的瓶颈问题</a:t>
            </a:r>
          </a:p>
        </p:txBody>
      </p:sp>
    </p:spTree>
    <p:extLst>
      <p:ext uri="{BB962C8B-B14F-4D97-AF65-F5344CB8AC3E}">
        <p14:creationId xmlns:p14="http://schemas.microsoft.com/office/powerpoint/2010/main" val="3212791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55453" y="1268760"/>
            <a:ext cx="8690217" cy="1698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第一，如果按照原来的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MOS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结构，线宽再缩小的话，源端和漏端会很容易短路。就是电子非常容易“不小心”从源端跑去漏端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，失去了栅极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控制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5452" y="3861048"/>
            <a:ext cx="8690217" cy="1698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第二，饱和电流太小，换句话说，就是源端到漏端的电流太小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。这个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电流越大越好，因为越大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MOS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开状态和关状态的区别就越大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，即开关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特性好。</a:t>
            </a:r>
          </a:p>
        </p:txBody>
      </p:sp>
    </p:spTree>
    <p:extLst>
      <p:ext uri="{BB962C8B-B14F-4D97-AF65-F5344CB8AC3E}">
        <p14:creationId xmlns:p14="http://schemas.microsoft.com/office/powerpoint/2010/main" val="1508590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506" name="Picture 2" descr="https://t10.baidu.com/it/u=382027914,3959202064&amp;fm=173&amp;app=49&amp;f=JPEG?w=640&amp;h=237&amp;s=F4907E9F0574743310FD11E20300703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124744"/>
            <a:ext cx="9139239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1049512" y="4513177"/>
            <a:ext cx="748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左边是传统的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2D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平面结构，右边是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3D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 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FinFET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结构</a:t>
            </a:r>
          </a:p>
        </p:txBody>
      </p:sp>
      <p:sp>
        <p:nvSpPr>
          <p:cNvPr id="6" name="矩形 5"/>
          <p:cNvSpPr/>
          <p:nvPr/>
        </p:nvSpPr>
        <p:spPr>
          <a:xfrm>
            <a:off x="-2382" y="5229200"/>
            <a:ext cx="9146382" cy="1144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FinFET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和传统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MOS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最大的区别就是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source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drain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长高了。长高部分的高度就是上图最右边标注的</a:t>
            </a:r>
            <a:r>
              <a:rPr lang="en-US" altLang="zh-CN" sz="2400" b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Hfin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宽度就是</a:t>
            </a:r>
            <a:r>
              <a:rPr lang="en-US" altLang="zh-CN" sz="2400" b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Wfin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7894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1196752"/>
            <a:ext cx="6153150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075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626" name="Picture 2" descr="https://t12.baidu.com/it/u=214730825,223538699&amp;fm=173&amp;app=49&amp;f=JPEG?w=228&amp;h=180&amp;s=9E8B7A23A69A58715CBD34CF0100C0B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270321"/>
            <a:ext cx="2643765" cy="20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8" name="Picture 4" descr="https://t11.baidu.com/it/u=301854685,399805343&amp;fm=173&amp;app=49&amp;f=JPEG?w=640&amp;h=468&amp;s=9CC37A230AF6F8D20C1575830100C08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402" y="2313913"/>
            <a:ext cx="6096000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4016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761754" y="6237312"/>
            <a:ext cx="35269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3D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 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FinFET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结构右视图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9458" name="Picture 2" descr="https://t11.baidu.com/it/u=2311313470,724835281&amp;fm=173&amp;app=49&amp;f=JPEG?w=371&amp;h=400&amp;s=B3953F6653C4575D491FF26F0200106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045338"/>
            <a:ext cx="4625270" cy="4986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609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688697" y="5780881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俯视图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274" y="1196752"/>
            <a:ext cx="7196409" cy="396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4052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340768"/>
            <a:ext cx="7357989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3946564" y="5319216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侧视图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942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630" name="Picture 6" descr="https://t12.baidu.com/it/u=1133644445,3913516820&amp;fm=173&amp;app=49&amp;f=JPEG?w=640&amp;h=513&amp;s=BFAA7023141D5FD84C9DD5CF0100E0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029133"/>
            <a:ext cx="6840760" cy="548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03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674" name="Picture 2" descr="https://t11.baidu.com/it/u=3767902843,2828279657&amp;fm=173&amp;app=49&amp;f=JPEG?w=640&amp;h=314&amp;s=DECA722344B07D887C7510CE010080B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2507"/>
            <a:ext cx="8964488" cy="4398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1" y="5661248"/>
            <a:ext cx="8714793" cy="96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661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1124744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HEMT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High Electron Mobility Transistor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789" y="1579896"/>
            <a:ext cx="6495545" cy="5271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4079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085252"/>
            <a:ext cx="6915503" cy="579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6825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30" name="Picture 2" descr="https://gimg2.baidu.com/image_search/src=http%3A%2F%2Fwww.keomai.com%2Fuploads%2Fallimg%2F200219%2F05494M539_0.jpg&amp;refer=http%3A%2F%2Fwww.keomai.com&amp;app=2002&amp;size=f9999,10000&amp;q=a80&amp;n=0&amp;g=0n&amp;fmt=jpeg?sec=1621310084&amp;t=913d6cb7088c92e1428d57daef2b2fa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48" y="1268760"/>
            <a:ext cx="8454427" cy="4853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395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388368"/>
            <a:ext cx="7248269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2528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015182"/>
            <a:ext cx="7344816" cy="5617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6503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580" name="Picture 4" descr="https://gimg2.baidu.com/image_search/src=http%3A%2F%2Fwww.dzsc.com%2Fdata%2Fuploadfile%2F2012223102547627.jpg&amp;refer=http%3A%2F%2Fwww.dzsc.com&amp;app=2002&amp;size=f9999,10000&amp;q=a80&amp;n=0&amp;g=0n&amp;fmt=jpeg?sec=1621310591&amp;t=5b48dd95f6398bf39a38f5e42d11c08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83" y="1036278"/>
            <a:ext cx="7228357" cy="5548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42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0" y="1124744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金刚石结构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586409"/>
            <a:ext cx="5958521" cy="470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620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0" y="1124744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闪锌矿结构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676" y="1586409"/>
            <a:ext cx="5582596" cy="508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576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0" y="1124744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纤锌矿结构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456" y="1680119"/>
            <a:ext cx="4676775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0104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8" t="2243" r="29479" b="36723"/>
          <a:stretch/>
        </p:blipFill>
        <p:spPr bwMode="auto">
          <a:xfrm>
            <a:off x="252653" y="1484784"/>
            <a:ext cx="8606760" cy="43924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01618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030958"/>
            <a:ext cx="5832648" cy="2757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890" y="4149080"/>
            <a:ext cx="4562272" cy="2562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8233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21" t="11603" r="10249" b="6889"/>
          <a:stretch/>
        </p:blipFill>
        <p:spPr bwMode="auto">
          <a:xfrm>
            <a:off x="1471092" y="1124744"/>
            <a:ext cx="6035519" cy="561662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53858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8" t="8673" r="49154" b="31471"/>
          <a:stretch/>
        </p:blipFill>
        <p:spPr bwMode="auto">
          <a:xfrm>
            <a:off x="503833" y="1018473"/>
            <a:ext cx="7993458" cy="581478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14826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0" y="1196752"/>
            <a:ext cx="9126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Quantum Well 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（量子阱）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098" name="Picture 2" descr="https://bkimg.cdn.bcebos.com/pic/c995d143ad4bd113878a6dd850afa40f4afb0591?x-bce-process=image/watermark,g_7,image_d2F0ZXIvYmFpa2U5Mg==,xp_5,yp_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707504"/>
            <a:ext cx="4823098" cy="4823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310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0" y="1196752"/>
            <a:ext cx="9126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最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简单的量子阱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Picture 39" descr="11">
            <a:extLst>
              <a:ext uri="{FF2B5EF4-FFF2-40B4-BE49-F238E27FC236}">
                <a16:creationId xmlns:a16="http://schemas.microsoft.com/office/drawing/2014/main" xmlns="" id="{584E5FC6-89C0-4F65-B016-E64483555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94" y="1658416"/>
            <a:ext cx="5865936" cy="2560301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Picture 5" descr="11">
            <a:extLst>
              <a:ext uri="{FF2B5EF4-FFF2-40B4-BE49-F238E27FC236}">
                <a16:creationId xmlns:a16="http://schemas.microsoft.com/office/drawing/2014/main" xmlns="" id="{2D6A0605-43B9-4AAB-92BA-EEA2003DF57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17999" contrast="36000"/>
          </a:blip>
          <a:srcRect t="68637" b="2852"/>
          <a:stretch>
            <a:fillRect/>
          </a:stretch>
        </p:blipFill>
        <p:spPr>
          <a:xfrm>
            <a:off x="1426715" y="4222774"/>
            <a:ext cx="6147693" cy="242481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96466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0" y="1196752"/>
            <a:ext cx="9126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量子阱可以形成二维电子气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122" name="Picture 2" descr="https://bkimg.cdn.bcebos.com/pic/a5c27d1ed21b0ef44eacd223ddc451da81cb3e02?x-bce-process=image/watermark,g_7,image_d2F0ZXIvYmFpa2U5Mg==,xp_5,yp_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76" y="1916832"/>
            <a:ext cx="9020175" cy="435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11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95462"/>
            <a:ext cx="9029700" cy="32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0" y="1124744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AlGaN/GaN HEMT 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器件结构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747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-5072" y="1196752"/>
            <a:ext cx="910891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GaN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AlN 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这类氮化物半导体，由于纤锌矿结构的对称性不高，正负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电荷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中心也不重合，存在很强的自发极化。同时具有纤锌矿结构的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GaN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AlN 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材料具有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显著的压电效应，在施加外力条件下晶格变化导致正负电荷中心分离，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形成偶极矩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，最终表现出压电极化效应</a:t>
            </a:r>
          </a:p>
        </p:txBody>
      </p:sp>
      <p:sp>
        <p:nvSpPr>
          <p:cNvPr id="2" name="矩形 1"/>
          <p:cNvSpPr/>
          <p:nvPr/>
        </p:nvSpPr>
        <p:spPr>
          <a:xfrm>
            <a:off x="8722" y="3501008"/>
            <a:ext cx="90951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在一定温度范围内、单位晶胞内正负电荷中心不重合，形成偶极矩，呈现极性。这种在无外电场作用下存在的极化现象称为自发极化</a:t>
            </a:r>
          </a:p>
        </p:txBody>
      </p:sp>
      <p:sp>
        <p:nvSpPr>
          <p:cNvPr id="6" name="矩形 5"/>
          <p:cNvSpPr/>
          <p:nvPr/>
        </p:nvSpPr>
        <p:spPr>
          <a:xfrm>
            <a:off x="8722" y="5085184"/>
            <a:ext cx="91250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压电体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受到外机械力作用而发生电极化，并导致压电体两端表面内出现符号相反的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束缚电荷，叫做压电极化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50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0" y="1124744"/>
            <a:ext cx="27703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应力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应变的定义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19270" y="1700808"/>
            <a:ext cx="91632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AlGaN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层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通过赝晶生长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GaN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层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上， 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这里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AlGaN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晶格常数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小于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GaN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晶格常数， 两者会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形成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AlGaN/GaN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应变异质结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2852936"/>
            <a:ext cx="91632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）由于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AlGaN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晶格常数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AlN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GaN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之间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 应变异质结中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AlGaN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层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会受到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来自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GaN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层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张应力，所以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AlGaN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层中两种极化都存在，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GaN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中只存在自发极化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4081843"/>
            <a:ext cx="5174941" cy="2630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988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7848" y="1124744"/>
            <a:ext cx="9126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Polarization in Wurtzite Materials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109" y="1844824"/>
            <a:ext cx="9126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）总的极化强度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492896"/>
            <a:ext cx="2808312" cy="975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0" y="3789040"/>
            <a:ext cx="9126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）压电极化强度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4581128"/>
            <a:ext cx="5957162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477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0" y="1124744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GaN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AlN 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可以形成替位式固溶体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AlGaN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，该三元合金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AlxGa1-xN 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材料的晶格常数与二元材料成分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GaN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AlN 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晶格常数以及摩尔组分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 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之间的关系遵循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Vegard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定律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483701"/>
            <a:ext cx="6735251" cy="736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79507"/>
            <a:ext cx="7940221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232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060848"/>
            <a:ext cx="2943225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0" y="1124744"/>
            <a:ext cx="17620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应力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分量</a:t>
            </a:r>
          </a:p>
        </p:txBody>
      </p:sp>
      <p:sp>
        <p:nvSpPr>
          <p:cNvPr id="7" name="矩形 6"/>
          <p:cNvSpPr/>
          <p:nvPr/>
        </p:nvSpPr>
        <p:spPr>
          <a:xfrm>
            <a:off x="9736" y="5301208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 smtClean="0">
                <a:latin typeface="Symbol" panose="05050102010706020507" pitchFamily="18" charset="2"/>
              </a:rPr>
              <a:t></a:t>
            </a:r>
            <a:r>
              <a:rPr lang="en-US" altLang="zh-CN" sz="2400" b="1" i="1" baseline="-25000" dirty="0" smtClean="0"/>
              <a:t>xx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可以通过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region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中的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strain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参数定义，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是衬底材料的晶格常数，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可以通过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material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中的</a:t>
            </a:r>
            <a:r>
              <a:rPr lang="en-US" altLang="zh-CN" sz="2400" b="1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Alattice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参数定义，就是准备进行应变的材料的晶格常数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32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0" y="1124744"/>
            <a:ext cx="4312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区域定义时有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polarization 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参数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3" y="2204864"/>
            <a:ext cx="8977358" cy="161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863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-1" y="1268760"/>
            <a:ext cx="9126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）自发极化强度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849" y="1988840"/>
            <a:ext cx="9126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sp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material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命令中描述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9" y="4077072"/>
            <a:ext cx="9108301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2254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4" y="1700808"/>
            <a:ext cx="9078686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127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21" y="2420888"/>
            <a:ext cx="8605620" cy="2565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0" y="1124744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应力与电学参数之间的关系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079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0" y="1124744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应力太小和太大都不行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2060848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）应力太小，压电极化的强度不够，二维电子气密度不够大，达不到要求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500" y="3356992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）应力太大，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异质结材料中会出现应变弛豫现象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，缺陷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增多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，使得二维电子气密度降低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，甚至失效</a:t>
            </a:r>
          </a:p>
        </p:txBody>
      </p:sp>
    </p:spTree>
    <p:extLst>
      <p:ext uri="{BB962C8B-B14F-4D97-AF65-F5344CB8AC3E}">
        <p14:creationId xmlns:p14="http://schemas.microsoft.com/office/powerpoint/2010/main" val="57845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12776"/>
            <a:ext cx="9156178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4079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508423"/>
            <a:ext cx="6205487" cy="4651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816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382" y="2060848"/>
            <a:ext cx="4415535" cy="2314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0658" y="2193638"/>
            <a:ext cx="4231230" cy="2087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8164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61" y="1712190"/>
            <a:ext cx="7852743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0" y="1124744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GaN/AlGaN HHMT 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器件？（高空穴迁移率晶体管）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087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013379"/>
            <a:ext cx="5832648" cy="4547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-21006" y="5561368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器件中同时存在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二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维电子气和二维空穴气的沟道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181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2844" y="428604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其他类型器件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161" y="1013379"/>
            <a:ext cx="4721111" cy="5829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3175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3742</TotalTime>
  <Words>887</Words>
  <Application>Microsoft Office PowerPoint</Application>
  <PresentationFormat>全屏显示(4:3)</PresentationFormat>
  <Paragraphs>123</Paragraphs>
  <Slides>70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72" baseType="lpstr">
      <vt:lpstr>Office 主题​​</vt:lpstr>
      <vt:lpstr>Visio</vt:lpstr>
      <vt:lpstr>集成电路EDA技术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集成电路EDA技术</dc:title>
  <dc:creator>个人用户</dc:creator>
  <cp:lastModifiedBy>个人用户</cp:lastModifiedBy>
  <cp:revision>69</cp:revision>
  <dcterms:created xsi:type="dcterms:W3CDTF">2020-03-19T07:19:46Z</dcterms:created>
  <dcterms:modified xsi:type="dcterms:W3CDTF">2021-04-19T03:56:18Z</dcterms:modified>
</cp:coreProperties>
</file>