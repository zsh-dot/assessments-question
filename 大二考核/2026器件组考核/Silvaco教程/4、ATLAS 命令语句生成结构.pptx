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95" r:id="rId29"/>
    <p:sldId id="283" r:id="rId30"/>
    <p:sldId id="296" r:id="rId31"/>
    <p:sldId id="284" r:id="rId32"/>
    <p:sldId id="285" r:id="rId33"/>
    <p:sldId id="286" r:id="rId34"/>
    <p:sldId id="287" r:id="rId35"/>
    <p:sldId id="288" r:id="rId36"/>
    <p:sldId id="289" r:id="rId37"/>
    <p:sldId id="290" r:id="rId38"/>
    <p:sldId id="291" r:id="rId39"/>
    <p:sldId id="292" r:id="rId40"/>
    <p:sldId id="293" r:id="rId4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039" autoAdjust="0"/>
    <p:restoredTop sz="94660"/>
  </p:normalViewPr>
  <p:slideViewPr>
    <p:cSldViewPr>
      <p:cViewPr varScale="1">
        <p:scale>
          <a:sx n="109" d="100"/>
          <a:sy n="109" d="100"/>
        </p:scale>
        <p:origin x="1680" y="8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12888B30-808A-4B34-B64B-C8B807526E12}" type="datetimeFigureOut">
              <a:rPr lang="zh-CN" altLang="en-US" smtClean="0"/>
              <a:t>2024/2/24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52F5C0-3A27-4B1A-BA1E-FEBBF1446C37}" type="slidenum">
              <a:rPr lang="zh-CN" altLang="en-US" smtClean="0"/>
              <a:t>‹#›</a:t>
            </a:fld>
            <a:endParaRPr lang="zh-CN" altLang="en-US"/>
          </a:p>
        </p:txBody>
      </p:sp>
    </p:spTree>
    <p:extLst>
      <p:ext uri="{BB962C8B-B14F-4D97-AF65-F5344CB8AC3E}">
        <p14:creationId xmlns:p14="http://schemas.microsoft.com/office/powerpoint/2010/main" val="3661625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2888B30-808A-4B34-B64B-C8B807526E12}" type="datetimeFigureOut">
              <a:rPr lang="zh-CN" altLang="en-US" smtClean="0"/>
              <a:t>2024/2/24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52F5C0-3A27-4B1A-BA1E-FEBBF1446C37}" type="slidenum">
              <a:rPr lang="zh-CN" altLang="en-US" smtClean="0"/>
              <a:t>‹#›</a:t>
            </a:fld>
            <a:endParaRPr lang="zh-CN" altLang="en-US"/>
          </a:p>
        </p:txBody>
      </p:sp>
    </p:spTree>
    <p:extLst>
      <p:ext uri="{BB962C8B-B14F-4D97-AF65-F5344CB8AC3E}">
        <p14:creationId xmlns:p14="http://schemas.microsoft.com/office/powerpoint/2010/main" val="236517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12888B30-808A-4B34-B64B-C8B807526E12}" type="datetimeFigureOut">
              <a:rPr lang="zh-CN" altLang="en-US" smtClean="0"/>
              <a:t>2024/2/24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52F5C0-3A27-4B1A-BA1E-FEBBF1446C37}" type="slidenum">
              <a:rPr lang="zh-CN" altLang="en-US" smtClean="0"/>
              <a:t>‹#›</a:t>
            </a:fld>
            <a:endParaRPr lang="zh-CN" altLang="en-US"/>
          </a:p>
        </p:txBody>
      </p:sp>
    </p:spTree>
    <p:extLst>
      <p:ext uri="{BB962C8B-B14F-4D97-AF65-F5344CB8AC3E}">
        <p14:creationId xmlns:p14="http://schemas.microsoft.com/office/powerpoint/2010/main" val="1823363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12888B30-808A-4B34-B64B-C8B807526E12}" type="datetimeFigureOut">
              <a:rPr lang="zh-CN" altLang="en-US" smtClean="0"/>
              <a:t>2024/2/24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52F5C0-3A27-4B1A-BA1E-FEBBF1446C37}" type="slidenum">
              <a:rPr lang="zh-CN" altLang="en-US" smtClean="0"/>
              <a:t>‹#›</a:t>
            </a:fld>
            <a:endParaRPr lang="zh-CN" altLang="en-US"/>
          </a:p>
        </p:txBody>
      </p:sp>
    </p:spTree>
    <p:extLst>
      <p:ext uri="{BB962C8B-B14F-4D97-AF65-F5344CB8AC3E}">
        <p14:creationId xmlns:p14="http://schemas.microsoft.com/office/powerpoint/2010/main" val="1770464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12888B30-808A-4B34-B64B-C8B807526E12}" type="datetimeFigureOut">
              <a:rPr lang="zh-CN" altLang="en-US" smtClean="0"/>
              <a:t>2024/2/24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652F5C0-3A27-4B1A-BA1E-FEBBF1446C37}" type="slidenum">
              <a:rPr lang="zh-CN" altLang="en-US" smtClean="0"/>
              <a:t>‹#›</a:t>
            </a:fld>
            <a:endParaRPr lang="zh-CN" altLang="en-US"/>
          </a:p>
        </p:txBody>
      </p:sp>
    </p:spTree>
    <p:extLst>
      <p:ext uri="{BB962C8B-B14F-4D97-AF65-F5344CB8AC3E}">
        <p14:creationId xmlns:p14="http://schemas.microsoft.com/office/powerpoint/2010/main" val="4045471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12888B30-808A-4B34-B64B-C8B807526E12}" type="datetimeFigureOut">
              <a:rPr lang="zh-CN" altLang="en-US" smtClean="0"/>
              <a:t>2024/2/24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652F5C0-3A27-4B1A-BA1E-FEBBF1446C37}" type="slidenum">
              <a:rPr lang="zh-CN" altLang="en-US" smtClean="0"/>
              <a:t>‹#›</a:t>
            </a:fld>
            <a:endParaRPr lang="zh-CN" altLang="en-US"/>
          </a:p>
        </p:txBody>
      </p:sp>
    </p:spTree>
    <p:extLst>
      <p:ext uri="{BB962C8B-B14F-4D97-AF65-F5344CB8AC3E}">
        <p14:creationId xmlns:p14="http://schemas.microsoft.com/office/powerpoint/2010/main" val="2417734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2888B30-808A-4B34-B64B-C8B807526E12}" type="datetimeFigureOut">
              <a:rPr lang="zh-CN" altLang="en-US" smtClean="0"/>
              <a:t>2024/2/24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652F5C0-3A27-4B1A-BA1E-FEBBF1446C37}" type="slidenum">
              <a:rPr lang="zh-CN" altLang="en-US" smtClean="0"/>
              <a:t>‹#›</a:t>
            </a:fld>
            <a:endParaRPr lang="zh-CN" altLang="en-US"/>
          </a:p>
        </p:txBody>
      </p:sp>
    </p:spTree>
    <p:extLst>
      <p:ext uri="{BB962C8B-B14F-4D97-AF65-F5344CB8AC3E}">
        <p14:creationId xmlns:p14="http://schemas.microsoft.com/office/powerpoint/2010/main" val="3123478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2888B30-808A-4B34-B64B-C8B807526E12}" type="datetimeFigureOut">
              <a:rPr lang="zh-CN" altLang="en-US" smtClean="0"/>
              <a:t>2024/2/24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52F5C0-3A27-4B1A-BA1E-FEBBF1446C37}" type="slidenum">
              <a:rPr lang="zh-CN" altLang="en-US" smtClean="0"/>
              <a:t>‹#›</a:t>
            </a:fld>
            <a:endParaRPr lang="zh-CN" altLang="en-US"/>
          </a:p>
        </p:txBody>
      </p:sp>
    </p:spTree>
    <p:extLst>
      <p:ext uri="{BB962C8B-B14F-4D97-AF65-F5344CB8AC3E}">
        <p14:creationId xmlns:p14="http://schemas.microsoft.com/office/powerpoint/2010/main" val="4243995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2888B30-808A-4B34-B64B-C8B807526E12}" type="datetimeFigureOut">
              <a:rPr lang="zh-CN" altLang="en-US" smtClean="0"/>
              <a:t>2024/2/24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52F5C0-3A27-4B1A-BA1E-FEBBF1446C37}" type="slidenum">
              <a:rPr lang="zh-CN" altLang="en-US" smtClean="0"/>
              <a:t>‹#›</a:t>
            </a:fld>
            <a:endParaRPr lang="zh-CN" altLang="en-US"/>
          </a:p>
        </p:txBody>
      </p:sp>
    </p:spTree>
    <p:extLst>
      <p:ext uri="{BB962C8B-B14F-4D97-AF65-F5344CB8AC3E}">
        <p14:creationId xmlns:p14="http://schemas.microsoft.com/office/powerpoint/2010/main" val="3472424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2888B30-808A-4B34-B64B-C8B807526E12}" type="datetimeFigureOut">
              <a:rPr lang="zh-CN" altLang="en-US" smtClean="0"/>
              <a:t>2024/2/24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52F5C0-3A27-4B1A-BA1E-FEBBF1446C37}" type="slidenum">
              <a:rPr lang="zh-CN" altLang="en-US" smtClean="0"/>
              <a:t>‹#›</a:t>
            </a:fld>
            <a:endParaRPr lang="zh-CN" altLang="en-US"/>
          </a:p>
        </p:txBody>
      </p:sp>
    </p:spTree>
    <p:extLst>
      <p:ext uri="{BB962C8B-B14F-4D97-AF65-F5344CB8AC3E}">
        <p14:creationId xmlns:p14="http://schemas.microsoft.com/office/powerpoint/2010/main" val="2314901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2888B30-808A-4B34-B64B-C8B807526E12}" type="datetimeFigureOut">
              <a:rPr lang="zh-CN" altLang="en-US" smtClean="0"/>
              <a:t>2024/2/24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52F5C0-3A27-4B1A-BA1E-FEBBF1446C37}" type="slidenum">
              <a:rPr lang="zh-CN" altLang="en-US" smtClean="0"/>
              <a:t>‹#›</a:t>
            </a:fld>
            <a:endParaRPr lang="zh-CN" altLang="en-US"/>
          </a:p>
        </p:txBody>
      </p:sp>
    </p:spTree>
    <p:extLst>
      <p:ext uri="{BB962C8B-B14F-4D97-AF65-F5344CB8AC3E}">
        <p14:creationId xmlns:p14="http://schemas.microsoft.com/office/powerpoint/2010/main" val="380437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888B30-808A-4B34-B64B-C8B807526E12}" type="datetimeFigureOut">
              <a:rPr lang="zh-CN" altLang="en-US" smtClean="0"/>
              <a:t>2024/2/24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52F5C0-3A27-4B1A-BA1E-FEBBF1446C37}" type="slidenum">
              <a:rPr lang="zh-CN" altLang="en-US" smtClean="0"/>
              <a:t>‹#›</a:t>
            </a:fld>
            <a:endParaRPr lang="zh-CN" altLang="en-US"/>
          </a:p>
        </p:txBody>
      </p:sp>
    </p:spTree>
    <p:extLst>
      <p:ext uri="{BB962C8B-B14F-4D97-AF65-F5344CB8AC3E}">
        <p14:creationId xmlns:p14="http://schemas.microsoft.com/office/powerpoint/2010/main" val="3172229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1.wmf"/><Relationship Id="rId5" Type="http://schemas.openxmlformats.org/officeDocument/2006/relationships/oleObject" Target="../embeddings/oleObject2.bin"/><Relationship Id="rId4" Type="http://schemas.openxmlformats.org/officeDocument/2006/relationships/image" Target="../media/image40.wmf"/></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755650" y="1339850"/>
            <a:ext cx="7772400" cy="1873250"/>
          </a:xfrm>
        </p:spPr>
        <p:txBody>
          <a:bodyPr/>
          <a:lstStyle/>
          <a:p>
            <a:pPr lvl="0">
              <a:defRPr/>
            </a:pPr>
            <a:r>
              <a:rPr lang="zh-CN" altLang="en-US" sz="4800" b="1" dirty="0" smtClean="0">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4800" b="1" dirty="0" smtClean="0">
                <a:latin typeface="Times New Roman" panose="02020603050405020304" pitchFamily="18" charset="0"/>
                <a:ea typeface="楷体" panose="02010609060101010101" pitchFamily="49" charset="-122"/>
                <a:cs typeface="Times New Roman" panose="02020603050405020304" pitchFamily="18" charset="0"/>
              </a:rPr>
              <a:t>EDA</a:t>
            </a:r>
            <a:r>
              <a:rPr lang="zh-CN" altLang="en-US" sz="4800" b="1" dirty="0" smtClean="0">
                <a:latin typeface="Times New Roman" panose="02020603050405020304" pitchFamily="18" charset="0"/>
                <a:ea typeface="楷体" panose="02010609060101010101" pitchFamily="49" charset="-122"/>
                <a:cs typeface="Times New Roman" panose="02020603050405020304" pitchFamily="18" charset="0"/>
              </a:rPr>
              <a:t>技术</a:t>
            </a:r>
          </a:p>
        </p:txBody>
      </p:sp>
      <p:grpSp>
        <p:nvGrpSpPr>
          <p:cNvPr id="7172" name="Group 4"/>
          <p:cNvGrpSpPr>
            <a:grpSpLocks/>
          </p:cNvGrpSpPr>
          <p:nvPr/>
        </p:nvGrpSpPr>
        <p:grpSpPr bwMode="auto">
          <a:xfrm>
            <a:off x="250825" y="3357563"/>
            <a:ext cx="8610600" cy="201612"/>
            <a:chOff x="144" y="1680"/>
            <a:chExt cx="5424" cy="144"/>
          </a:xfrm>
        </p:grpSpPr>
        <p:sp>
          <p:nvSpPr>
            <p:cNvPr id="7175" name="Rectangle 5"/>
            <p:cNvSpPr>
              <a:spLocks noChangeArrowheads="1"/>
            </p:cNvSpPr>
            <p:nvPr/>
          </p:nvSpPr>
          <p:spPr bwMode="auto">
            <a:xfrm>
              <a:off x="144" y="1680"/>
              <a:ext cx="1808"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7176" name="Rectangle 6"/>
            <p:cNvSpPr>
              <a:spLocks noChangeArrowheads="1"/>
            </p:cNvSpPr>
            <p:nvPr/>
          </p:nvSpPr>
          <p:spPr bwMode="auto">
            <a:xfrm>
              <a:off x="1952" y="1680"/>
              <a:ext cx="1808" cy="144"/>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7177" name="Rectangle 7"/>
            <p:cNvSpPr>
              <a:spLocks noChangeArrowheads="1"/>
            </p:cNvSpPr>
            <p:nvPr/>
          </p:nvSpPr>
          <p:spPr bwMode="auto">
            <a:xfrm>
              <a:off x="3760" y="1680"/>
              <a:ext cx="1808"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pSp>
      <p:pic>
        <p:nvPicPr>
          <p:cNvPr id="717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25" y="3857628"/>
            <a:ext cx="4067175"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2"/>
          <p:cNvSpPr txBox="1">
            <a:spLocks/>
          </p:cNvSpPr>
          <p:nvPr/>
        </p:nvSpPr>
        <p:spPr>
          <a:xfrm>
            <a:off x="467544" y="3562623"/>
            <a:ext cx="7772400" cy="1873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CN" sz="3200" b="1" dirty="0" smtClean="0">
                <a:latin typeface="Times New Roman" panose="02020603050405020304" pitchFamily="18" charset="0"/>
                <a:ea typeface="楷体" panose="02010609060101010101" pitchFamily="49" charset="-122"/>
                <a:cs typeface="Times New Roman" panose="02020603050405020304" pitchFamily="18" charset="0"/>
              </a:rPr>
              <a:t>4</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a:latin typeface="Times New Roman" panose="02020603050405020304" pitchFamily="18" charset="0"/>
                <a:ea typeface="楷体" panose="02010609060101010101" pitchFamily="49" charset="-122"/>
                <a:cs typeface="Times New Roman" panose="02020603050405020304" pitchFamily="18" charset="0"/>
              </a:rPr>
              <a:t>命令</a:t>
            </a:r>
            <a:r>
              <a:rPr lang="zh-CN" altLang="en-US" sz="3200" b="1" smtClean="0">
                <a:latin typeface="Times New Roman" panose="02020603050405020304" pitchFamily="18" charset="0"/>
                <a:ea typeface="楷体" panose="02010609060101010101" pitchFamily="49" charset="-122"/>
                <a:cs typeface="Times New Roman" panose="02020603050405020304" pitchFamily="18" charset="0"/>
              </a:rPr>
              <a:t>语句</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212805473"/>
      </p:ext>
    </p:extLst>
  </p:cSld>
  <p:clrMapOvr>
    <a:masterClrMapping/>
  </p:clrMapOvr>
  <p:transition advTm="22344"/>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0" y="1013379"/>
            <a:ext cx="9144000" cy="830997"/>
          </a:xfrm>
          <a:prstGeom prst="rect">
            <a:avLst/>
          </a:prstGeom>
        </p:spPr>
        <p:txBody>
          <a:bodyPr wrap="square">
            <a:spAutoFit/>
          </a:bodyPr>
          <a:lstStyle/>
          <a:p>
            <a:pPr marL="342900" indent="-342900">
              <a:buFont typeface="Wingdings" panose="05000000000000000000" pitchFamily="2" charset="2"/>
              <a:buChar char="Ø"/>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ATLAS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生成结构也是从网格定义开始，主要的步骤有四个：</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、初始化网格；</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定义区域</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和材料；</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、定义电极；</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、描述掺杂</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2" name="矩形 1"/>
          <p:cNvSpPr/>
          <p:nvPr/>
        </p:nvSpPr>
        <p:spPr>
          <a:xfrm>
            <a:off x="0" y="2132856"/>
            <a:ext cx="2244525" cy="461665"/>
          </a:xfrm>
          <a:prstGeom prst="rect">
            <a:avLst/>
          </a:prstGeom>
        </p:spPr>
        <p:txBody>
          <a:bodyPr wrap="non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Initial Mesh</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矩形 3"/>
          <p:cNvSpPr/>
          <p:nvPr/>
        </p:nvSpPr>
        <p:spPr>
          <a:xfrm>
            <a:off x="0" y="2708920"/>
            <a:ext cx="9144000" cy="830997"/>
          </a:xfrm>
          <a:prstGeom prst="rect">
            <a:avLst/>
          </a:prstGeom>
        </p:spPr>
        <p:txBody>
          <a:bodyPr wrap="square">
            <a:sp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在介绍工艺仿真时提到衬底网格是用命令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line</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，参数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location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spacing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来定义的。</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933055"/>
            <a:ext cx="9144000" cy="21221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93620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0" y="1124744"/>
            <a:ext cx="9144000" cy="1200329"/>
          </a:xfrm>
          <a:prstGeom prst="rect">
            <a:avLst/>
          </a:prstGeom>
        </p:spPr>
        <p:txBody>
          <a:bodyPr wrap="square">
            <a:sp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命令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eliminate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可在已有的网格基础上删除掉指定矩形区域内的一些网格线，删除的</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方式</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是定义某范围内沿横向或纵向网格线隔一条删除一条</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226" y="2384570"/>
            <a:ext cx="7814672" cy="43350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396186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441" y="1403702"/>
            <a:ext cx="8170242" cy="4724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4744"/>
            <a:ext cx="3483646" cy="461665"/>
          </a:xfrm>
          <a:prstGeom prst="rect">
            <a:avLst/>
          </a:prstGeom>
        </p:spPr>
        <p:txBody>
          <a:bodyPr wrap="non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Region and Materials</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矩形 3"/>
          <p:cNvSpPr/>
          <p:nvPr/>
        </p:nvSpPr>
        <p:spPr>
          <a:xfrm>
            <a:off x="0" y="1700808"/>
            <a:ext cx="9144000" cy="830997"/>
          </a:xfrm>
          <a:prstGeom prst="rect">
            <a:avLst/>
          </a:prstGeom>
        </p:spPr>
        <p:txBody>
          <a:bodyPr wrap="squar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ATLAS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需要将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mesh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中定义的仿真剖面</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划分成</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不同的</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区（</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region</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），并定义相应的区域参数之后保存结构才能由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tonyplot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显示网格。</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4" y="4509120"/>
            <a:ext cx="8855706" cy="11521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0" y="3004858"/>
            <a:ext cx="9144000" cy="1200329"/>
          </a:xfrm>
          <a:prstGeom prst="rect">
            <a:avLst/>
          </a:prstGeom>
        </p:spPr>
        <p:txBody>
          <a:bodyPr wrap="squar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Region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语法： </a:t>
            </a:r>
          </a:p>
          <a:p>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REGION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NUMBER=&lt;N&gt; &lt;MATERIAL&gt; [&lt;POSITION&gt;]</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052362"/>
            <a:ext cx="9036496" cy="1200329"/>
          </a:xfrm>
          <a:prstGeom prst="rect">
            <a:avLst/>
          </a:prstGeom>
        </p:spPr>
        <p:txBody>
          <a:bodyPr wrap="square">
            <a:sp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应当使</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mesh</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范围全部都有</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region</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进行定义，不提倡有没定义的地方，否则程序会发出警 </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告</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。如果实在是没有材料则可以定义为“</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material=air</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8724" y="2348880"/>
            <a:ext cx="6543675" cy="421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1340768"/>
            <a:ext cx="5184576" cy="51419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8402" y="1244824"/>
            <a:ext cx="5464320" cy="5404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4744"/>
            <a:ext cx="8964488" cy="461665"/>
          </a:xfrm>
          <a:prstGeom prst="rect">
            <a:avLst/>
          </a:prstGeom>
        </p:spPr>
        <p:txBody>
          <a:bodyPr wrap="squar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ATLAS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有两种方法可以定义区 域中材料组分</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的渐变</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矩形 3"/>
          <p:cNvSpPr/>
          <p:nvPr/>
        </p:nvSpPr>
        <p:spPr>
          <a:xfrm>
            <a:off x="-12576" y="1844824"/>
            <a:ext cx="9156576" cy="1200329"/>
          </a:xfrm>
          <a:prstGeom prst="rect">
            <a:avLst/>
          </a:prstGeom>
        </p:spPr>
        <p:txBody>
          <a:bodyPr wrap="squar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）用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compx</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 top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compx</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 bottom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参数来定义区域顶部和底部的组分， </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中间</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区域组分是线性变化的。对于四元化合物还有参数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compy</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 top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compy</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 bottom</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368350"/>
            <a:ext cx="8858280" cy="806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 y="1268760"/>
            <a:ext cx="8724900" cy="4864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 y="2492896"/>
            <a:ext cx="8658822" cy="1008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404" y="1196752"/>
            <a:ext cx="9143596" cy="461665"/>
          </a:xfrm>
          <a:prstGeom prst="rect">
            <a:avLst/>
          </a:prstGeom>
        </p:spPr>
        <p:txBody>
          <a:bodyPr wrap="squar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）由</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参 数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grad.&lt;n&gt;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定义在某一区间内组分由某一值减少为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p>
        </p:txBody>
      </p:sp>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27" y="1412776"/>
            <a:ext cx="9000000" cy="48150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013379"/>
            <a:ext cx="9144000" cy="1200329"/>
          </a:xfrm>
          <a:prstGeom prst="rect">
            <a:avLst/>
          </a:prstGeom>
        </p:spPr>
        <p:txBody>
          <a:bodyPr wrap="square">
            <a:sp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参数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grad.&lt;n&gt;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可定义异质结材料组分从某一值减到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0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时的渐变，</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n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的数值有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12</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23</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34 </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41</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grad.12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为上边界，</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grad.23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表示右边界，</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grad.34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表示下边界，</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grad.41 </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表示</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左边界</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420888"/>
            <a:ext cx="7164338" cy="3699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32658" y="1120676"/>
            <a:ext cx="9141161" cy="1569660"/>
          </a:xfrm>
          <a:prstGeom prst="rect">
            <a:avLst/>
          </a:prstGeom>
        </p:spPr>
        <p:txBody>
          <a:bodyPr wrap="square">
            <a:spAutoFit/>
          </a:bodyPr>
          <a:lstStyle/>
          <a:p>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Elctrode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定义电极，位置可以是由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x.min</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x.max</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y.min</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y.max</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组成的矩形框，也</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可以是</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按照剖面的特定位置如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top</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bottom</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left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right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或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substrate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定义，还可以是指定一点和电极在 </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x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方向的长度来定义。电极接触类型默认为欧姆接触。</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93" y="3073524"/>
            <a:ext cx="8227745" cy="504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93" y="4149080"/>
            <a:ext cx="8245494" cy="1368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1124744"/>
            <a:ext cx="5472608" cy="55157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20478" y="1029321"/>
            <a:ext cx="9123521" cy="1200329"/>
          </a:xfrm>
          <a:prstGeom prst="rect">
            <a:avLst/>
          </a:prstGeom>
        </p:spPr>
        <p:txBody>
          <a:bodyPr wrap="square">
            <a:spAutoFit/>
          </a:bodyPr>
          <a:lstStyle/>
          <a:p>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、杂质</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分布由 </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命令</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doping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状态</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设置，</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杂质分布可以是</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均匀分布（</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uniform</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高斯分布（</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Gaussian</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和误差</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函数分布（</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error function</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 </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矩形 3"/>
          <p:cNvSpPr/>
          <p:nvPr/>
        </p:nvSpPr>
        <p:spPr>
          <a:xfrm>
            <a:off x="20478" y="2420888"/>
            <a:ext cx="9144000" cy="830997"/>
          </a:xfrm>
          <a:prstGeom prst="rect">
            <a:avLst/>
          </a:prstGeom>
        </p:spPr>
        <p:txBody>
          <a:bodyPr wrap="squar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）均匀分布</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常用的参数有杂质类型（</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n.type</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 type</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）浓度（</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concentration</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）和区域。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3719513"/>
            <a:ext cx="6915150" cy="58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013379"/>
            <a:ext cx="9108504" cy="2308324"/>
          </a:xfrm>
          <a:prstGeom prst="rect">
            <a:avLst/>
          </a:prstGeom>
        </p:spPr>
        <p:txBody>
          <a:bodyPr wrap="squar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）高斯分布</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常用的参数可以分成类型和分布参数两类。类型即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n.type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p.type</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分布参数 又可以分成三组，三组参数选其中一组。第一组的参数有 </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concentration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junction</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，第二组 参数有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dose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characteristic</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，第三组参数有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concentration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characteristic</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矩形 3"/>
          <p:cNvSpPr/>
          <p:nvPr/>
        </p:nvSpPr>
        <p:spPr>
          <a:xfrm>
            <a:off x="1" y="3573016"/>
            <a:ext cx="9108504" cy="646331"/>
          </a:xfrm>
          <a:prstGeom prst="rect">
            <a:avLst/>
          </a:prstGeom>
        </p:spPr>
        <p:txBody>
          <a:bodyPr wrap="square">
            <a:spAutoFit/>
          </a:bodyPr>
          <a:lstStyle/>
          <a:p>
            <a:r>
              <a:rPr lang="en-US" altLang="zh-CN" b="1" dirty="0" smtClean="0">
                <a:latin typeface="Times New Roman" panose="02020603050405020304" pitchFamily="18" charset="0"/>
                <a:ea typeface="华文楷体" panose="02010600040101010101" pitchFamily="2" charset="-122"/>
                <a:cs typeface="Times New Roman" panose="02020603050405020304" pitchFamily="18" charset="0"/>
              </a:rPr>
              <a:t>Concentration</a:t>
            </a:r>
            <a:r>
              <a:rPr lang="zh-CN" altLang="en-US" b="1" dirty="0" smtClean="0">
                <a:latin typeface="Times New Roman" panose="02020603050405020304" pitchFamily="18" charset="0"/>
                <a:ea typeface="华文楷体" panose="02010600040101010101" pitchFamily="2" charset="-122"/>
                <a:cs typeface="Times New Roman" panose="02020603050405020304" pitchFamily="18" charset="0"/>
              </a:rPr>
              <a:t>（载流子浓度），</a:t>
            </a:r>
            <a:r>
              <a:rPr lang="en-US" altLang="zh-CN" b="1" dirty="0" smtClean="0">
                <a:latin typeface="Times New Roman" panose="02020603050405020304" pitchFamily="18" charset="0"/>
                <a:ea typeface="华文楷体" panose="02010600040101010101" pitchFamily="2" charset="-122"/>
                <a:cs typeface="Times New Roman" panose="02020603050405020304" pitchFamily="18" charset="0"/>
              </a:rPr>
              <a:t>junction</a:t>
            </a:r>
            <a:r>
              <a:rPr lang="zh-CN" altLang="en-US" b="1" dirty="0" smtClean="0">
                <a:latin typeface="Times New Roman" panose="02020603050405020304" pitchFamily="18" charset="0"/>
                <a:ea typeface="华文楷体" panose="02010600040101010101" pitchFamily="2" charset="-122"/>
                <a:cs typeface="Times New Roman" panose="02020603050405020304" pitchFamily="18" charset="0"/>
              </a:rPr>
              <a:t>（结深），</a:t>
            </a:r>
            <a:r>
              <a:rPr lang="en-US" altLang="zh-CN" b="1" dirty="0" smtClean="0">
                <a:latin typeface="Times New Roman" panose="02020603050405020304" pitchFamily="18" charset="0"/>
                <a:ea typeface="华文楷体" panose="02010600040101010101" pitchFamily="2" charset="-122"/>
                <a:cs typeface="Times New Roman" panose="02020603050405020304" pitchFamily="18" charset="0"/>
              </a:rPr>
              <a:t>characteristics</a:t>
            </a:r>
            <a:r>
              <a:rPr lang="zh-CN" altLang="en-US" b="1" dirty="0" smtClean="0">
                <a:latin typeface="Times New Roman" panose="02020603050405020304" pitchFamily="18" charset="0"/>
                <a:ea typeface="华文楷体" panose="02010600040101010101" pitchFamily="2" charset="-122"/>
                <a:cs typeface="Times New Roman" panose="02020603050405020304" pitchFamily="18" charset="0"/>
              </a:rPr>
              <a:t>（标准差），</a:t>
            </a:r>
            <a:r>
              <a:rPr lang="en-US" altLang="zh-CN" b="1" dirty="0" smtClean="0">
                <a:latin typeface="Times New Roman" panose="02020603050405020304" pitchFamily="18" charset="0"/>
                <a:ea typeface="华文楷体" panose="02010600040101010101" pitchFamily="2" charset="-122"/>
                <a:cs typeface="Times New Roman" panose="02020603050405020304" pitchFamily="18" charset="0"/>
              </a:rPr>
              <a:t>dose</a:t>
            </a:r>
            <a:r>
              <a:rPr lang="zh-CN" altLang="en-US" b="1" dirty="0" smtClean="0">
                <a:latin typeface="Times New Roman" panose="02020603050405020304" pitchFamily="18" charset="0"/>
                <a:ea typeface="华文楷体" panose="02010600040101010101" pitchFamily="2" charset="-122"/>
                <a:cs typeface="Times New Roman" panose="02020603050405020304" pitchFamily="18" charset="0"/>
              </a:rPr>
              <a:t>（离子注入浓度）</a:t>
            </a:r>
            <a:r>
              <a:rPr lang="en-US" altLang="zh-CN" b="1" dirty="0" smtClean="0">
                <a:latin typeface="Times New Roman" panose="02020603050405020304" pitchFamily="18" charset="0"/>
                <a:ea typeface="华文楷体" panose="02010600040101010101" pitchFamily="2" charset="-122"/>
                <a:cs typeface="Times New Roman" panose="02020603050405020304" pitchFamily="18" charset="0"/>
              </a:rPr>
              <a:t> </a:t>
            </a:r>
            <a:endParaRPr lang="zh-CN"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4653136"/>
            <a:ext cx="9141550" cy="1440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013379"/>
            <a:ext cx="9144000" cy="461665"/>
          </a:xfrm>
          <a:prstGeom prst="rect">
            <a:avLst/>
          </a:prstGeom>
        </p:spPr>
        <p:txBody>
          <a:bodyPr wrap="squar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）误差</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函数分布，误差函数分布和高斯分布的参数定义是</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一致。</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916832"/>
            <a:ext cx="9180823" cy="1368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4005064"/>
            <a:ext cx="485775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013379"/>
            <a:ext cx="9144000" cy="1938992"/>
          </a:xfrm>
          <a:prstGeom prst="rect">
            <a:avLst/>
          </a:prstGeom>
        </p:spPr>
        <p:txBody>
          <a:bodyPr wrap="square">
            <a:spAutoFit/>
          </a:bodyPr>
          <a:lstStyle/>
          <a:p>
            <a:pPr marL="342900" indent="-342900">
              <a:buFont typeface="Wingdings" panose="05000000000000000000" pitchFamily="2" charset="2"/>
              <a:buChar char="Ø"/>
            </a:pP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网格，区域，掺杂分布等定义后，就可以定义器件仿真时的电极参数、材料特性和物理 </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模型</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了，数值计算方法定义好后再施加电压、电流、光照、磁场就能得到相应的器件特性。 </a:t>
            </a:r>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以下分别介绍电极接触特性，材料特性，界面特性和物理模型。</a:t>
            </a:r>
          </a:p>
        </p:txBody>
      </p:sp>
      <p:sp>
        <p:nvSpPr>
          <p:cNvPr id="4" name="矩形 3"/>
          <p:cNvSpPr/>
          <p:nvPr/>
        </p:nvSpPr>
        <p:spPr>
          <a:xfrm>
            <a:off x="0" y="3284984"/>
            <a:ext cx="9140755" cy="1200329"/>
          </a:xfrm>
          <a:prstGeom prst="rect">
            <a:avLst/>
          </a:prstGeom>
        </p:spPr>
        <p:txBody>
          <a:bodyPr wrap="square">
            <a:spAutoFit/>
          </a:bodyPr>
          <a:lstStyle/>
          <a:p>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、电极</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的接触状态由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contact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定义，参数有功函数参数，边界情形，寄生参数，电极</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连接参数</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，浮栅电容参数等等。参数很多，接下来从一些经常用到的接触类型的示例来看 </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contact</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的</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语法。</a:t>
            </a:r>
          </a:p>
        </p:txBody>
      </p:sp>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162" y="1988840"/>
            <a:ext cx="6181725"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455" y="2934667"/>
            <a:ext cx="5314950" cy="628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198" y="4176610"/>
            <a:ext cx="8448675" cy="561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13044" y="1124744"/>
            <a:ext cx="4432624" cy="461665"/>
          </a:xfrm>
          <a:prstGeom prst="rect">
            <a:avLst/>
          </a:prstGeom>
        </p:spPr>
        <p:txBody>
          <a:bodyPr wrap="non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Gate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的功函数和肖特基接触</a:t>
            </a:r>
          </a:p>
        </p:txBody>
      </p:sp>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2373" y="1124744"/>
            <a:ext cx="3108543" cy="461665"/>
          </a:xfrm>
          <a:prstGeom prst="rect">
            <a:avLst/>
          </a:prstGeom>
        </p:spPr>
        <p:txBody>
          <a:bodyPr wrap="non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、设置电流边界状态</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772816"/>
            <a:ext cx="5019675" cy="57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0" y="2708920"/>
            <a:ext cx="4071949" cy="461665"/>
          </a:xfrm>
          <a:prstGeom prst="rect">
            <a:avLst/>
          </a:prstGeom>
        </p:spPr>
        <p:txBody>
          <a:bodyPr wrap="non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、定义外电阻、电容或电导 </a:t>
            </a: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22" y="3429000"/>
            <a:ext cx="9156373" cy="4654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8722" y="4365104"/>
            <a:ext cx="1877437" cy="461665"/>
          </a:xfrm>
          <a:prstGeom prst="rect">
            <a:avLst/>
          </a:prstGeom>
        </p:spPr>
        <p:txBody>
          <a:bodyPr wrap="non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、浮动接触</a:t>
            </a:r>
          </a:p>
        </p:txBody>
      </p:sp>
      <p:sp>
        <p:nvSpPr>
          <p:cNvPr id="7" name="矩形 6"/>
          <p:cNvSpPr/>
          <p:nvPr/>
        </p:nvSpPr>
        <p:spPr>
          <a:xfrm>
            <a:off x="11156" y="5013176"/>
            <a:ext cx="2185214" cy="461665"/>
          </a:xfrm>
          <a:prstGeom prst="rect">
            <a:avLst/>
          </a:prstGeom>
        </p:spPr>
        <p:txBody>
          <a:bodyPr wrap="non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5</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、电极间短接</a:t>
            </a:r>
          </a:p>
        </p:txBody>
      </p:sp>
      <p:sp>
        <p:nvSpPr>
          <p:cNvPr id="8" name="矩形 7"/>
          <p:cNvSpPr/>
          <p:nvPr/>
        </p:nvSpPr>
        <p:spPr>
          <a:xfrm>
            <a:off x="-17850" y="5733256"/>
            <a:ext cx="1877437" cy="461665"/>
          </a:xfrm>
          <a:prstGeom prst="rect">
            <a:avLst/>
          </a:prstGeom>
        </p:spPr>
        <p:txBody>
          <a:bodyPr wrap="non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6</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、开路接触</a:t>
            </a:r>
          </a:p>
        </p:txBody>
      </p:sp>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4744"/>
            <a:ext cx="5910592" cy="461665"/>
          </a:xfrm>
          <a:prstGeom prst="rect">
            <a:avLst/>
          </a:prstGeom>
        </p:spPr>
        <p:txBody>
          <a:bodyPr wrap="non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、材料的特性是用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material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状态设置的。</a:t>
            </a:r>
          </a:p>
        </p:txBody>
      </p:sp>
      <p:sp>
        <p:nvSpPr>
          <p:cNvPr id="4" name="矩形 3"/>
          <p:cNvSpPr/>
          <p:nvPr/>
        </p:nvSpPr>
        <p:spPr>
          <a:xfrm>
            <a:off x="0" y="1772816"/>
            <a:ext cx="9144000" cy="830997"/>
          </a:xfrm>
          <a:prstGeom prst="rect">
            <a:avLst/>
          </a:prstGeom>
        </p:spPr>
        <p:txBody>
          <a:bodyPr wrap="squar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Material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参数可以分成几大类，在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ATLAS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手册的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physics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部分有详细说明。</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8" y="2852936"/>
            <a:ext cx="4861448" cy="1722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0110" y="2492896"/>
            <a:ext cx="4439022" cy="3122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6752"/>
            <a:ext cx="6972300" cy="193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9" y="3645024"/>
            <a:ext cx="6985000" cy="1936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327626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54806" y="1052736"/>
            <a:ext cx="9198806" cy="1200329"/>
          </a:xfrm>
          <a:prstGeom prst="rect">
            <a:avLst/>
          </a:prstGeom>
        </p:spPr>
        <p:txBody>
          <a:bodyPr wrap="squar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Interface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状态用于定义界面电荷密度和表面复合速度。界面的类型默认是半导体</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绝缘 </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体</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界面，也可以是半导体和半导体之间的区域或半导体的边界区域</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2708920"/>
            <a:ext cx="6096000" cy="561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6" y="3573016"/>
            <a:ext cx="9144000" cy="5233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371" y="4509120"/>
            <a:ext cx="7893050" cy="163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84429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35294" y="1024370"/>
            <a:ext cx="9179294" cy="1200329"/>
          </a:xfrm>
          <a:prstGeom prst="rect">
            <a:avLst/>
          </a:prstGeom>
        </p:spPr>
        <p:txBody>
          <a:bodyPr wrap="squar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、物理模型由状态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models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impact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指定。这些物理模型可以分成五组：</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迁移率模型</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，复合模型，载流子统计模型，碰撞离化模型和隧道模型</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手册第三章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Physics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部分有详细的说明</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146" y="2564904"/>
            <a:ext cx="7396310" cy="34886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844294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3" y="1196752"/>
            <a:ext cx="8189221" cy="2520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844294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16050"/>
            <a:ext cx="9182100" cy="4025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844294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025829"/>
            <a:ext cx="9144000" cy="1200329"/>
          </a:xfrm>
          <a:prstGeom prst="rect">
            <a:avLst/>
          </a:prstGeom>
        </p:spPr>
        <p:txBody>
          <a:bodyPr wrap="square">
            <a:sp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碰撞离</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化（</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impact ionization </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）是</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指半导体中的自由载流子在强电场作用下加速到具有足够高的</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能量，</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从而产生新的电子－空穴对的过程。</a:t>
            </a:r>
          </a:p>
        </p:txBody>
      </p:sp>
      <p:grpSp>
        <p:nvGrpSpPr>
          <p:cNvPr id="6" name="Group 18">
            <a:extLst>
              <a:ext uri="{FF2B5EF4-FFF2-40B4-BE49-F238E27FC236}">
                <a16:creationId xmlns:a16="http://schemas.microsoft.com/office/drawing/2014/main" id="{3C498E34-2943-4754-A6A2-CD46FD8A9942}"/>
              </a:ext>
            </a:extLst>
          </p:cNvPr>
          <p:cNvGrpSpPr/>
          <p:nvPr/>
        </p:nvGrpSpPr>
        <p:grpSpPr>
          <a:xfrm>
            <a:off x="1764383" y="2226022"/>
            <a:ext cx="5254625" cy="4114800"/>
            <a:chOff x="2156" y="1107"/>
            <a:chExt cx="3310" cy="2592"/>
          </a:xfrm>
        </p:grpSpPr>
        <p:pic>
          <p:nvPicPr>
            <p:cNvPr id="7" name="Picture 13" descr="8">
              <a:extLst>
                <a:ext uri="{FF2B5EF4-FFF2-40B4-BE49-F238E27FC236}">
                  <a16:creationId xmlns:a16="http://schemas.microsoft.com/office/drawing/2014/main" id="{29C2552D-CA06-4372-A3D5-9072084A4719}"/>
                </a:ext>
              </a:extLst>
            </p:cNvPr>
            <p:cNvPicPr>
              <a:picLocks noChangeAspect="1"/>
            </p:cNvPicPr>
            <p:nvPr/>
          </p:nvPicPr>
          <p:blipFill>
            <a:blip r:embed="rId2">
              <a:lum bright="-35999" contrast="60000"/>
            </a:blip>
            <a:stretch>
              <a:fillRect/>
            </a:stretch>
          </p:blipFill>
          <p:spPr>
            <a:xfrm>
              <a:off x="2156" y="1547"/>
              <a:ext cx="3310" cy="2152"/>
            </a:xfrm>
            <a:prstGeom prst="rect">
              <a:avLst/>
            </a:prstGeom>
            <a:noFill/>
            <a:ln w="9525">
              <a:noFill/>
            </a:ln>
          </p:spPr>
        </p:pic>
        <p:sp>
          <p:nvSpPr>
            <p:cNvPr id="8" name="Rectangle 14">
              <a:extLst>
                <a:ext uri="{FF2B5EF4-FFF2-40B4-BE49-F238E27FC236}">
                  <a16:creationId xmlns:a16="http://schemas.microsoft.com/office/drawing/2014/main" id="{2800DAF8-F841-4EC5-89A4-5FE5D52EC8FE}"/>
                </a:ext>
              </a:extLst>
            </p:cNvPr>
            <p:cNvSpPr/>
            <p:nvPr/>
          </p:nvSpPr>
          <p:spPr>
            <a:xfrm>
              <a:off x="3063" y="1107"/>
              <a:ext cx="1270" cy="291"/>
            </a:xfrm>
            <a:prstGeom prst="rect">
              <a:avLst/>
            </a:prstGeom>
            <a:noFill/>
            <a:ln w="9525">
              <a:noFill/>
            </a:ln>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雪崩击穿</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spTree>
    <p:extLst>
      <p:ext uri="{BB962C8B-B14F-4D97-AF65-F5344CB8AC3E}">
        <p14:creationId xmlns:p14="http://schemas.microsoft.com/office/powerpoint/2010/main" val="267114337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24744"/>
            <a:ext cx="2696547" cy="4444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628801"/>
            <a:ext cx="4392488" cy="19993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54" y="4293096"/>
            <a:ext cx="6726764" cy="15842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844294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1025829"/>
            <a:ext cx="9144000" cy="461665"/>
          </a:xfrm>
          <a:prstGeom prst="rect">
            <a:avLst/>
          </a:prstGeom>
        </p:spPr>
        <p:txBody>
          <a:bodyPr wrap="squar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玻尔兹曼统计与费米统计</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258065998"/>
              </p:ext>
            </p:extLst>
          </p:nvPr>
        </p:nvGraphicFramePr>
        <p:xfrm>
          <a:off x="2123728" y="1844824"/>
          <a:ext cx="3716337" cy="1466850"/>
        </p:xfrm>
        <a:graphic>
          <a:graphicData uri="http://schemas.openxmlformats.org/presentationml/2006/ole">
            <mc:AlternateContent xmlns:mc="http://schemas.openxmlformats.org/markup-compatibility/2006">
              <mc:Choice xmlns:v="urn:schemas-microsoft-com:vml" Requires="v">
                <p:oleObj spid="_x0000_s23567" name="Equation" r:id="rId3" imgW="1384200" imgH="545760" progId="Equation.DSMT4">
                  <p:embed/>
                </p:oleObj>
              </mc:Choice>
              <mc:Fallback>
                <p:oleObj name="Equation" r:id="rId3" imgW="1384200" imgH="54576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728" y="1844824"/>
                        <a:ext cx="3716337"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227433601"/>
              </p:ext>
            </p:extLst>
          </p:nvPr>
        </p:nvGraphicFramePr>
        <p:xfrm>
          <a:off x="2339752" y="4869160"/>
          <a:ext cx="3444875" cy="989012"/>
        </p:xfrm>
        <a:graphic>
          <a:graphicData uri="http://schemas.openxmlformats.org/presentationml/2006/ole">
            <mc:AlternateContent xmlns:mc="http://schemas.openxmlformats.org/markup-compatibility/2006">
              <mc:Choice xmlns:v="urn:schemas-microsoft-com:vml" Requires="v">
                <p:oleObj spid="_x0000_s23568" name="Equation" r:id="rId5" imgW="1282680" imgH="368280" progId="Equation.DSMT4">
                  <p:embed/>
                </p:oleObj>
              </mc:Choice>
              <mc:Fallback>
                <p:oleObj name="Equation" r:id="rId5" imgW="1282680" imgH="368280" progId="Equation.DSMT4">
                  <p:embed/>
                  <p:pic>
                    <p:nvPicPr>
                      <p:cNvPr id="0" name="对象 1"/>
                      <p:cNvPicPr>
                        <a:picLocks noChangeAspect="1" noChangeArrowheads="1"/>
                      </p:cNvPicPr>
                      <p:nvPr/>
                    </p:nvPicPr>
                    <p:blipFill>
                      <a:blip r:embed="rId6"/>
                      <a:srcRect/>
                      <a:stretch>
                        <a:fillRect/>
                      </a:stretch>
                    </p:blipFill>
                    <p:spPr bwMode="auto">
                      <a:xfrm>
                        <a:off x="2339752" y="4869160"/>
                        <a:ext cx="3444875"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下箭头 6"/>
          <p:cNvSpPr/>
          <p:nvPr/>
        </p:nvSpPr>
        <p:spPr>
          <a:xfrm>
            <a:off x="3779912" y="3501008"/>
            <a:ext cx="720650" cy="1224136"/>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603034" y="3789040"/>
            <a:ext cx="3627512" cy="461665"/>
          </a:xfrm>
          <a:prstGeom prst="rect">
            <a:avLst/>
          </a:prstGeom>
        </p:spPr>
        <p:txBody>
          <a:bodyPr wrap="squar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当</a:t>
            </a:r>
            <a:r>
              <a:rPr lang="en-US" altLang="zh-CN" sz="2400" b="1" i="1" dirty="0" smtClean="0">
                <a:latin typeface="Times New Roman" panose="02020603050405020304" pitchFamily="18" charset="0"/>
                <a:ea typeface="华文楷体" panose="02010600040101010101" pitchFamily="2" charset="-122"/>
                <a:cs typeface="Times New Roman" panose="02020603050405020304" pitchFamily="18" charset="0"/>
              </a:rPr>
              <a:t>E</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i="1" dirty="0" smtClean="0">
                <a:latin typeface="Times New Roman" panose="02020603050405020304" pitchFamily="18" charset="0"/>
                <a:ea typeface="华文楷体" panose="02010600040101010101" pitchFamily="2" charset="-122"/>
                <a:cs typeface="Times New Roman" panose="02020603050405020304" pitchFamily="18" charset="0"/>
              </a:rPr>
              <a:t>E</a:t>
            </a:r>
            <a:r>
              <a:rPr lang="en-US" altLang="zh-CN" sz="2400" b="1" i="1" baseline="-25000" dirty="0" smtClean="0">
                <a:latin typeface="Times New Roman" panose="02020603050405020304" pitchFamily="18" charset="0"/>
                <a:ea typeface="华文楷体" panose="02010600040101010101" pitchFamily="2" charset="-122"/>
                <a:cs typeface="Times New Roman" panose="02020603050405020304" pitchFamily="18" charset="0"/>
              </a:rPr>
              <a:t>F </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&gt;&gt; </a:t>
            </a:r>
            <a:r>
              <a:rPr lang="en-US" altLang="zh-CN" sz="2400" b="1" i="1" dirty="0" smtClean="0">
                <a:latin typeface="Times New Roman" panose="02020603050405020304" pitchFamily="18" charset="0"/>
                <a:ea typeface="华文楷体" panose="02010600040101010101" pitchFamily="2" charset="-122"/>
                <a:cs typeface="Times New Roman" panose="02020603050405020304" pitchFamily="18" charset="0"/>
              </a:rPr>
              <a:t>k</a:t>
            </a:r>
            <a:r>
              <a:rPr lang="en-US" altLang="zh-CN" sz="2400" b="1" i="1" baseline="-25000" dirty="0" smtClean="0">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T</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80970091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9270" y="1124744"/>
            <a:ext cx="9163270" cy="830997"/>
          </a:xfrm>
          <a:prstGeom prst="rect">
            <a:avLst/>
          </a:prstGeom>
        </p:spPr>
        <p:txBody>
          <a:bodyPr wrap="square">
            <a:sp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针对特定的技术，有简便的方法配置相应模型。这些技术是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MOS</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BIPOLAR</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PROGRAM </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ERASE</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7" y="2304636"/>
            <a:ext cx="6912768" cy="10684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4664" y="4077072"/>
            <a:ext cx="9139335" cy="1569660"/>
          </a:xfrm>
          <a:prstGeom prst="rect">
            <a:avLst/>
          </a:prstGeom>
        </p:spPr>
        <p:txBody>
          <a:bodyPr wrap="squar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模型参数</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为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MOS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时配置的基本模型有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cvt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srh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fermidirac</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为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BIPOLAR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时配置的基本模型有 </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conmob</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fldmob</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consrh</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auger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bgn</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p>
        </p:txBody>
      </p:sp>
    </p:spTree>
    <p:extLst>
      <p:ext uri="{BB962C8B-B14F-4D97-AF65-F5344CB8AC3E}">
        <p14:creationId xmlns:p14="http://schemas.microsoft.com/office/powerpoint/2010/main" val="37184429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23326" y="1124744"/>
            <a:ext cx="9120674" cy="830997"/>
          </a:xfrm>
          <a:prstGeom prst="rect">
            <a:avLst/>
          </a:prstGeom>
        </p:spPr>
        <p:txBody>
          <a:bodyPr wrap="square">
            <a:sp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物理模型的指定也可以是对特定材料，这样在异质结器件仿真或其他的多半导体类型</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器件</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的仿真时给参数设置提供了很大灵活性。</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63" y="2276872"/>
            <a:ext cx="9157263" cy="11479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844294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31238" y="1036620"/>
            <a:ext cx="9175238" cy="1200329"/>
          </a:xfrm>
          <a:prstGeom prst="rect">
            <a:avLst/>
          </a:prstGeom>
        </p:spPr>
        <p:txBody>
          <a:bodyPr wrap="square">
            <a:spAutoFit/>
          </a:bodyPr>
          <a:lstStyle/>
          <a:p>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5</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ATLAS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仿真半导体器件是基于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1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到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6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个耦合的非线性偏 微分方程。</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ATLAS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将在器件结构的网格点处对这些方程采用数值计算来获取器件的特性。</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36912"/>
            <a:ext cx="9144000" cy="10960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077072"/>
            <a:ext cx="9144000" cy="14316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844294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12776"/>
            <a:ext cx="9144000" cy="1092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205" y="2855167"/>
            <a:ext cx="1584176" cy="3053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61" y="3284984"/>
            <a:ext cx="9144000" cy="1104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8293" y="4630419"/>
            <a:ext cx="4215011" cy="4608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9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8293" y="5301208"/>
            <a:ext cx="4215011" cy="4856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9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8293" y="6093296"/>
            <a:ext cx="4215011" cy="4754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844294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4744"/>
            <a:ext cx="2492990" cy="461665"/>
          </a:xfrm>
          <a:prstGeom prst="rect">
            <a:avLst/>
          </a:prstGeom>
        </p:spPr>
        <p:txBody>
          <a:bodyPr wrap="non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6</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、获取器件特性</a:t>
            </a:r>
          </a:p>
        </p:txBody>
      </p:sp>
      <p:sp>
        <p:nvSpPr>
          <p:cNvPr id="4" name="矩形 3"/>
          <p:cNvSpPr/>
          <p:nvPr/>
        </p:nvSpPr>
        <p:spPr>
          <a:xfrm>
            <a:off x="0" y="1772816"/>
            <a:ext cx="9144000" cy="2246769"/>
          </a:xfrm>
          <a:prstGeom prst="rect">
            <a:avLst/>
          </a:prstGeom>
        </p:spPr>
        <p:txBody>
          <a:bodyPr wrap="square">
            <a:spAutoFit/>
          </a:bodyPr>
          <a:lstStyle/>
          <a:p>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在仿真开始时电极都是零偏的，之后才会按照设置的方式将电流或电压步进式地加上 </a:t>
            </a:r>
            <a:r>
              <a:rPr lang="zh-CN" altLang="en-US" sz="2000" b="1" dirty="0" smtClean="0">
                <a:latin typeface="Times New Roman" panose="02020603050405020304" pitchFamily="18" charset="0"/>
                <a:ea typeface="华文楷体" panose="02010600040101010101" pitchFamily="2" charset="-122"/>
                <a:cs typeface="Times New Roman" panose="02020603050405020304" pitchFamily="18" charset="0"/>
              </a:rPr>
              <a:t>去</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。步进的步长是需要考虑的，步长太大容易不收敛（由于计算方法中的初始猜测策略）。 </a:t>
            </a:r>
            <a:endParaRPr lang="en-US" altLang="zh-CN" sz="2000" b="1" dirty="0" smtClean="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0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000" b="1" dirty="0" smtClean="0">
                <a:latin typeface="Times New Roman" panose="02020603050405020304" pitchFamily="18" charset="0"/>
                <a:ea typeface="华文楷体" panose="02010600040101010101" pitchFamily="2" charset="-122"/>
                <a:cs typeface="Times New Roman" panose="02020603050405020304" pitchFamily="18" charset="0"/>
              </a:rPr>
              <a:t>电压</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和电流的施加使用 </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solve </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状态，</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log </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save </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是将计算得到结果分别保存为日志文件和结 </a:t>
            </a:r>
            <a:r>
              <a:rPr lang="zh-CN" altLang="en-US" sz="2000" b="1" dirty="0" smtClean="0">
                <a:latin typeface="Times New Roman" panose="02020603050405020304" pitchFamily="18" charset="0"/>
                <a:ea typeface="华文楷体" panose="02010600040101010101" pitchFamily="2" charset="-122"/>
                <a:cs typeface="Times New Roman" panose="02020603050405020304" pitchFamily="18" charset="0"/>
              </a:rPr>
              <a:t>构</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文件。</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Log </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语句需要在 </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solve </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之前，这样 </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solve </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的数据才能得到保存。</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6495" y="4437112"/>
            <a:ext cx="5982047" cy="14350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844294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4604" y="1196752"/>
            <a:ext cx="1415772" cy="461665"/>
          </a:xfrm>
          <a:prstGeom prst="rect">
            <a:avLst/>
          </a:prstGeom>
        </p:spPr>
        <p:txBody>
          <a:bodyPr wrap="non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直流</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特性</a:t>
            </a:r>
          </a:p>
        </p:txBody>
      </p:sp>
      <p:sp>
        <p:nvSpPr>
          <p:cNvPr id="6" name="矩形 5"/>
          <p:cNvSpPr/>
          <p:nvPr/>
        </p:nvSpPr>
        <p:spPr>
          <a:xfrm>
            <a:off x="0" y="1916832"/>
            <a:ext cx="9120674" cy="461665"/>
          </a:xfrm>
          <a:prstGeom prst="rect">
            <a:avLst/>
          </a:prstGeom>
        </p:spPr>
        <p:txBody>
          <a:bodyPr wrap="squar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利用一个</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NMOS</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器件例子</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636912"/>
            <a:ext cx="6048375" cy="2314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844294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70885"/>
            <a:ext cx="9144000" cy="45869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844294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139411"/>
            <a:ext cx="6181725" cy="1000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2149474"/>
            <a:ext cx="4608512" cy="46387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844294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49" y="1323975"/>
            <a:ext cx="7286625" cy="421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844294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4921540"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命令语句生成结构</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4238" y="1250099"/>
            <a:ext cx="5832648" cy="55425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844294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2392</TotalTime>
  <Words>1277</Words>
  <Application>Microsoft Office PowerPoint</Application>
  <PresentationFormat>全屏显示(4:3)</PresentationFormat>
  <Paragraphs>93</Paragraphs>
  <Slides>40</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40</vt:i4>
      </vt:variant>
    </vt:vector>
  </HeadingPairs>
  <TitlesOfParts>
    <vt:vector size="49" baseType="lpstr">
      <vt:lpstr>华文楷体</vt:lpstr>
      <vt:lpstr>楷体</vt:lpstr>
      <vt:lpstr>宋体</vt:lpstr>
      <vt:lpstr>Arial</vt:lpstr>
      <vt:lpstr>Calibri</vt:lpstr>
      <vt:lpstr>Times New Roman</vt:lpstr>
      <vt:lpstr>Wingdings</vt:lpstr>
      <vt:lpstr>Office 主题​​</vt:lpstr>
      <vt:lpstr>Equation</vt:lpstr>
      <vt:lpstr>集成电路EDA技术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集成电路EDA技术</dc:title>
  <dc:creator>个人用户</dc:creator>
  <cp:lastModifiedBy>黄承斌</cp:lastModifiedBy>
  <cp:revision>47</cp:revision>
  <dcterms:created xsi:type="dcterms:W3CDTF">2020-03-08T03:27:26Z</dcterms:created>
  <dcterms:modified xsi:type="dcterms:W3CDTF">2024-02-24T14:30:56Z</dcterms:modified>
</cp:coreProperties>
</file>