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98" r:id="rId7"/>
    <p:sldId id="308" r:id="rId8"/>
    <p:sldId id="261" r:id="rId9"/>
    <p:sldId id="299" r:id="rId10"/>
    <p:sldId id="300" r:id="rId11"/>
    <p:sldId id="262" r:id="rId12"/>
    <p:sldId id="263" r:id="rId13"/>
    <p:sldId id="264" r:id="rId14"/>
    <p:sldId id="265" r:id="rId15"/>
    <p:sldId id="266" r:id="rId16"/>
    <p:sldId id="267" r:id="rId17"/>
    <p:sldId id="268" r:id="rId18"/>
    <p:sldId id="269" r:id="rId19"/>
    <p:sldId id="270" r:id="rId20"/>
    <p:sldId id="302" r:id="rId21"/>
    <p:sldId id="305" r:id="rId22"/>
    <p:sldId id="307" r:id="rId23"/>
    <p:sldId id="306" r:id="rId24"/>
    <p:sldId id="271" r:id="rId25"/>
    <p:sldId id="272" r:id="rId26"/>
    <p:sldId id="273" r:id="rId27"/>
    <p:sldId id="274" r:id="rId28"/>
    <p:sldId id="275" r:id="rId29"/>
    <p:sldId id="276" r:id="rId30"/>
    <p:sldId id="277" r:id="rId31"/>
    <p:sldId id="303" r:id="rId32"/>
    <p:sldId id="304" r:id="rId33"/>
    <p:sldId id="278" r:id="rId34"/>
    <p:sldId id="279" r:id="rId35"/>
    <p:sldId id="280" r:id="rId36"/>
    <p:sldId id="281" r:id="rId37"/>
    <p:sldId id="283" r:id="rId38"/>
    <p:sldId id="282"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2632276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335345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28436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3430447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26044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306372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3317048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199314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762332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2519155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8E50CE2-A9DD-4EED-AE53-4FAD9EB1BDE9}"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3331825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E50CE2-A9DD-4EED-AE53-4FAD9EB1BDE9}" type="datetimeFigureOut">
              <a:rPr lang="zh-CN" altLang="en-US" smtClean="0"/>
              <a:t>2021/3/1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3A5520-AD58-4877-8862-F8C3B5F7DA63}" type="slidenum">
              <a:rPr lang="zh-CN" altLang="en-US" smtClean="0"/>
              <a:t>‹#›</a:t>
            </a:fld>
            <a:endParaRPr lang="zh-CN" altLang="en-US"/>
          </a:p>
        </p:txBody>
      </p:sp>
    </p:spTree>
    <p:extLst>
      <p:ext uri="{BB962C8B-B14F-4D97-AF65-F5344CB8AC3E}">
        <p14:creationId xmlns:p14="http://schemas.microsoft.com/office/powerpoint/2010/main" val="412242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ethw.org/Ronald_A._Rohrer"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sz="40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40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0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000" b="1" dirty="0" smtClean="0">
                <a:latin typeface="Times New Roman" panose="02020603050405020304" pitchFamily="18" charset="0"/>
                <a:ea typeface="楷体" panose="02010609060101010101" pitchFamily="49" charset="-122"/>
                <a:cs typeface="Times New Roman" panose="02020603050405020304" pitchFamily="18" charset="0"/>
              </a:rPr>
              <a:t>简介</a:t>
            </a:r>
            <a:endParaRPr lang="zh-CN" altLang="en-US" sz="40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27375572"/>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258436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什么是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TCAD</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7911" y="1268760"/>
            <a:ext cx="6597127"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TCAD</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Technology  Computer  Aided Design</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7911" y="2060848"/>
            <a:ext cx="9193542" cy="1938992"/>
          </a:xfrm>
          <a:prstGeom prst="rect">
            <a:avLst/>
          </a:prstGeom>
        </p:spPr>
        <p:txBody>
          <a:bodyPr wrap="non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半导体工艺模拟及器件模拟工具</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实质就是解基本的物理偏微分方程，如泊松方程、玻尔兹曼方程</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descr="https://bkimg.cdn.bcebos.com/pic/a8773912b31bb05109d99f3e367adab44aede023?x-bce-process=image/resize,m_lfit,w_268,limit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7613" y="3957042"/>
            <a:ext cx="4624504" cy="12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82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911" y="1268760"/>
            <a:ext cx="9136089" cy="4154984"/>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TCAD</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应用的意义：</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）实际流片前，根据具体需要对器件进行设计与仿真，对实际生产有良好的指引。</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）通过特定模型或者程序对器件或者电路特性进行优化。</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）利用仿真理解或预测器件的工作特性与原理</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总而言之，就是在不实际制作出器件之前，可以通过仿真预计工艺制备中有可能存在的不足及器件结构原有的设计缺陷。</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Box 5"/>
          <p:cNvSpPr txBox="1"/>
          <p:nvPr/>
        </p:nvSpPr>
        <p:spPr>
          <a:xfrm>
            <a:off x="142844" y="428604"/>
            <a:ext cx="258436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什么是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TCAD</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0239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4482" y="1013379"/>
            <a:ext cx="9136089" cy="2616101"/>
          </a:xfrm>
          <a:prstGeom prst="rect">
            <a:avLst/>
          </a:prstGeom>
        </p:spPr>
        <p:txBody>
          <a:bodyPr wrap="squar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集成电路领域</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）电子电路与设计软件</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SPICE</a:t>
            </a: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Simulation Program with Integrated Circuit Emphasis</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以</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图形方式输入，自动进行电路检查，生成图表，模拟和计算电路</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 name="Picture 2" descr="https://bkimg.cdn.bcebos.com/pic/fcfaaf51f3deb48f03e560a7ff1f3a292df5783f?x-bce-process=image/watermark,g_7,image_d2F0ZXIvYmFpa2UxODA=,xp_5,yp_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2815" y="3226363"/>
            <a:ext cx="3408643" cy="340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81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6" name="Picture 2" descr="https://img-blog.csdnimg.cn/20190430155536641.jpg?x-oss-process=image/watermark,type_ZmFuZ3poZW5naGVpdGk,shadow_10,text_aHR0cHM6Ly9ibG9nLmNzZG4ubmV0L3FxXzI1MTQ0Mzkx,size_16,color_FFFFFF,t_7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443" y="1700808"/>
            <a:ext cx="9019949" cy="4896544"/>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0" y="1124744"/>
            <a:ext cx="2157963"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LtSpice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界面</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4047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6" name="Picture 2" descr="https://th.bing.com/th/id/R48ab9a4b36e27bfd6ec8cfdbc3a8a825?rik=ilD9tZwgIrvenQ&amp;riu=http%3a%2f%2fethw.org%2fw%2fimages%2fthumb%2f9%2f98%2fRon_Rohrer_2289.jpg%2f300px-Ron_Rohrer_2289.jpg&amp;ehk=V13a58XLPXMZFsGIcepwQXnk5AhU%2fgXBN%2bitqoHguyY%3d&amp;risl=&amp;pid=ImgRa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1212078"/>
            <a:ext cx="2857500" cy="409575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3024972" y="5661248"/>
            <a:ext cx="2351156" cy="461665"/>
          </a:xfrm>
          <a:prstGeom prst="rect">
            <a:avLst/>
          </a:prstGeom>
        </p:spPr>
        <p:txBody>
          <a:bodyPr wrap="none">
            <a:spAutoFit/>
          </a:bodyPr>
          <a:lstStyle/>
          <a:p>
            <a:r>
              <a:rPr lang="en-US" altLang="zh-CN" sz="2400" b="1" dirty="0">
                <a:hlinkClick r:id="rId3" tooltip="查看页面"/>
              </a:rPr>
              <a:t>Ronald A. Rohrer</a:t>
            </a:r>
            <a:endParaRPr lang="zh-CN" altLang="en-US" sz="2400" dirty="0"/>
          </a:p>
        </p:txBody>
      </p:sp>
    </p:spTree>
    <p:extLst>
      <p:ext uri="{BB962C8B-B14F-4D97-AF65-F5344CB8AC3E}">
        <p14:creationId xmlns:p14="http://schemas.microsoft.com/office/powerpoint/2010/main" val="2330807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88988" y="1340768"/>
            <a:ext cx="7814672" cy="1077218"/>
          </a:xfrm>
          <a:prstGeom prst="rect">
            <a:avLst/>
          </a:prstGeom>
        </p:spPr>
        <p:txBody>
          <a:bodyPr wrap="square">
            <a:spAutoFit/>
          </a:bodyPr>
          <a:lstStyle/>
          <a:p>
            <a:r>
              <a:rPr lang="en-US" altLang="zh-CN" sz="3200" dirty="0" smtClean="0">
                <a:latin typeface="Times New Roman" panose="02020603050405020304" pitchFamily="18" charset="0"/>
                <a:cs typeface="Times New Roman" panose="02020603050405020304" pitchFamily="18" charset="0"/>
              </a:rPr>
              <a:t>Computer </a:t>
            </a:r>
            <a:r>
              <a:rPr lang="en-US" altLang="zh-CN" sz="3200" dirty="0">
                <a:latin typeface="Times New Roman" panose="02020603050405020304" pitchFamily="18" charset="0"/>
                <a:cs typeface="Times New Roman" panose="02020603050405020304" pitchFamily="18" charset="0"/>
              </a:rPr>
              <a:t>Analysis of Nonlinear Circuits, Excluding Radiation”</a:t>
            </a:r>
            <a:endParaRPr lang="zh-CN" altLang="en-US"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88988" y="2497056"/>
            <a:ext cx="6750566" cy="584775"/>
          </a:xfrm>
          <a:prstGeom prst="rect">
            <a:avLst/>
          </a:prstGeom>
        </p:spPr>
        <p:txBody>
          <a:bodyPr wrap="none">
            <a:spAutoFit/>
          </a:bodyPr>
          <a:lstStyle/>
          <a:p>
            <a:r>
              <a:rPr lang="zh-CN" altLang="zh-CN" sz="3200" dirty="0" smtClean="0"/>
              <a:t>不</a:t>
            </a:r>
            <a:r>
              <a:rPr lang="zh-CN" altLang="zh-CN" sz="3200" dirty="0"/>
              <a:t>包括辐射的非线性电路计算机</a:t>
            </a:r>
            <a:r>
              <a:rPr lang="zh-CN" altLang="zh-CN" sz="3200" dirty="0" smtClean="0"/>
              <a:t>分析</a:t>
            </a:r>
            <a:endParaRPr lang="zh-CN" altLang="en-US" sz="3200" dirty="0"/>
          </a:p>
        </p:txBody>
      </p:sp>
      <p:sp>
        <p:nvSpPr>
          <p:cNvPr id="8" name="矩形 7"/>
          <p:cNvSpPr/>
          <p:nvPr/>
        </p:nvSpPr>
        <p:spPr>
          <a:xfrm>
            <a:off x="588988" y="4509120"/>
            <a:ext cx="7814672" cy="1077218"/>
          </a:xfrm>
          <a:prstGeom prst="rect">
            <a:avLst/>
          </a:prstGeom>
        </p:spPr>
        <p:txBody>
          <a:bodyPr wrap="square">
            <a:spAutoFit/>
          </a:bodyPr>
          <a:lstStyle/>
          <a:p>
            <a:r>
              <a:rPr lang="en-US" altLang="zh-CN" sz="3200" dirty="0">
                <a:latin typeface="Times New Roman" panose="02020603050405020304" pitchFamily="18" charset="0"/>
                <a:cs typeface="Times New Roman" panose="02020603050405020304" pitchFamily="18" charset="0"/>
              </a:rPr>
              <a:t>SPICE</a:t>
            </a:r>
            <a:r>
              <a:rPr lang="zh-CN"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Simulation Program with Integrated Circuit Emphasis</a:t>
            </a:r>
            <a:r>
              <a:rPr lang="zh-CN" altLang="zh-CN" sz="3200" dirty="0">
                <a:latin typeface="Times New Roman" panose="02020603050405020304" pitchFamily="18" charset="0"/>
                <a:cs typeface="Times New Roman" panose="02020603050405020304" pitchFamily="18" charset="0"/>
              </a:rPr>
              <a:t>）</a:t>
            </a:r>
            <a:endParaRPr lang="zh-CN" altLang="en-US" sz="3200" dirty="0">
              <a:latin typeface="Times New Roman" panose="02020603050405020304" pitchFamily="18" charset="0"/>
              <a:cs typeface="Times New Roman" panose="02020603050405020304" pitchFamily="18" charset="0"/>
            </a:endParaRPr>
          </a:p>
        </p:txBody>
      </p:sp>
      <p:sp>
        <p:nvSpPr>
          <p:cNvPr id="9" name="矩形 8"/>
          <p:cNvSpPr/>
          <p:nvPr/>
        </p:nvSpPr>
        <p:spPr>
          <a:xfrm>
            <a:off x="599265" y="5805263"/>
            <a:ext cx="5519460" cy="584775"/>
          </a:xfrm>
          <a:prstGeom prst="rect">
            <a:avLst/>
          </a:prstGeom>
        </p:spPr>
        <p:txBody>
          <a:bodyPr wrap="none">
            <a:spAutoFit/>
          </a:bodyPr>
          <a:lstStyle/>
          <a:p>
            <a:r>
              <a:rPr lang="zh-CN" altLang="en-US" sz="3200" dirty="0"/>
              <a:t>以集成电路为重点的仿真程序</a:t>
            </a:r>
            <a:endParaRPr lang="zh-CN" altLang="en-US" sz="3200" dirty="0"/>
          </a:p>
        </p:txBody>
      </p:sp>
    </p:spTree>
    <p:extLst>
      <p:ext uri="{BB962C8B-B14F-4D97-AF65-F5344CB8AC3E}">
        <p14:creationId xmlns:p14="http://schemas.microsoft.com/office/powerpoint/2010/main" val="3305708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4868" y="1124744"/>
            <a:ext cx="4781309"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胡正明教授（</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Prof</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Chenmin</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Hu</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pic>
        <p:nvPicPr>
          <p:cNvPr id="2050" name="Picture 2" descr="http://5b0988e595225.cdn.sohucs.com/images/20180625/2098dbd41aba465b9f6e56efa9a538e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1916832"/>
            <a:ext cx="2664296" cy="4014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52373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556792"/>
            <a:ext cx="6413698" cy="4168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052808" y="5738069"/>
            <a:ext cx="5043817" cy="461665"/>
          </a:xfrm>
          <a:prstGeom prst="rect">
            <a:avLst/>
          </a:prstGeom>
        </p:spPr>
        <p:txBody>
          <a:bodyPr wrap="none">
            <a:spAutoFit/>
          </a:bodyPr>
          <a:lstStyle/>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Fin Field-Effect Transistor</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FinFET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3119414" y="6319440"/>
            <a:ext cx="2762295"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鳍式</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场效应晶体管</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623814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pic1.zhimg.com/80/v2-acc7cac6503e016510a5e8f92d6b8bb0_720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705" y="1019690"/>
            <a:ext cx="5290111" cy="58383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连接符 5"/>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8159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70" y="1124744"/>
            <a:ext cx="9007564" cy="4680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0904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4472" y="1013379"/>
            <a:ext cx="9144000" cy="1200329"/>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Multisim</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系列</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具有更加形象直观的</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人机交互界</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特别是其仪器仪表库中的各仪器仪表与操作真实实验中的实际仪器仪表完全没有两样。</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0" name="Picture 2" descr="https://timgsa.baidu.com/timg?image&amp;quality=80&amp;size=b9999_10000&amp;sec=1582780088761&amp;di=b8a1cc9a12bfa83a1d80ea9edf1a24d8&amp;imgtype=0&amp;src=http%3A%2F%2Fimg.qy6.com%2Fnew4%2Fmetronhk%2F143408416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852936"/>
            <a:ext cx="6785369"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22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6" name="Picture 2" descr="https://bkimg.cdn.bcebos.com/pic/b812c8fcc3cec3fd72f5af56d688d43f869427cd?x-bce-process=image/watermark,g_7,image_d2F0ZXIvYmFpa2UxNTA=,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516405"/>
            <a:ext cx="7122127" cy="53415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0" y="1027780"/>
            <a:ext cx="2345514"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Multisim</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界面</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4991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descr="https://bkimg.cdn.bcebos.com/pic/91ef76c6a7efce1bdaa1bbb4af51f3deb58f65c1?x-bce-process=image/watermark,g_7,image_d2F0ZXIvYmFpa2UxNTA=,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124744"/>
            <a:ext cx="8760974" cy="52565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828173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119" y="1024573"/>
            <a:ext cx="8396885" cy="5818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214149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16227" y="1196752"/>
            <a:ext cx="9144000" cy="1477328"/>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MATLAB</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一大特性是有众多的面向具体应用的</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工具箱</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和仿真块，包含了完整的函数集用来对</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图像</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信号处理</a:t>
            </a:r>
            <a:r>
              <a:rPr lang="zh-CN"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控制系统设计</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、神经网络等特殊应用进行分析和设计。</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MATLAB</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编程</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产生独立</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C/C++</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代码。</a:t>
            </a:r>
          </a:p>
          <a:p>
            <a:endParaRPr lang="zh-CN" altLang="en-US" dirty="0"/>
          </a:p>
        </p:txBody>
      </p:sp>
      <p:pic>
        <p:nvPicPr>
          <p:cNvPr id="3074" name="Picture 2" descr="https://ss0.bdstatic.com/70cFvHSh_Q1YnxGkpoWK1HF6hhy/it/u=270004839,1828074165&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562" y="3284984"/>
            <a:ext cx="7200000" cy="1423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310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4" y="1628800"/>
            <a:ext cx="9144000" cy="4895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0" y="1027780"/>
            <a:ext cx="2478179"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MATLAB</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界面</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5210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96752"/>
            <a:ext cx="9118724" cy="4901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73764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0" y="1032851"/>
            <a:ext cx="9144000"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蒙特卡洛</a:t>
            </a:r>
            <a:r>
              <a:rPr lang="zh-CN" altLang="en-US" sz="2400" b="1" dirty="0" smtClean="0">
                <a:latin typeface="华文楷体" panose="02010600040101010101" pitchFamily="2" charset="-122"/>
                <a:ea typeface="华文楷体" panose="02010600040101010101" pitchFamily="2" charset="-122"/>
              </a:rPr>
              <a:t>仿真原理：</a:t>
            </a:r>
            <a:endParaRPr lang="zh-CN" altLang="en-US" sz="2400" b="1" dirty="0">
              <a:latin typeface="华文楷体" panose="02010600040101010101" pitchFamily="2" charset="-122"/>
              <a:ea typeface="华文楷体" panose="02010600040101010101" pitchFamily="2" charset="-122"/>
            </a:endParaRPr>
          </a:p>
        </p:txBody>
      </p:sp>
      <p:pic>
        <p:nvPicPr>
          <p:cNvPr id="1026" name="Picture 2" descr="http://www.ruanyifeng.com/blogimg/asset/2015/bg20150726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15" y="1757796"/>
            <a:ext cx="4762500" cy="3581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ruanyifeng.com/blogimg/asset/2015/bg20150726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79" y="1880964"/>
            <a:ext cx="3328407" cy="33350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ruanyifeng.com/blogimg/asset/2015/bg201507260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518" y="5589240"/>
            <a:ext cx="3314700" cy="781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90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340768"/>
            <a:ext cx="6048672" cy="5047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18274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3" y="1196752"/>
            <a:ext cx="4014119"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1113970"/>
            <a:ext cx="3966386" cy="5339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6874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196752"/>
            <a:ext cx="3986721"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2525" y="1132169"/>
            <a:ext cx="4115155" cy="54280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983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023974"/>
            <a:ext cx="4248472" cy="5834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64247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013379"/>
            <a:ext cx="9144000" cy="461665"/>
          </a:xfrm>
          <a:prstGeom prst="rect">
            <a:avLst/>
          </a:prstGeom>
        </p:spPr>
        <p:txBody>
          <a:bodyPr wrap="square">
            <a:spAutoFit/>
          </a:bodyPr>
          <a:lstStyle/>
          <a:p>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PCB</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设计</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软件</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(Printed Circuit Board)</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即印制线路</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板</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5"/>
          <p:cNvSpPr/>
          <p:nvPr/>
        </p:nvSpPr>
        <p:spPr>
          <a:xfrm>
            <a:off x="0" y="1556792"/>
            <a:ext cx="9142581" cy="1200329"/>
          </a:xfrm>
          <a:prstGeom prst="rect">
            <a:avLst/>
          </a:prstGeom>
        </p:spPr>
        <p:txBody>
          <a:bodyPr wrap="square">
            <a:spAutoFit/>
          </a:bodyPr>
          <a:lstStyle/>
          <a:p>
            <a:pPr marL="342900" indent="-342900">
              <a:buFont typeface="Wingdings" panose="05000000000000000000" pitchFamily="2" charset="2"/>
              <a:buChar char="Ø"/>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Protel</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CAD</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画图</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EDA</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软件，印刷电路板，具有原理图设计、</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PCB</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设计（包含</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信号完整性分析</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）、自动布线器、原理图混合信号仿真、可编程逻辑器件设计功能。</a:t>
            </a:r>
          </a:p>
        </p:txBody>
      </p:sp>
      <p:pic>
        <p:nvPicPr>
          <p:cNvPr id="7172" name="Picture 4" descr="https://ss1.bdstatic.com/70cFuXSh_Q1YnxGkpoWK1HF6hhy/it/u=610524869,1364199132&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062" y="3212976"/>
            <a:ext cx="47625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1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098" name="Picture 2" descr="https://bkimg.cdn.bcebos.com/pic/203fb80e7bec54e7031368d4bd389b504ec26a78?x-bce-process=image/watermark,g_7,image_d2F0ZXIvYmFpa2UxMTY=,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916832"/>
            <a:ext cx="6240793" cy="4162609"/>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0" y="1196752"/>
            <a:ext cx="9144000"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smtClean="0">
                <a:latin typeface="华文楷体" panose="02010600040101010101" pitchFamily="2" charset="-122"/>
                <a:ea typeface="华文楷体" panose="02010600040101010101" pitchFamily="2" charset="-122"/>
              </a:rPr>
              <a:t>印刷电路板：</a:t>
            </a:r>
            <a:endParaRPr lang="zh-CN" altLang="en-US" sz="24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4634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2" name="Picture 2" descr="http://file.elecfans.com/web1/M00/46/1F/pIYBAFqTfvCAFVQmAAhCI2N41xU53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992" y="1567953"/>
            <a:ext cx="7146749" cy="529004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0" y="1106288"/>
            <a:ext cx="9144000" cy="461665"/>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华文楷体" panose="02010600040101010101" pitchFamily="2" charset="-122"/>
                <a:ea typeface="华文楷体" panose="02010600040101010101" pitchFamily="2" charset="-122"/>
              </a:rPr>
              <a:t>PROTEL</a:t>
            </a:r>
            <a:r>
              <a:rPr lang="zh-CN" altLang="en-US" sz="2400" b="1" dirty="0" smtClean="0">
                <a:latin typeface="华文楷体" panose="02010600040101010101" pitchFamily="2" charset="-122"/>
                <a:ea typeface="华文楷体" panose="02010600040101010101" pitchFamily="2" charset="-122"/>
              </a:rPr>
              <a:t>界面：</a:t>
            </a:r>
            <a:endParaRPr lang="zh-CN" altLang="en-US" sz="24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1215777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146" name="Picture 2" descr="https://bkimg.cdn.bcebos.com/pic/f2deb48f8c5494ee7d1f3c082cf5e0fe99257ee5?x-bce-process=image/watermark,g_7,image_d2F0ZXIvYmFpa2UxMTY=,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194" y="1086246"/>
            <a:ext cx="6624736" cy="5746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7673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24746" y="1058773"/>
            <a:ext cx="9119254" cy="461665"/>
          </a:xfrm>
          <a:prstGeom prst="rect">
            <a:avLst/>
          </a:prstGeom>
        </p:spPr>
        <p:txBody>
          <a:bodyPr wrap="square">
            <a:spAutoFit/>
          </a:bodyPr>
          <a:lstStyle/>
          <a:p>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IC</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设计器件：</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Cadence</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Synopsys</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Modelsim</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矩形 2"/>
          <p:cNvSpPr/>
          <p:nvPr/>
        </p:nvSpPr>
        <p:spPr>
          <a:xfrm>
            <a:off x="19066" y="1772816"/>
            <a:ext cx="9119253" cy="1200329"/>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Cadence: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涵盖了电子设计的整个流程，包括系统级设计，功能验证，</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IC</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综合及布局布线，模拟、混合信号及射频</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IC</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设计，</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IC</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物理验证，</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PCB</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设计和硬件仿真建模等。</a:t>
            </a:r>
          </a:p>
        </p:txBody>
      </p:sp>
      <p:pic>
        <p:nvPicPr>
          <p:cNvPr id="4098" name="Picture 2" descr="https://timgsa.baidu.com/timg?image&amp;quality=80&amp;size=b9999_10000&amp;sec=1582780451604&amp;di=5c2f10480aba2e3d61cc52637eb0b982&amp;imgtype=0&amp;src=http%3A%2F%2Fimg.mp.itc.cn%2Fupload%2F20170421%2F1cbf2d43b1a94689943091b746e5ff5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284984"/>
            <a:ext cx="7393331"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71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24746" y="1058773"/>
            <a:ext cx="9119254" cy="4524315"/>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IC</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设计</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中的不同层次工具</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输入</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工具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Design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input)</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TOP-DOWN or DOWN-TOP</a:t>
            </a: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电路仿真软件</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(Circuit simulation)</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：数字</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or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模拟</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综合工具</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(synthesis tools)</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：把</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HDL</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变成门级网表</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layout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工具和自动布局布线（</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auto plane &amp; route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工具：</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物理验证（</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physical validate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）和参数提取</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(LVS)</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工具：</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FPGA  or  ASIC</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843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108073"/>
            <a:ext cx="5424345" cy="556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9512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294" y="1013379"/>
            <a:ext cx="5468010" cy="58600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58923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63" y="1481138"/>
            <a:ext cx="8753475" cy="389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56910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24746" y="1058773"/>
            <a:ext cx="9119254" cy="461665"/>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Cadence</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界面</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838600" y="1520438"/>
            <a:ext cx="7272808" cy="5305644"/>
          </a:xfrm>
          <a:prstGeom prst="rect">
            <a:avLst/>
          </a:prstGeom>
        </p:spPr>
      </p:pic>
    </p:spTree>
    <p:extLst>
      <p:ext uri="{BB962C8B-B14F-4D97-AF65-F5344CB8AC3E}">
        <p14:creationId xmlns:p14="http://schemas.microsoft.com/office/powerpoint/2010/main" val="30113281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6776" y="1029321"/>
            <a:ext cx="9170775" cy="1200329"/>
          </a:xfrm>
          <a:prstGeom prst="rect">
            <a:avLst/>
          </a:prstGeom>
        </p:spPr>
        <p:txBody>
          <a:bodyPr wrap="square">
            <a:spAutoFit/>
          </a:bodyPr>
          <a:lstStyle/>
          <a:p>
            <a:pPr marL="342900" indent="-342900">
              <a:buFont typeface="Wingdings" panose="05000000000000000000" pitchFamily="2" charset="2"/>
              <a:buChar char="Ø"/>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Verilog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HDL/VHDL</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latin typeface="华文楷体" panose="02010600040101010101" pitchFamily="2" charset="-122"/>
                <a:ea typeface="华文楷体" panose="02010600040101010101" pitchFamily="2" charset="-122"/>
              </a:rPr>
              <a:t>硬件</a:t>
            </a:r>
            <a:r>
              <a:rPr lang="zh-CN" altLang="en-US" sz="2400" b="1" dirty="0">
                <a:latin typeface="华文楷体" panose="02010600040101010101" pitchFamily="2" charset="-122"/>
                <a:ea typeface="华文楷体" panose="02010600040101010101" pitchFamily="2" charset="-122"/>
              </a:rPr>
              <a:t>描述语言，以文本形式来描述数字系统硬件的结构和行为的语言，用它可以表示逻辑电路图、逻辑表达式，还可以表示数字逻辑系统所完成的逻辑</a:t>
            </a:r>
            <a:r>
              <a:rPr lang="zh-CN" altLang="en-US" sz="2400" b="1" dirty="0" smtClean="0">
                <a:latin typeface="华文楷体" panose="02010600040101010101" pitchFamily="2" charset="-122"/>
                <a:ea typeface="华文楷体" panose="02010600040101010101" pitchFamily="2" charset="-122"/>
              </a:rPr>
              <a:t>功能</a:t>
            </a:r>
            <a:r>
              <a:rPr lang="zh-CN" altLang="en-US" sz="2400" b="1" dirty="0">
                <a:latin typeface="华文楷体" panose="02010600040101010101" pitchFamily="2" charset="-122"/>
                <a:ea typeface="华文楷体" panose="02010600040101010101" pitchFamily="2" charset="-122"/>
              </a:rPr>
              <a:t>。</a:t>
            </a:r>
          </a:p>
        </p:txBody>
      </p: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4" name="Picture 4" descr="https://timgsa.baidu.com/timg?image&amp;quality=80&amp;size=b9999_10000&amp;sec=1582780705452&amp;di=08fc1df412896cb1b11232c8e8376083&amp;imgtype=jpg&amp;src=http%3A%2F%2Fimg1.imgtn.bdimg.com%2Fit%2Fu%3D1978942806%2C4258254190%26fm%3D214%26gp%3D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404" y="2556486"/>
            <a:ext cx="5082917"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09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6776" y="1029321"/>
            <a:ext cx="9170775" cy="461665"/>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Modelsim</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界面</a:t>
            </a:r>
            <a:endParaRPr lang="zh-CN" altLang="en-US" sz="2400" b="1" dirty="0">
              <a:latin typeface="华文楷体" panose="02010600040101010101" pitchFamily="2" charset="-122"/>
              <a:ea typeface="华文楷体" panose="02010600040101010101" pitchFamily="2" charset="-122"/>
            </a:endParaRPr>
          </a:p>
        </p:txBody>
      </p:sp>
      <p:pic>
        <p:nvPicPr>
          <p:cNvPr id="6146" name="Picture 2" descr="https://bkimg.cdn.bcebos.com/pic/d6ca7bcb0a46f21f0c97f95df6246b600c33ae19?x-bce-process=image/watermark,g_7,image_d2F0ZXIvYmFpa2U4MA==,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7" y="1490986"/>
            <a:ext cx="7483417" cy="53670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150299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r="18578"/>
          <a:stretch>
            <a:fillRect/>
          </a:stretch>
        </p:blipFill>
        <p:spPr bwMode="auto">
          <a:xfrm>
            <a:off x="1250710" y="1412776"/>
            <a:ext cx="64960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8"/>
          <p:cNvSpPr>
            <a:spLocks noChangeArrowheads="1"/>
          </p:cNvSpPr>
          <p:nvPr/>
        </p:nvSpPr>
        <p:spPr bwMode="auto">
          <a:xfrm>
            <a:off x="0" y="1053709"/>
            <a:ext cx="7236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eaLnBrk="0" hangingPunct="0">
              <a:buFont typeface="Wingdings" panose="05000000000000000000" pitchFamily="2" charset="2"/>
              <a:buChar char="Ø"/>
            </a:pPr>
            <a:r>
              <a:rPr lang="zh-CN" altLang="en-US" sz="2400" b="1" dirty="0">
                <a:solidFill>
                  <a:srgbClr val="000000"/>
                </a:solidFill>
                <a:latin typeface="华文楷体" panose="02010600040101010101" pitchFamily="2" charset="-122"/>
                <a:ea typeface="华文楷体" panose="02010600040101010101" pitchFamily="2" charset="-122"/>
              </a:rPr>
              <a:t>二选</a:t>
            </a:r>
            <a:r>
              <a:rPr lang="zh-CN" altLang="en-US" sz="2400" b="1" dirty="0" smtClean="0">
                <a:solidFill>
                  <a:srgbClr val="000000"/>
                </a:solidFill>
                <a:latin typeface="华文楷体" panose="02010600040101010101" pitchFamily="2" charset="-122"/>
                <a:ea typeface="华文楷体" panose="02010600040101010101" pitchFamily="2" charset="-122"/>
              </a:rPr>
              <a:t>一数据选择器仿真电路图（行为型）</a:t>
            </a:r>
            <a:endParaRPr lang="zh-CN" altLang="en-US" sz="2400" b="1" dirty="0">
              <a:latin typeface="华文楷体" panose="02010600040101010101" pitchFamily="2" charset="-122"/>
              <a:ea typeface="华文楷体" panose="02010600040101010101" pitchFamily="2" charset="-122"/>
            </a:endParaRPr>
          </a:p>
        </p:txBody>
      </p:sp>
      <p:sp>
        <p:nvSpPr>
          <p:cNvPr id="8" name="Text Box 8"/>
          <p:cNvSpPr txBox="1">
            <a:spLocks noChangeArrowheads="1"/>
          </p:cNvSpPr>
          <p:nvPr/>
        </p:nvSpPr>
        <p:spPr bwMode="auto">
          <a:xfrm>
            <a:off x="827584" y="4155975"/>
            <a:ext cx="7848600" cy="2016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FF0000"/>
                </a:solidFill>
                <a:latin typeface="Times New Roman" panose="02020603050405020304" pitchFamily="18" charset="0"/>
                <a:ea typeface="黑体" panose="02010609060101010101" pitchFamily="2" charset="-122"/>
              </a:defRPr>
            </a:lvl1pPr>
            <a:lvl2pPr marL="742950" indent="-285750" eaLnBrk="0" hangingPunct="0">
              <a:defRPr kumimoji="1" sz="3000" b="1">
                <a:solidFill>
                  <a:srgbClr val="FF0000"/>
                </a:solidFill>
                <a:latin typeface="Times New Roman" panose="02020603050405020304" pitchFamily="18" charset="0"/>
                <a:ea typeface="黑体" panose="02010609060101010101" pitchFamily="2" charset="-122"/>
              </a:defRPr>
            </a:lvl2pPr>
            <a:lvl3pPr marL="1143000" indent="-228600" eaLnBrk="0" hangingPunct="0">
              <a:defRPr kumimoji="1" sz="3000" b="1">
                <a:solidFill>
                  <a:srgbClr val="FF0000"/>
                </a:solidFill>
                <a:latin typeface="Times New Roman" panose="02020603050405020304" pitchFamily="18" charset="0"/>
                <a:ea typeface="黑体" panose="02010609060101010101" pitchFamily="2" charset="-122"/>
              </a:defRPr>
            </a:lvl3pPr>
            <a:lvl4pPr marL="1600200" indent="-228600" eaLnBrk="0" hangingPunct="0">
              <a:defRPr kumimoji="1" sz="3000" b="1">
                <a:solidFill>
                  <a:srgbClr val="FF0000"/>
                </a:solidFill>
                <a:latin typeface="Times New Roman" panose="02020603050405020304" pitchFamily="18" charset="0"/>
                <a:ea typeface="黑体" panose="02010609060101010101" pitchFamily="2" charset="-122"/>
              </a:defRPr>
            </a:lvl4pPr>
            <a:lvl5pPr marL="2057400" indent="-228600" eaLnBrk="0" hangingPunct="0">
              <a:defRPr kumimoji="1" sz="3000" b="1">
                <a:solidFill>
                  <a:srgbClr val="FF0000"/>
                </a:solidFill>
                <a:latin typeface="Times New Roman" panose="02020603050405020304" pitchFamily="18" charset="0"/>
                <a:ea typeface="黑体" panose="02010609060101010101" pitchFamily="2" charset="-122"/>
              </a:defRPr>
            </a:lvl5pPr>
            <a:lvl6pPr marL="25146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6pPr>
            <a:lvl7pPr marL="29718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7pPr>
            <a:lvl8pPr marL="34290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8pPr>
            <a:lvl9pPr marL="38862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9pPr>
          </a:lstStyle>
          <a:p>
            <a:pPr algn="just" eaLnBrk="1" hangingPunct="1">
              <a:lnSpc>
                <a:spcPct val="96000"/>
              </a:lnSpc>
            </a:pPr>
            <a:r>
              <a:rPr lang="en-US" altLang="zh-CN" sz="2000" dirty="0" smtClean="0">
                <a:solidFill>
                  <a:srgbClr val="000000"/>
                </a:solidFill>
                <a:ea typeface="华文楷体" panose="02010600040101010101" pitchFamily="2" charset="-122"/>
                <a:cs typeface="Times New Roman" panose="02020603050405020304" pitchFamily="18" charset="0"/>
              </a:rPr>
              <a:t>module </a:t>
            </a:r>
            <a:r>
              <a:rPr lang="en-US" altLang="zh-CN" sz="2000" dirty="0">
                <a:solidFill>
                  <a:srgbClr val="000000"/>
                </a:solidFill>
                <a:ea typeface="华文楷体" panose="02010600040101010101" pitchFamily="2" charset="-122"/>
                <a:cs typeface="Times New Roman" panose="02020603050405020304" pitchFamily="18" charset="0"/>
              </a:rPr>
              <a:t>Mux21 (</a:t>
            </a:r>
            <a:r>
              <a:rPr lang="en-US" altLang="zh-CN" sz="2000" dirty="0" err="1">
                <a:solidFill>
                  <a:srgbClr val="000000"/>
                </a:solidFill>
                <a:ea typeface="华文楷体" panose="02010600040101010101" pitchFamily="2" charset="-122"/>
                <a:cs typeface="Times New Roman" panose="02020603050405020304" pitchFamily="18" charset="0"/>
              </a:rPr>
              <a:t>a,b,s,y</a:t>
            </a:r>
            <a:r>
              <a:rPr lang="en-US" altLang="zh-CN" sz="2000" dirty="0">
                <a:solidFill>
                  <a:srgbClr val="000000"/>
                </a:solidFill>
                <a:ea typeface="华文楷体" panose="02010600040101010101" pitchFamily="2" charset="-122"/>
                <a:cs typeface="Times New Roman" panose="02020603050405020304" pitchFamily="18" charset="0"/>
              </a:rPr>
              <a:t>);		</a:t>
            </a:r>
            <a:r>
              <a:rPr lang="en-US" altLang="zh-CN" sz="2000" dirty="0" smtClean="0">
                <a:solidFill>
                  <a:srgbClr val="000000"/>
                </a:solidFill>
                <a:ea typeface="华文楷体" panose="02010600040101010101" pitchFamily="2" charset="-122"/>
                <a:cs typeface="Times New Roman" panose="02020603050405020304" pitchFamily="18" charset="0"/>
              </a:rPr>
              <a:t>  //----------------</a:t>
            </a:r>
            <a:r>
              <a:rPr lang="en-US" altLang="zh-CN" sz="2000" dirty="0">
                <a:solidFill>
                  <a:srgbClr val="000000"/>
                </a:solidFill>
                <a:ea typeface="华文楷体" panose="02010600040101010101" pitchFamily="2" charset="-122"/>
                <a:cs typeface="Times New Roman" panose="02020603050405020304" pitchFamily="18" charset="0"/>
              </a:rPr>
              <a:t>1</a:t>
            </a:r>
          </a:p>
          <a:p>
            <a:pPr algn="just" eaLnBrk="1" hangingPunct="1">
              <a:lnSpc>
                <a:spcPct val="96000"/>
              </a:lnSpc>
            </a:pPr>
            <a:r>
              <a:rPr lang="en-US" altLang="zh-CN" sz="2000" dirty="0">
                <a:solidFill>
                  <a:srgbClr val="000000"/>
                </a:solidFill>
                <a:ea typeface="华文楷体" panose="02010600040101010101" pitchFamily="2" charset="-122"/>
                <a:cs typeface="Times New Roman" panose="02020603050405020304" pitchFamily="18" charset="0"/>
              </a:rPr>
              <a:t>	</a:t>
            </a:r>
            <a:r>
              <a:rPr lang="en-US" altLang="zh-CN" sz="2000" dirty="0" smtClean="0">
                <a:solidFill>
                  <a:srgbClr val="000000"/>
                </a:solidFill>
                <a:ea typeface="华文楷体" panose="02010600040101010101" pitchFamily="2" charset="-122"/>
                <a:cs typeface="Times New Roman" panose="02020603050405020304" pitchFamily="18" charset="0"/>
              </a:rPr>
              <a:t>input </a:t>
            </a:r>
            <a:r>
              <a:rPr lang="en-US" altLang="zh-CN" sz="2000" dirty="0" err="1">
                <a:solidFill>
                  <a:srgbClr val="000000"/>
                </a:solidFill>
                <a:ea typeface="华文楷体" panose="02010600040101010101" pitchFamily="2" charset="-122"/>
                <a:cs typeface="Times New Roman" panose="02020603050405020304" pitchFamily="18" charset="0"/>
              </a:rPr>
              <a:t>a,b</a:t>
            </a:r>
            <a:r>
              <a:rPr lang="en-US" altLang="zh-CN" sz="2000" dirty="0">
                <a:solidFill>
                  <a:srgbClr val="000000"/>
                </a:solidFill>
                <a:ea typeface="华文楷体" panose="02010600040101010101" pitchFamily="2" charset="-122"/>
                <a:cs typeface="Times New Roman" panose="02020603050405020304" pitchFamily="18" charset="0"/>
              </a:rPr>
              <a:t>;</a:t>
            </a:r>
          </a:p>
          <a:p>
            <a:pPr algn="just" eaLnBrk="1" hangingPunct="1">
              <a:lnSpc>
                <a:spcPct val="96000"/>
              </a:lnSpc>
            </a:pPr>
            <a:r>
              <a:rPr lang="en-US" altLang="zh-CN" sz="2000" dirty="0">
                <a:solidFill>
                  <a:srgbClr val="000000"/>
                </a:solidFill>
                <a:ea typeface="华文楷体" panose="02010600040101010101" pitchFamily="2" charset="-122"/>
                <a:cs typeface="Times New Roman" panose="02020603050405020304" pitchFamily="18" charset="0"/>
              </a:rPr>
              <a:t>	input s;</a:t>
            </a:r>
          </a:p>
          <a:p>
            <a:pPr algn="just" eaLnBrk="1" hangingPunct="1">
              <a:lnSpc>
                <a:spcPct val="96000"/>
              </a:lnSpc>
            </a:pPr>
            <a:r>
              <a:rPr lang="en-US" altLang="zh-CN" sz="2000" dirty="0">
                <a:solidFill>
                  <a:srgbClr val="000000"/>
                </a:solidFill>
                <a:ea typeface="华文楷体" panose="02010600040101010101" pitchFamily="2" charset="-122"/>
                <a:cs typeface="Times New Roman" panose="02020603050405020304" pitchFamily="18" charset="0"/>
              </a:rPr>
              <a:t>	output y;				</a:t>
            </a:r>
          </a:p>
          <a:p>
            <a:pPr algn="just" eaLnBrk="1" hangingPunct="1">
              <a:lnSpc>
                <a:spcPct val="96000"/>
              </a:lnSpc>
            </a:pPr>
            <a:r>
              <a:rPr lang="en-US" altLang="zh-CN" sz="2000" dirty="0">
                <a:solidFill>
                  <a:srgbClr val="000000"/>
                </a:solidFill>
                <a:ea typeface="华文楷体" panose="02010600040101010101" pitchFamily="2" charset="-122"/>
                <a:cs typeface="Times New Roman" panose="02020603050405020304" pitchFamily="18" charset="0"/>
              </a:rPr>
              <a:t>	assign y = (s==0)? a : b; 	</a:t>
            </a:r>
            <a:r>
              <a:rPr lang="en-US" altLang="zh-CN" sz="2000" dirty="0" smtClean="0">
                <a:solidFill>
                  <a:srgbClr val="000000"/>
                </a:solidFill>
                <a:ea typeface="华文楷体" panose="02010600040101010101" pitchFamily="2" charset="-122"/>
                <a:cs typeface="Times New Roman" panose="02020603050405020304" pitchFamily="18" charset="0"/>
              </a:rPr>
              <a:t>  //----------------</a:t>
            </a:r>
            <a:r>
              <a:rPr lang="en-US" altLang="zh-CN" sz="2000" dirty="0">
                <a:solidFill>
                  <a:srgbClr val="000000"/>
                </a:solidFill>
                <a:ea typeface="华文楷体" panose="02010600040101010101" pitchFamily="2" charset="-122"/>
                <a:cs typeface="Times New Roman" panose="02020603050405020304" pitchFamily="18" charset="0"/>
              </a:rPr>
              <a:t>2</a:t>
            </a:r>
          </a:p>
          <a:p>
            <a:pPr algn="just" eaLnBrk="1" hangingPunct="1">
              <a:lnSpc>
                <a:spcPct val="96000"/>
              </a:lnSpc>
            </a:pPr>
            <a:r>
              <a:rPr lang="en-US" altLang="zh-CN" sz="2000" dirty="0" err="1">
                <a:solidFill>
                  <a:srgbClr val="000000"/>
                </a:solidFill>
                <a:ea typeface="华文楷体" panose="02010600040101010101" pitchFamily="2" charset="-122"/>
                <a:cs typeface="Times New Roman" panose="02020603050405020304" pitchFamily="18" charset="0"/>
              </a:rPr>
              <a:t>endmodule</a:t>
            </a:r>
            <a:r>
              <a:rPr lang="en-US" altLang="zh-CN" sz="2000" dirty="0">
                <a:solidFill>
                  <a:srgbClr val="000000"/>
                </a:solidFill>
                <a:ea typeface="华文楷体" panose="02010600040101010101" pitchFamily="2" charset="-122"/>
                <a:cs typeface="Times New Roman" panose="02020603050405020304" pitchFamily="18" charset="0"/>
              </a:rPr>
              <a:t>		                //----------------3</a:t>
            </a:r>
            <a:endParaRPr lang="zh-CN" altLang="zh-CN" sz="2000" dirty="0">
              <a:solidFill>
                <a:srgbClr val="000000"/>
              </a:solidFill>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1739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Text Box 1"/>
          <p:cNvSpPr txBox="1">
            <a:spLocks noChangeArrowheads="1"/>
          </p:cNvSpPr>
          <p:nvPr/>
        </p:nvSpPr>
        <p:spPr bwMode="auto">
          <a:xfrm>
            <a:off x="755576" y="3939952"/>
            <a:ext cx="7777162" cy="2592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FF0000"/>
                </a:solidFill>
                <a:latin typeface="Times New Roman" panose="02020603050405020304" pitchFamily="18" charset="0"/>
                <a:ea typeface="黑体" panose="02010609060101010101" pitchFamily="2" charset="-122"/>
              </a:defRPr>
            </a:lvl1pPr>
            <a:lvl2pPr marL="742950" indent="-285750" eaLnBrk="0" hangingPunct="0">
              <a:defRPr kumimoji="1" sz="3000" b="1">
                <a:solidFill>
                  <a:srgbClr val="FF0000"/>
                </a:solidFill>
                <a:latin typeface="Times New Roman" panose="02020603050405020304" pitchFamily="18" charset="0"/>
                <a:ea typeface="黑体" panose="02010609060101010101" pitchFamily="2" charset="-122"/>
              </a:defRPr>
            </a:lvl2pPr>
            <a:lvl3pPr marL="1143000" indent="-228600" eaLnBrk="0" hangingPunct="0">
              <a:defRPr kumimoji="1" sz="3000" b="1">
                <a:solidFill>
                  <a:srgbClr val="FF0000"/>
                </a:solidFill>
                <a:latin typeface="Times New Roman" panose="02020603050405020304" pitchFamily="18" charset="0"/>
                <a:ea typeface="黑体" panose="02010609060101010101" pitchFamily="2" charset="-122"/>
              </a:defRPr>
            </a:lvl3pPr>
            <a:lvl4pPr marL="1600200" indent="-228600" eaLnBrk="0" hangingPunct="0">
              <a:defRPr kumimoji="1" sz="3000" b="1">
                <a:solidFill>
                  <a:srgbClr val="FF0000"/>
                </a:solidFill>
                <a:latin typeface="Times New Roman" panose="02020603050405020304" pitchFamily="18" charset="0"/>
                <a:ea typeface="黑体" panose="02010609060101010101" pitchFamily="2" charset="-122"/>
              </a:defRPr>
            </a:lvl4pPr>
            <a:lvl5pPr marL="2057400" indent="-228600" eaLnBrk="0" hangingPunct="0">
              <a:defRPr kumimoji="1" sz="3000" b="1">
                <a:solidFill>
                  <a:srgbClr val="FF0000"/>
                </a:solidFill>
                <a:latin typeface="Times New Roman" panose="02020603050405020304" pitchFamily="18" charset="0"/>
                <a:ea typeface="黑体" panose="02010609060101010101" pitchFamily="2" charset="-122"/>
              </a:defRPr>
            </a:lvl5pPr>
            <a:lvl6pPr marL="25146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6pPr>
            <a:lvl7pPr marL="29718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7pPr>
            <a:lvl8pPr marL="34290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8pPr>
            <a:lvl9pPr marL="38862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9pPr>
          </a:lstStyle>
          <a:p>
            <a:pPr>
              <a:lnSpc>
                <a:spcPct val="100000"/>
              </a:lnSpc>
            </a:pPr>
            <a:r>
              <a:rPr lang="en-US" altLang="zh-CN" sz="1800" dirty="0" smtClean="0">
                <a:solidFill>
                  <a:schemeClr val="tx1"/>
                </a:solidFill>
              </a:rPr>
              <a:t>module </a:t>
            </a:r>
            <a:r>
              <a:rPr lang="en-US" altLang="zh-CN" sz="1800" dirty="0">
                <a:solidFill>
                  <a:schemeClr val="tx1"/>
                </a:solidFill>
              </a:rPr>
              <a:t>mux21 (</a:t>
            </a:r>
            <a:r>
              <a:rPr lang="en-US" altLang="zh-CN" sz="1800" dirty="0" err="1">
                <a:solidFill>
                  <a:schemeClr val="tx1"/>
                </a:solidFill>
              </a:rPr>
              <a:t>a,b,s,y</a:t>
            </a:r>
            <a:r>
              <a:rPr lang="en-US" altLang="zh-CN" sz="1800" dirty="0">
                <a:solidFill>
                  <a:schemeClr val="tx1"/>
                </a:solidFill>
              </a:rPr>
              <a:t>);</a:t>
            </a:r>
          </a:p>
          <a:p>
            <a:pPr>
              <a:lnSpc>
                <a:spcPct val="100000"/>
              </a:lnSpc>
            </a:pPr>
            <a:r>
              <a:rPr lang="en-US" altLang="zh-CN" sz="1800" dirty="0">
                <a:solidFill>
                  <a:schemeClr val="tx1"/>
                </a:solidFill>
              </a:rPr>
              <a:t>input  a</a:t>
            </a:r>
            <a:r>
              <a:rPr lang="en-US" altLang="zh-CN" sz="1800" dirty="0" smtClean="0">
                <a:solidFill>
                  <a:schemeClr val="tx1"/>
                </a:solidFill>
              </a:rPr>
              <a:t>, b, s</a:t>
            </a:r>
            <a:r>
              <a:rPr lang="en-US" altLang="zh-CN" sz="1800" dirty="0">
                <a:solidFill>
                  <a:schemeClr val="tx1"/>
                </a:solidFill>
              </a:rPr>
              <a:t>;</a:t>
            </a:r>
          </a:p>
          <a:p>
            <a:pPr>
              <a:lnSpc>
                <a:spcPct val="100000"/>
              </a:lnSpc>
            </a:pPr>
            <a:r>
              <a:rPr lang="en-US" altLang="zh-CN" sz="1800" dirty="0">
                <a:solidFill>
                  <a:schemeClr val="tx1"/>
                </a:solidFill>
              </a:rPr>
              <a:t>output y; </a:t>
            </a:r>
          </a:p>
          <a:p>
            <a:pPr>
              <a:lnSpc>
                <a:spcPct val="100000"/>
              </a:lnSpc>
            </a:pPr>
            <a:r>
              <a:rPr lang="en-US" altLang="zh-CN" sz="1800" dirty="0" err="1">
                <a:solidFill>
                  <a:schemeClr val="tx1"/>
                </a:solidFill>
              </a:rPr>
              <a:t>reg</a:t>
            </a:r>
            <a:r>
              <a:rPr lang="en-US" altLang="zh-CN" sz="1800" dirty="0">
                <a:solidFill>
                  <a:schemeClr val="tx1"/>
                </a:solidFill>
              </a:rPr>
              <a:t>   y;</a:t>
            </a:r>
          </a:p>
          <a:p>
            <a:pPr>
              <a:lnSpc>
                <a:spcPct val="100000"/>
              </a:lnSpc>
            </a:pPr>
            <a:r>
              <a:rPr lang="en-US" altLang="zh-CN" sz="1800" dirty="0">
                <a:solidFill>
                  <a:schemeClr val="tx1"/>
                </a:solidFill>
              </a:rPr>
              <a:t>    always @( a or b or s)               //----------------------------------1</a:t>
            </a:r>
          </a:p>
          <a:p>
            <a:pPr>
              <a:lnSpc>
                <a:spcPct val="100000"/>
              </a:lnSpc>
            </a:pPr>
            <a:r>
              <a:rPr lang="en-US" altLang="zh-CN" sz="1800" dirty="0">
                <a:solidFill>
                  <a:schemeClr val="tx1"/>
                </a:solidFill>
              </a:rPr>
              <a:t>           if (!s)  y = a;                        //-----------------------------------2</a:t>
            </a:r>
          </a:p>
          <a:p>
            <a:pPr>
              <a:lnSpc>
                <a:spcPct val="100000"/>
              </a:lnSpc>
            </a:pPr>
            <a:r>
              <a:rPr lang="en-US" altLang="zh-CN" sz="1800" dirty="0">
                <a:solidFill>
                  <a:schemeClr val="tx1"/>
                </a:solidFill>
              </a:rPr>
              <a:t>               else y = b;                       //------------------------------------3</a:t>
            </a:r>
          </a:p>
          <a:p>
            <a:pPr>
              <a:lnSpc>
                <a:spcPct val="100000"/>
              </a:lnSpc>
            </a:pPr>
            <a:r>
              <a:rPr lang="en-US" altLang="zh-CN" sz="1800" dirty="0" err="1">
                <a:solidFill>
                  <a:schemeClr val="tx1"/>
                </a:solidFill>
              </a:rPr>
              <a:t>endmodule</a:t>
            </a:r>
            <a:r>
              <a:rPr lang="en-US" altLang="zh-CN" sz="1800" dirty="0">
                <a:solidFill>
                  <a:schemeClr val="tx1"/>
                </a:solidFill>
              </a:rPr>
              <a:t>  			</a:t>
            </a:r>
          </a:p>
          <a:p>
            <a:pPr>
              <a:lnSpc>
                <a:spcPct val="100000"/>
              </a:lnSpc>
            </a:pPr>
            <a:r>
              <a:rPr lang="en-US" altLang="zh-CN" sz="900" dirty="0"/>
              <a:t>	</a:t>
            </a:r>
            <a:endParaRPr lang="en-US" altLang="zh-CN" dirty="0"/>
          </a:p>
        </p:txBody>
      </p:sp>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r="18578"/>
          <a:stretch>
            <a:fillRect/>
          </a:stretch>
        </p:blipFill>
        <p:spPr bwMode="auto">
          <a:xfrm>
            <a:off x="1252537" y="1196752"/>
            <a:ext cx="64960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8"/>
          <p:cNvSpPr>
            <a:spLocks noChangeArrowheads="1"/>
          </p:cNvSpPr>
          <p:nvPr/>
        </p:nvSpPr>
        <p:spPr bwMode="auto">
          <a:xfrm>
            <a:off x="0" y="1053709"/>
            <a:ext cx="6481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eaLnBrk="0" hangingPunct="0">
              <a:buFont typeface="Wingdings" panose="05000000000000000000" pitchFamily="2" charset="2"/>
              <a:buChar char="Ø"/>
            </a:pPr>
            <a:r>
              <a:rPr lang="zh-CN" altLang="en-US" sz="2400" b="1" dirty="0">
                <a:solidFill>
                  <a:srgbClr val="000000"/>
                </a:solidFill>
                <a:latin typeface="华文楷体" panose="02010600040101010101" pitchFamily="2" charset="-122"/>
                <a:ea typeface="华文楷体" panose="02010600040101010101" pitchFamily="2" charset="-122"/>
              </a:rPr>
              <a:t>二选</a:t>
            </a:r>
            <a:r>
              <a:rPr lang="zh-CN" altLang="en-US" sz="2400" b="1" dirty="0" smtClean="0">
                <a:solidFill>
                  <a:srgbClr val="000000"/>
                </a:solidFill>
                <a:latin typeface="华文楷体" panose="02010600040101010101" pitchFamily="2" charset="-122"/>
                <a:ea typeface="华文楷体" panose="02010600040101010101" pitchFamily="2" charset="-122"/>
              </a:rPr>
              <a:t>一数据选择器仿真电路图（行为型）</a:t>
            </a:r>
            <a:endParaRPr lang="zh-CN" altLang="en-US" sz="24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0231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Text Box 1"/>
          <p:cNvSpPr txBox="1">
            <a:spLocks noChangeArrowheads="1"/>
          </p:cNvSpPr>
          <p:nvPr/>
        </p:nvSpPr>
        <p:spPr bwMode="auto">
          <a:xfrm>
            <a:off x="755576" y="3939951"/>
            <a:ext cx="7777162" cy="2879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FF0000"/>
                </a:solidFill>
                <a:latin typeface="Times New Roman" panose="02020603050405020304" pitchFamily="18" charset="0"/>
                <a:ea typeface="黑体" panose="02010609060101010101" pitchFamily="2" charset="-122"/>
              </a:defRPr>
            </a:lvl1pPr>
            <a:lvl2pPr marL="742950" indent="-285750" eaLnBrk="0" hangingPunct="0">
              <a:defRPr kumimoji="1" sz="3000" b="1">
                <a:solidFill>
                  <a:srgbClr val="FF0000"/>
                </a:solidFill>
                <a:latin typeface="Times New Roman" panose="02020603050405020304" pitchFamily="18" charset="0"/>
                <a:ea typeface="黑体" panose="02010609060101010101" pitchFamily="2" charset="-122"/>
              </a:defRPr>
            </a:lvl2pPr>
            <a:lvl3pPr marL="1143000" indent="-228600" eaLnBrk="0" hangingPunct="0">
              <a:defRPr kumimoji="1" sz="3000" b="1">
                <a:solidFill>
                  <a:srgbClr val="FF0000"/>
                </a:solidFill>
                <a:latin typeface="Times New Roman" panose="02020603050405020304" pitchFamily="18" charset="0"/>
                <a:ea typeface="黑体" panose="02010609060101010101" pitchFamily="2" charset="-122"/>
              </a:defRPr>
            </a:lvl3pPr>
            <a:lvl4pPr marL="1600200" indent="-228600" eaLnBrk="0" hangingPunct="0">
              <a:defRPr kumimoji="1" sz="3000" b="1">
                <a:solidFill>
                  <a:srgbClr val="FF0000"/>
                </a:solidFill>
                <a:latin typeface="Times New Roman" panose="02020603050405020304" pitchFamily="18" charset="0"/>
                <a:ea typeface="黑体" panose="02010609060101010101" pitchFamily="2" charset="-122"/>
              </a:defRPr>
            </a:lvl4pPr>
            <a:lvl5pPr marL="2057400" indent="-228600" eaLnBrk="0" hangingPunct="0">
              <a:defRPr kumimoji="1" sz="3000" b="1">
                <a:solidFill>
                  <a:srgbClr val="FF0000"/>
                </a:solidFill>
                <a:latin typeface="Times New Roman" panose="02020603050405020304" pitchFamily="18" charset="0"/>
                <a:ea typeface="黑体" panose="02010609060101010101" pitchFamily="2" charset="-122"/>
              </a:defRPr>
            </a:lvl5pPr>
            <a:lvl6pPr marL="25146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6pPr>
            <a:lvl7pPr marL="29718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7pPr>
            <a:lvl8pPr marL="34290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8pPr>
            <a:lvl9pPr marL="38862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9pPr>
          </a:lstStyle>
          <a:p>
            <a:pPr>
              <a:lnSpc>
                <a:spcPct val="100000"/>
              </a:lnSpc>
            </a:pPr>
            <a:r>
              <a:rPr lang="en-US" altLang="zh-CN" sz="1800" dirty="0" smtClean="0">
                <a:solidFill>
                  <a:schemeClr val="tx1"/>
                </a:solidFill>
                <a:ea typeface="华文楷体" panose="02010600040101010101" pitchFamily="2" charset="-122"/>
                <a:cs typeface="Times New Roman" panose="02020603050405020304" pitchFamily="18" charset="0"/>
              </a:rPr>
              <a:t>module </a:t>
            </a:r>
            <a:r>
              <a:rPr lang="en-US" altLang="zh-CN" sz="1800" dirty="0">
                <a:solidFill>
                  <a:schemeClr val="tx1"/>
                </a:solidFill>
                <a:ea typeface="华文楷体" panose="02010600040101010101" pitchFamily="2" charset="-122"/>
                <a:cs typeface="Times New Roman" panose="02020603050405020304" pitchFamily="18" charset="0"/>
              </a:rPr>
              <a:t>Mux21 (</a:t>
            </a:r>
            <a:r>
              <a:rPr lang="en-US" altLang="zh-CN" sz="1800" dirty="0" err="1">
                <a:solidFill>
                  <a:schemeClr val="tx1"/>
                </a:solidFill>
                <a:ea typeface="华文楷体" panose="02010600040101010101" pitchFamily="2" charset="-122"/>
                <a:cs typeface="Times New Roman" panose="02020603050405020304" pitchFamily="18" charset="0"/>
              </a:rPr>
              <a:t>a,b,s,y</a:t>
            </a:r>
            <a:r>
              <a:rPr lang="en-US" altLang="zh-CN" sz="1800" dirty="0">
                <a:solidFill>
                  <a:schemeClr val="tx1"/>
                </a:solidFill>
                <a:ea typeface="华文楷体" panose="02010600040101010101" pitchFamily="2" charset="-122"/>
                <a:cs typeface="Times New Roman" panose="02020603050405020304" pitchFamily="18" charset="0"/>
              </a:rPr>
              <a:t>);		</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input </a:t>
            </a:r>
            <a:r>
              <a:rPr lang="en-US" altLang="zh-CN" sz="1800" dirty="0" err="1">
                <a:solidFill>
                  <a:schemeClr val="tx1"/>
                </a:solidFill>
                <a:ea typeface="华文楷体" panose="02010600040101010101" pitchFamily="2" charset="-122"/>
                <a:cs typeface="Times New Roman" panose="02020603050405020304" pitchFamily="18" charset="0"/>
              </a:rPr>
              <a:t>a,b</a:t>
            </a:r>
            <a:r>
              <a:rPr lang="en-US" altLang="zh-CN" sz="1800" dirty="0">
                <a:solidFill>
                  <a:schemeClr val="tx1"/>
                </a:solidFill>
                <a:ea typeface="华文楷体" panose="02010600040101010101" pitchFamily="2" charset="-122"/>
                <a:cs typeface="Times New Roman" panose="02020603050405020304" pitchFamily="18" charset="0"/>
              </a:rPr>
              <a:t>;</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input s;</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output y;             	         //--------------1</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wire </a:t>
            </a:r>
            <a:r>
              <a:rPr lang="en-US" altLang="zh-CN" sz="1800" dirty="0" err="1">
                <a:solidFill>
                  <a:schemeClr val="tx1"/>
                </a:solidFill>
                <a:ea typeface="华文楷体" panose="02010600040101010101" pitchFamily="2" charset="-122"/>
                <a:cs typeface="Times New Roman" panose="02020603050405020304" pitchFamily="18" charset="0"/>
              </a:rPr>
              <a:t>d,e</a:t>
            </a:r>
            <a:r>
              <a:rPr lang="en-US" altLang="zh-CN" sz="1800" dirty="0">
                <a:solidFill>
                  <a:schemeClr val="tx1"/>
                </a:solidFill>
                <a:ea typeface="华文楷体" panose="02010600040101010101" pitchFamily="2" charset="-122"/>
                <a:cs typeface="Times New Roman" panose="02020603050405020304" pitchFamily="18" charset="0"/>
              </a:rPr>
              <a:t>;		         //--------------2</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assign d = a &amp; (~s);        //--------------3</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assign e = b &amp; s;</a:t>
            </a:r>
          </a:p>
          <a:p>
            <a:pPr>
              <a:lnSpc>
                <a:spcPct val="100000"/>
              </a:lnSpc>
            </a:pPr>
            <a:r>
              <a:rPr lang="en-US" altLang="zh-CN" sz="1800" dirty="0">
                <a:solidFill>
                  <a:schemeClr val="tx1"/>
                </a:solidFill>
                <a:ea typeface="华文楷体" panose="02010600040101010101" pitchFamily="2" charset="-122"/>
                <a:cs typeface="Times New Roman" panose="02020603050405020304" pitchFamily="18" charset="0"/>
              </a:rPr>
              <a:t>	assign y = d | e;			</a:t>
            </a:r>
          </a:p>
          <a:p>
            <a:pPr>
              <a:lnSpc>
                <a:spcPct val="100000"/>
              </a:lnSpc>
            </a:pPr>
            <a:r>
              <a:rPr lang="en-US" altLang="zh-CN" sz="1800" dirty="0" err="1">
                <a:solidFill>
                  <a:schemeClr val="tx1"/>
                </a:solidFill>
                <a:ea typeface="华文楷体" panose="02010600040101010101" pitchFamily="2" charset="-122"/>
                <a:cs typeface="Times New Roman" panose="02020603050405020304" pitchFamily="18" charset="0"/>
              </a:rPr>
              <a:t>endmodule</a:t>
            </a:r>
            <a:r>
              <a:rPr lang="en-US" altLang="zh-CN" sz="1800" dirty="0">
                <a:solidFill>
                  <a:schemeClr val="tx1"/>
                </a:solidFill>
                <a:ea typeface="华文楷体" panose="02010600040101010101" pitchFamily="2" charset="-122"/>
                <a:cs typeface="Times New Roman" panose="02020603050405020304" pitchFamily="18" charset="0"/>
              </a:rPr>
              <a:t>	</a:t>
            </a:r>
            <a:r>
              <a:rPr lang="en-US" altLang="zh-CN" sz="1000" dirty="0">
                <a:ea typeface="华文楷体" panose="02010600040101010101" pitchFamily="2" charset="-122"/>
                <a:cs typeface="Times New Roman" panose="02020603050405020304" pitchFamily="18" charset="0"/>
              </a:rPr>
              <a:t>	</a:t>
            </a:r>
            <a:r>
              <a:rPr lang="en-US" altLang="zh-CN" sz="900" dirty="0">
                <a:ea typeface="华文楷体" panose="02010600040101010101" pitchFamily="2" charset="-122"/>
                <a:cs typeface="Times New Roman" panose="02020603050405020304" pitchFamily="18" charset="0"/>
              </a:rPr>
              <a:t>			</a:t>
            </a:r>
            <a:endParaRPr lang="en-US" altLang="zh-CN" dirty="0">
              <a:ea typeface="华文楷体" panose="02010600040101010101" pitchFamily="2" charset="-122"/>
              <a:cs typeface="Times New Roman" panose="02020603050405020304" pitchFamily="18" charset="0"/>
            </a:endParaRPr>
          </a:p>
        </p:txBody>
      </p:sp>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r="18578"/>
          <a:stretch>
            <a:fillRect/>
          </a:stretch>
        </p:blipFill>
        <p:spPr bwMode="auto">
          <a:xfrm>
            <a:off x="1252537" y="1196752"/>
            <a:ext cx="64960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0" y="1053709"/>
            <a:ext cx="6481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eaLnBrk="0" hangingPunct="0">
              <a:buFont typeface="Wingdings" panose="05000000000000000000" pitchFamily="2" charset="2"/>
              <a:buChar char="Ø"/>
            </a:pPr>
            <a:r>
              <a:rPr lang="zh-CN" altLang="en-US" sz="2400" b="1" dirty="0">
                <a:solidFill>
                  <a:srgbClr val="000000"/>
                </a:solidFill>
                <a:latin typeface="华文楷体" panose="02010600040101010101" pitchFamily="2" charset="-122"/>
                <a:ea typeface="华文楷体" panose="02010600040101010101" pitchFamily="2" charset="-122"/>
              </a:rPr>
              <a:t>二选</a:t>
            </a:r>
            <a:r>
              <a:rPr lang="zh-CN" altLang="en-US" sz="2400" b="1" dirty="0" smtClean="0">
                <a:solidFill>
                  <a:srgbClr val="000000"/>
                </a:solidFill>
                <a:latin typeface="华文楷体" panose="02010600040101010101" pitchFamily="2" charset="-122"/>
                <a:ea typeface="华文楷体" panose="02010600040101010101" pitchFamily="2" charset="-122"/>
              </a:rPr>
              <a:t>一数据选择器仿真电路图（数据流型）</a:t>
            </a:r>
            <a:endParaRPr lang="zh-CN" altLang="en-US" sz="24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7438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r="18578"/>
          <a:stretch>
            <a:fillRect/>
          </a:stretch>
        </p:blipFill>
        <p:spPr bwMode="auto">
          <a:xfrm>
            <a:off x="1252537" y="1196752"/>
            <a:ext cx="64960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8"/>
          <p:cNvSpPr>
            <a:spLocks noChangeArrowheads="1"/>
          </p:cNvSpPr>
          <p:nvPr/>
        </p:nvSpPr>
        <p:spPr bwMode="auto">
          <a:xfrm>
            <a:off x="0" y="1053709"/>
            <a:ext cx="7748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eaLnBrk="0" hangingPunct="0">
              <a:buFont typeface="Wingdings" panose="05000000000000000000" pitchFamily="2" charset="2"/>
              <a:buChar char="Ø"/>
            </a:pPr>
            <a:r>
              <a:rPr lang="zh-CN" altLang="en-US" sz="2400" b="1" dirty="0">
                <a:solidFill>
                  <a:srgbClr val="000000"/>
                </a:solidFill>
                <a:latin typeface="华文楷体" panose="02010600040101010101" pitchFamily="2" charset="-122"/>
                <a:ea typeface="华文楷体" panose="02010600040101010101" pitchFamily="2" charset="-122"/>
              </a:rPr>
              <a:t>二选</a:t>
            </a:r>
            <a:r>
              <a:rPr lang="zh-CN" altLang="en-US" sz="2400" b="1" dirty="0" smtClean="0">
                <a:solidFill>
                  <a:srgbClr val="000000"/>
                </a:solidFill>
                <a:latin typeface="华文楷体" panose="02010600040101010101" pitchFamily="2" charset="-122"/>
                <a:ea typeface="华文楷体" panose="02010600040101010101" pitchFamily="2" charset="-122"/>
              </a:rPr>
              <a:t>一数据选择器仿真电路图（结构型、门级网表）</a:t>
            </a:r>
            <a:endParaRPr lang="zh-CN" altLang="en-US" sz="2400" b="1" dirty="0">
              <a:latin typeface="华文楷体" panose="02010600040101010101" pitchFamily="2" charset="-122"/>
              <a:ea typeface="华文楷体" panose="02010600040101010101" pitchFamily="2" charset="-122"/>
            </a:endParaRPr>
          </a:p>
        </p:txBody>
      </p:sp>
      <p:sp>
        <p:nvSpPr>
          <p:cNvPr id="8" name="Text Box 1"/>
          <p:cNvSpPr txBox="1">
            <a:spLocks noChangeArrowheads="1"/>
          </p:cNvSpPr>
          <p:nvPr/>
        </p:nvSpPr>
        <p:spPr bwMode="auto">
          <a:xfrm>
            <a:off x="1226370" y="3939952"/>
            <a:ext cx="7450086" cy="2592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000" b="1">
                <a:solidFill>
                  <a:srgbClr val="FF0000"/>
                </a:solidFill>
                <a:latin typeface="Times New Roman" panose="02020603050405020304" pitchFamily="18" charset="0"/>
                <a:ea typeface="黑体" panose="02010609060101010101" pitchFamily="2" charset="-122"/>
              </a:defRPr>
            </a:lvl1pPr>
            <a:lvl2pPr marL="742950" indent="-285750" eaLnBrk="0" hangingPunct="0">
              <a:defRPr kumimoji="1" sz="3000" b="1">
                <a:solidFill>
                  <a:srgbClr val="FF0000"/>
                </a:solidFill>
                <a:latin typeface="Times New Roman" panose="02020603050405020304" pitchFamily="18" charset="0"/>
                <a:ea typeface="黑体" panose="02010609060101010101" pitchFamily="2" charset="-122"/>
              </a:defRPr>
            </a:lvl2pPr>
            <a:lvl3pPr marL="1143000" indent="-228600" eaLnBrk="0" hangingPunct="0">
              <a:defRPr kumimoji="1" sz="3000" b="1">
                <a:solidFill>
                  <a:srgbClr val="FF0000"/>
                </a:solidFill>
                <a:latin typeface="Times New Roman" panose="02020603050405020304" pitchFamily="18" charset="0"/>
                <a:ea typeface="黑体" panose="02010609060101010101" pitchFamily="2" charset="-122"/>
              </a:defRPr>
            </a:lvl3pPr>
            <a:lvl4pPr marL="1600200" indent="-228600" eaLnBrk="0" hangingPunct="0">
              <a:defRPr kumimoji="1" sz="3000" b="1">
                <a:solidFill>
                  <a:srgbClr val="FF0000"/>
                </a:solidFill>
                <a:latin typeface="Times New Roman" panose="02020603050405020304" pitchFamily="18" charset="0"/>
                <a:ea typeface="黑体" panose="02010609060101010101" pitchFamily="2" charset="-122"/>
              </a:defRPr>
            </a:lvl4pPr>
            <a:lvl5pPr marL="2057400" indent="-228600" eaLnBrk="0" hangingPunct="0">
              <a:defRPr kumimoji="1" sz="3000" b="1">
                <a:solidFill>
                  <a:srgbClr val="FF0000"/>
                </a:solidFill>
                <a:latin typeface="Times New Roman" panose="02020603050405020304" pitchFamily="18" charset="0"/>
                <a:ea typeface="黑体" panose="02010609060101010101" pitchFamily="2" charset="-122"/>
              </a:defRPr>
            </a:lvl5pPr>
            <a:lvl6pPr marL="25146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6pPr>
            <a:lvl7pPr marL="29718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7pPr>
            <a:lvl8pPr marL="34290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8pPr>
            <a:lvl9pPr marL="3886200" indent="-228600" eaLnBrk="0" fontAlgn="base" hangingPunct="0">
              <a:lnSpc>
                <a:spcPct val="110000"/>
              </a:lnSpc>
              <a:spcBef>
                <a:spcPct val="0"/>
              </a:spcBef>
              <a:spcAft>
                <a:spcPct val="0"/>
              </a:spcAft>
              <a:defRPr kumimoji="1" sz="3000" b="1">
                <a:solidFill>
                  <a:srgbClr val="FF0000"/>
                </a:solidFill>
                <a:latin typeface="Times New Roman" panose="02020603050405020304" pitchFamily="18" charset="0"/>
                <a:ea typeface="黑体" panose="02010609060101010101" pitchFamily="2" charset="-122"/>
              </a:defRPr>
            </a:lvl9pPr>
          </a:lstStyle>
          <a:p>
            <a:r>
              <a:rPr lang="en-US" altLang="zh-CN" sz="1800" dirty="0" smtClean="0">
                <a:solidFill>
                  <a:srgbClr val="000000"/>
                </a:solidFill>
              </a:rPr>
              <a:t>module </a:t>
            </a:r>
            <a:r>
              <a:rPr lang="en-US" altLang="zh-CN" sz="1800" dirty="0">
                <a:solidFill>
                  <a:srgbClr val="000000"/>
                </a:solidFill>
              </a:rPr>
              <a:t>mux21(y, a, b, s);</a:t>
            </a:r>
          </a:p>
          <a:p>
            <a:pPr>
              <a:lnSpc>
                <a:spcPct val="100000"/>
              </a:lnSpc>
            </a:pPr>
            <a:r>
              <a:rPr lang="en-US" altLang="zh-CN" sz="1800" dirty="0">
                <a:solidFill>
                  <a:srgbClr val="000000"/>
                </a:solidFill>
              </a:rPr>
              <a:t>  input a, b, s;</a:t>
            </a:r>
          </a:p>
          <a:p>
            <a:pPr>
              <a:lnSpc>
                <a:spcPct val="100000"/>
              </a:lnSpc>
            </a:pPr>
            <a:r>
              <a:rPr lang="en-US" altLang="zh-CN" sz="1800" dirty="0">
                <a:solidFill>
                  <a:srgbClr val="000000"/>
                </a:solidFill>
              </a:rPr>
              <a:t>  output y;</a:t>
            </a:r>
          </a:p>
          <a:p>
            <a:pPr>
              <a:lnSpc>
                <a:spcPct val="100000"/>
              </a:lnSpc>
            </a:pPr>
            <a:r>
              <a:rPr lang="en-US" altLang="zh-CN" sz="1800" dirty="0">
                <a:solidFill>
                  <a:srgbClr val="000000"/>
                </a:solidFill>
              </a:rPr>
              <a:t>      not u1 (ns, s); </a:t>
            </a:r>
            <a:r>
              <a:rPr lang="en-US" altLang="zh-CN" sz="1800" dirty="0" smtClean="0">
                <a:solidFill>
                  <a:srgbClr val="000000"/>
                </a:solidFill>
              </a:rPr>
              <a:t>                     </a:t>
            </a:r>
            <a:r>
              <a:rPr lang="en-US" altLang="zh-CN" sz="1800" dirty="0" smtClean="0">
                <a:solidFill>
                  <a:schemeClr val="tx1"/>
                </a:solidFill>
              </a:rPr>
              <a:t>//----------------------------------</a:t>
            </a:r>
            <a:r>
              <a:rPr lang="en-US" altLang="zh-CN" sz="1800" dirty="0">
                <a:solidFill>
                  <a:schemeClr val="tx1"/>
                </a:solidFill>
              </a:rPr>
              <a:t>1</a:t>
            </a:r>
            <a:endParaRPr lang="en-US" altLang="zh-CN" sz="1800" dirty="0">
              <a:solidFill>
                <a:srgbClr val="000000"/>
              </a:solidFill>
            </a:endParaRPr>
          </a:p>
          <a:p>
            <a:pPr>
              <a:lnSpc>
                <a:spcPct val="100000"/>
              </a:lnSpc>
            </a:pPr>
            <a:r>
              <a:rPr lang="en-US" altLang="zh-CN" sz="1800" dirty="0">
                <a:solidFill>
                  <a:srgbClr val="000000"/>
                </a:solidFill>
              </a:rPr>
              <a:t>      and u2 (</a:t>
            </a:r>
            <a:r>
              <a:rPr lang="en-US" altLang="zh-CN" sz="1800" dirty="0" err="1">
                <a:solidFill>
                  <a:srgbClr val="000000"/>
                </a:solidFill>
              </a:rPr>
              <a:t>sela</a:t>
            </a:r>
            <a:r>
              <a:rPr lang="en-US" altLang="zh-CN" sz="1800" dirty="0">
                <a:solidFill>
                  <a:srgbClr val="000000"/>
                </a:solidFill>
              </a:rPr>
              <a:t>, a, ns</a:t>
            </a:r>
            <a:r>
              <a:rPr lang="en-US" altLang="zh-CN" sz="1800" dirty="0" smtClean="0">
                <a:solidFill>
                  <a:srgbClr val="000000"/>
                </a:solidFill>
              </a:rPr>
              <a:t>);            </a:t>
            </a:r>
            <a:r>
              <a:rPr lang="en-US" altLang="zh-CN" sz="1800" dirty="0" smtClean="0">
                <a:solidFill>
                  <a:schemeClr val="tx1"/>
                </a:solidFill>
              </a:rPr>
              <a:t>//----------------------------------2</a:t>
            </a:r>
            <a:endParaRPr lang="en-US" altLang="zh-CN" sz="1800" dirty="0">
              <a:solidFill>
                <a:srgbClr val="000000"/>
              </a:solidFill>
            </a:endParaRPr>
          </a:p>
          <a:p>
            <a:pPr>
              <a:lnSpc>
                <a:spcPct val="100000"/>
              </a:lnSpc>
            </a:pPr>
            <a:r>
              <a:rPr lang="en-US" altLang="zh-CN" sz="1800" dirty="0">
                <a:solidFill>
                  <a:srgbClr val="000000"/>
                </a:solidFill>
              </a:rPr>
              <a:t>      and u3 (</a:t>
            </a:r>
            <a:r>
              <a:rPr lang="en-US" altLang="zh-CN" sz="1800" dirty="0" err="1">
                <a:solidFill>
                  <a:srgbClr val="000000"/>
                </a:solidFill>
              </a:rPr>
              <a:t>selb</a:t>
            </a:r>
            <a:r>
              <a:rPr lang="en-US" altLang="zh-CN" sz="1800" dirty="0">
                <a:solidFill>
                  <a:srgbClr val="000000"/>
                </a:solidFill>
              </a:rPr>
              <a:t>, b, s</a:t>
            </a:r>
            <a:r>
              <a:rPr lang="en-US" altLang="zh-CN" sz="1800" dirty="0" smtClean="0">
                <a:solidFill>
                  <a:srgbClr val="000000"/>
                </a:solidFill>
              </a:rPr>
              <a:t>);</a:t>
            </a:r>
            <a:r>
              <a:rPr lang="en-US" altLang="zh-CN" sz="1800" dirty="0">
                <a:solidFill>
                  <a:schemeClr val="tx1"/>
                </a:solidFill>
              </a:rPr>
              <a:t> </a:t>
            </a:r>
            <a:r>
              <a:rPr lang="en-US" altLang="zh-CN" sz="1800" dirty="0" smtClean="0">
                <a:solidFill>
                  <a:schemeClr val="tx1"/>
                </a:solidFill>
              </a:rPr>
              <a:t>             //----------------------------------3</a:t>
            </a:r>
            <a:endParaRPr lang="en-US" altLang="zh-CN" sz="1800" dirty="0">
              <a:solidFill>
                <a:srgbClr val="000000"/>
              </a:solidFill>
            </a:endParaRPr>
          </a:p>
          <a:p>
            <a:pPr>
              <a:lnSpc>
                <a:spcPct val="100000"/>
              </a:lnSpc>
            </a:pPr>
            <a:r>
              <a:rPr lang="en-US" altLang="zh-CN" sz="1800" dirty="0">
                <a:solidFill>
                  <a:srgbClr val="000000"/>
                </a:solidFill>
              </a:rPr>
              <a:t>      or u4 (y, </a:t>
            </a:r>
            <a:r>
              <a:rPr lang="en-US" altLang="zh-CN" sz="1800" dirty="0" err="1">
                <a:solidFill>
                  <a:srgbClr val="000000"/>
                </a:solidFill>
              </a:rPr>
              <a:t>sela</a:t>
            </a:r>
            <a:r>
              <a:rPr lang="en-US" altLang="zh-CN" sz="1800" dirty="0">
                <a:solidFill>
                  <a:srgbClr val="000000"/>
                </a:solidFill>
              </a:rPr>
              <a:t>, </a:t>
            </a:r>
            <a:r>
              <a:rPr lang="en-US" altLang="zh-CN" sz="1800" dirty="0" err="1">
                <a:solidFill>
                  <a:srgbClr val="000000"/>
                </a:solidFill>
              </a:rPr>
              <a:t>selb</a:t>
            </a:r>
            <a:r>
              <a:rPr lang="en-US" altLang="zh-CN" sz="1800" dirty="0" smtClean="0">
                <a:solidFill>
                  <a:srgbClr val="000000"/>
                </a:solidFill>
              </a:rPr>
              <a:t>);</a:t>
            </a:r>
            <a:r>
              <a:rPr lang="en-US" altLang="zh-CN" sz="1800" dirty="0">
                <a:solidFill>
                  <a:schemeClr val="tx1"/>
                </a:solidFill>
              </a:rPr>
              <a:t> </a:t>
            </a:r>
            <a:r>
              <a:rPr lang="en-US" altLang="zh-CN" sz="1800" dirty="0" smtClean="0">
                <a:solidFill>
                  <a:schemeClr val="tx1"/>
                </a:solidFill>
              </a:rPr>
              <a:t>           //----------------------------------4</a:t>
            </a:r>
            <a:endParaRPr lang="en-US" altLang="zh-CN" sz="1800" dirty="0">
              <a:solidFill>
                <a:srgbClr val="000000"/>
              </a:solidFill>
            </a:endParaRPr>
          </a:p>
          <a:p>
            <a:pPr>
              <a:lnSpc>
                <a:spcPct val="100000"/>
              </a:lnSpc>
            </a:pPr>
            <a:r>
              <a:rPr lang="en-US" altLang="zh-CN" sz="1800" dirty="0" err="1">
                <a:solidFill>
                  <a:srgbClr val="000000"/>
                </a:solidFill>
              </a:rPr>
              <a:t>endmodule</a:t>
            </a:r>
            <a:endParaRPr lang="en-US" altLang="zh-CN" sz="1800" dirty="0">
              <a:solidFill>
                <a:srgbClr val="000000"/>
              </a:solidFill>
            </a:endParaRPr>
          </a:p>
          <a:p>
            <a:pPr>
              <a:lnSpc>
                <a:spcPct val="100000"/>
              </a:lnSpc>
            </a:pPr>
            <a:r>
              <a:rPr lang="en-US" altLang="zh-CN" sz="1800" dirty="0">
                <a:solidFill>
                  <a:srgbClr val="000000"/>
                </a:solidFill>
              </a:rPr>
              <a:t>		</a:t>
            </a:r>
          </a:p>
          <a:p>
            <a:pPr>
              <a:lnSpc>
                <a:spcPct val="100000"/>
              </a:lnSpc>
            </a:pPr>
            <a:r>
              <a:rPr lang="en-US" altLang="zh-CN" sz="900" dirty="0"/>
              <a:t>	</a:t>
            </a:r>
            <a:endParaRPr lang="en-US" altLang="zh-CN" dirty="0"/>
          </a:p>
        </p:txBody>
      </p:sp>
    </p:spTree>
    <p:extLst>
      <p:ext uri="{BB962C8B-B14F-4D97-AF65-F5344CB8AC3E}">
        <p14:creationId xmlns:p14="http://schemas.microsoft.com/office/powerpoint/2010/main" val="259939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216" y="1412776"/>
            <a:ext cx="9142783" cy="461665"/>
          </a:xfrm>
          <a:prstGeom prst="rect">
            <a:avLst/>
          </a:prstGeom>
        </p:spPr>
        <p:txBody>
          <a:bodyPr wrap="square">
            <a:spAutoFit/>
          </a:bodyPr>
          <a:lstStyle/>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Synopsys</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：新思科技，</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全球集成电路</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设计</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EDA</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软件工具</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的主导企业</a:t>
            </a:r>
          </a:p>
        </p:txBody>
      </p: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AutoShape 2" descr="https://bkimg.cdn.bcebos.com/pic/9f2f070828381f30c01c5783ab014c086e06f097?x-bce-process=image/resize,m_lfit,w_268,limit_1/format,f_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https://bkimg.cdn.bcebos.com/pic/9f2f070828381f30c01c5783ab014c086e06f097?x-bce-process=image/resize,m_lfit,w_268,limit_1/format,f_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6" descr="https://upload.semidata.info/new.eefocus.com/article/image/2019/02/01/5c54155c8e5e2-thumb.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8" descr="https://upload.semidata.info/new.eefocus.com/article/image/2019/02/01/5c54155c8e5e2-thumb.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10" descr="https://upload.semidata.info/new.eefocus.com/article/image/2019/02/01/5c54155c8e5e2-thumb.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12" descr="https://upload.semidata.info/new.eefocus.com/article/image/2019/02/01/5c54155c8e5e2-thumb.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8" name="Picture 14" descr="https://bkimg.cdn.bcebos.com/pic/9f2f070828381f30c01c5783ab014c086e06f097?x-bce-process=image/watermark,g_7,image_d2F0ZXIvYmFpa2U4MA==,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470" y="2852936"/>
            <a:ext cx="6242389" cy="168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26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AutoShape 2" descr="https://bkimg.cdn.bcebos.com/pic/9f2f070828381f30c01c5783ab014c086e06f097?x-bce-process=image/resize,m_lfit,w_268,limit_1/format,f_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https://bkimg.cdn.bcebos.com/pic/9f2f070828381f30c01c5783ab014c086e06f097?x-bce-process=image/resize,m_lfit,w_268,limit_1/format,f_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6" descr="https://upload.semidata.info/new.eefocus.com/article/image/2019/02/01/5c54155c8e5e2-thumb.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8" descr="https://upload.semidata.info/new.eefocus.com/article/image/2019/02/01/5c54155c8e5e2-thumb.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10" descr="https://upload.semidata.info/new.eefocus.com/article/image/2019/02/01/5c54155c8e5e2-thumb.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12" descr="https://upload.semidata.info/new.eefocus.com/article/image/2019/02/01/5c54155c8e5e2-thumb.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40" name="Picture 16" descr="https://upload.semidata.info/new.eefocus.com/article/image/2019/02/01/5c54155c8e5e2-thum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312" y="3676650"/>
            <a:ext cx="4762500" cy="31813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p1.pstatp.com/large/pgc-image/818f6d13332b4ba3b17dd803d7953aa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912" y="1119793"/>
            <a:ext cx="8296275" cy="2370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12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016673"/>
            <a:ext cx="2830455" cy="461665"/>
          </a:xfrm>
          <a:prstGeom prst="rect">
            <a:avLst/>
          </a:prstGeom>
        </p:spPr>
        <p:txBody>
          <a:bodyPr wrap="none">
            <a:spAutoFit/>
          </a:bodyPr>
          <a:lstStyle/>
          <a:p>
            <a:pPr marL="285750" indent="-285750">
              <a:buFont typeface="Wingdings" panose="05000000000000000000" pitchFamily="2" charset="2"/>
              <a:buChar char="Ø"/>
            </a:pPr>
            <a:r>
              <a:rPr lang="en-US" altLang="zh-CN" sz="2400" b="1" dirty="0">
                <a:latin typeface="Times New Roman" panose="02020603050405020304" pitchFamily="18" charset="0"/>
                <a:cs typeface="Times New Roman" panose="02020603050405020304" pitchFamily="18" charset="0"/>
              </a:rPr>
              <a:t>Sentaurus </a:t>
            </a:r>
            <a:r>
              <a:rPr lang="en-US" altLang="zh-CN" sz="2400" b="1" dirty="0" smtClean="0">
                <a:latin typeface="Times New Roman" panose="02020603050405020304" pitchFamily="18" charset="0"/>
                <a:cs typeface="Times New Roman" panose="02020603050405020304" pitchFamily="18" charset="0"/>
              </a:rPr>
              <a:t> TCAD</a:t>
            </a:r>
            <a:endParaRPr lang="zh-CN" altLang="en-US" sz="2400" b="1"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1016673"/>
            <a:ext cx="3744416" cy="5800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474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 name="Picture 2" descr="https://upload.semidata.info/new.eefocus.com/article/image/2019/02/01/5c54155d10f34-thum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772" y="1172142"/>
            <a:ext cx="6912246" cy="5626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1475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062514"/>
            <a:ext cx="9036496" cy="1200329"/>
          </a:xfrm>
          <a:prstGeom prst="rect">
            <a:avLst/>
          </a:prstGeom>
        </p:spPr>
        <p:txBody>
          <a:bodyPr wrap="squar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器件仿真的物理</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基础</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）泊松方程：</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描述电场与电荷关系的重要方程</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2626043"/>
            <a:ext cx="2352675"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30296" y="3393440"/>
            <a:ext cx="1731564" cy="461665"/>
          </a:xfrm>
          <a:prstGeom prst="rect">
            <a:avLst/>
          </a:prstGeom>
        </p:spPr>
        <p:txBody>
          <a:bodyPr wrap="non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一维形式下</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94" y="4014192"/>
            <a:ext cx="356235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0" y="5301208"/>
            <a:ext cx="9144000" cy="830997"/>
          </a:xfrm>
          <a:prstGeom prst="rect">
            <a:avLst/>
          </a:prstGeom>
        </p:spPr>
        <p:txBody>
          <a:bodyPr wrap="square">
            <a:spAutoFit/>
          </a:bodyPr>
          <a:lstStyle/>
          <a:p>
            <a:pPr lvl="0"/>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上述公式在半导体器件研究中经常用到，如确定耗尽层内</a:t>
            </a:r>
            <a:r>
              <a:rPr lang="zh-CN"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电荷密度引起</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的电势</a:t>
            </a:r>
          </a:p>
        </p:txBody>
      </p:sp>
    </p:spTree>
    <p:extLst>
      <p:ext uri="{BB962C8B-B14F-4D97-AF65-F5344CB8AC3E}">
        <p14:creationId xmlns:p14="http://schemas.microsoft.com/office/powerpoint/2010/main" val="340425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30574"/>
            <a:ext cx="9144000" cy="830997"/>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）输运方程：</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表示半导体中载流子的输运过程，也称为电流密度方程</a:t>
            </a:r>
          </a:p>
        </p:txBody>
      </p:sp>
      <p:sp>
        <p:nvSpPr>
          <p:cNvPr id="6" name="TextBox 5"/>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1352" y="2060848"/>
            <a:ext cx="3286125"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96" y="4581128"/>
            <a:ext cx="9073009" cy="10486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110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30574"/>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）连续性方程：</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描述了半导体中物理量与时间之间的关系</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1988840"/>
            <a:ext cx="3143250" cy="1533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1" y="4149080"/>
            <a:ext cx="9126240" cy="792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094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30574"/>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）有限元网格划分</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459447"/>
            <a:ext cx="5976664" cy="53201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50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30574"/>
            <a:ext cx="9144000" cy="1569660"/>
          </a:xfrm>
          <a:prstGeom prst="rect">
            <a:avLst/>
          </a:prstGeom>
        </p:spPr>
        <p:txBody>
          <a:bodyPr wrap="squar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仿真中</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的主要器件模型</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 typeface="Wingdings" panose="05000000000000000000" pitchFamily="2" charset="2"/>
              <a:buChar char="Ø"/>
            </a:pP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）产生</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复合模型，包括了</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SRH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复合模型、辐射复合模型、俄歇</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复合</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模型和表面复合模型</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8" y="2780928"/>
            <a:ext cx="9150504" cy="704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56" y="3921089"/>
            <a:ext cx="2724150" cy="2409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3386" y="3957134"/>
            <a:ext cx="6153298" cy="2380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04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86" y="1268760"/>
            <a:ext cx="9036496" cy="161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6071" y="3428999"/>
            <a:ext cx="446722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7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30574"/>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）迁移率模型</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700808"/>
            <a:ext cx="5505450"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336266"/>
            <a:ext cx="9089070" cy="3888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87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30574"/>
            <a:ext cx="9144000" cy="3785652"/>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）能带结构模型</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费米分布函数</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温度效应</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禁带变窄效应</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7311" y="2996952"/>
            <a:ext cx="379095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816226"/>
            <a:ext cx="6840760" cy="1060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1449723"/>
            <a:ext cx="3719513"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2610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3523722" cy="584775"/>
          </a:xfrm>
          <a:prstGeom prst="rect">
            <a:avLst/>
          </a:prstGeom>
          <a:noFill/>
        </p:spPr>
        <p:txBody>
          <a:bodyPr wrap="none" rtlCol="0">
            <a:spAutoFit/>
          </a:bodyPr>
          <a:lstStyle/>
          <a:p>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EDA</a:t>
            </a:r>
            <a:r>
              <a:rPr lang="zh-CN" altLang="en-US" sz="3200" b="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简介</a:t>
            </a:r>
            <a:endParaRPr lang="en-US" altLang="zh-CN" sz="3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30574"/>
            <a:ext cx="9144000" cy="461665"/>
          </a:xfrm>
          <a:prstGeom prst="rect">
            <a:avLst/>
          </a:prstGeom>
        </p:spPr>
        <p:txBody>
          <a:bodyPr wrap="square">
            <a:spAutoFit/>
          </a:bodyPr>
          <a:lstStyle/>
          <a:p>
            <a:pPr marL="342900" indent="-342900">
              <a:buFont typeface="Wingdings" panose="05000000000000000000" pitchFamily="2" charset="2"/>
              <a:buChar char="Ø"/>
            </a:pP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Silvaco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产品分布图</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660" y="1570695"/>
            <a:ext cx="8327975" cy="4301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13139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1082</TotalTime>
  <Words>1029</Words>
  <Application>Microsoft Office PowerPoint</Application>
  <PresentationFormat>全屏显示(4:3)</PresentationFormat>
  <Paragraphs>168</Paragraphs>
  <Slides>52</Slides>
  <Notes>0</Notes>
  <HiddenSlides>0</HiddenSlides>
  <MMClips>0</MMClips>
  <ScaleCrop>false</ScaleCrop>
  <HeadingPairs>
    <vt:vector size="4" baseType="variant">
      <vt:variant>
        <vt:lpstr>主题</vt:lpstr>
      </vt:variant>
      <vt:variant>
        <vt:i4>1</vt:i4>
      </vt:variant>
      <vt:variant>
        <vt:lpstr>幻灯片标题</vt:lpstr>
      </vt:variant>
      <vt:variant>
        <vt:i4>52</vt:i4>
      </vt:variant>
    </vt:vector>
  </HeadingPairs>
  <TitlesOfParts>
    <vt:vector size="53" baseType="lpstr">
      <vt:lpstr>Office 主题​​</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个人用户</cp:lastModifiedBy>
  <cp:revision>22</cp:revision>
  <dcterms:created xsi:type="dcterms:W3CDTF">2020-03-02T08:28:07Z</dcterms:created>
  <dcterms:modified xsi:type="dcterms:W3CDTF">2021-03-01T01:56:26Z</dcterms:modified>
</cp:coreProperties>
</file>