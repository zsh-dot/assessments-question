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50" r:id="rId3"/>
    <p:sldId id="311" r:id="rId4"/>
    <p:sldId id="349" r:id="rId5"/>
    <p:sldId id="351" r:id="rId6"/>
    <p:sldId id="352" r:id="rId7"/>
    <p:sldId id="353" r:id="rId8"/>
    <p:sldId id="354" r:id="rId9"/>
    <p:sldId id="355" r:id="rId10"/>
    <p:sldId id="348" r:id="rId11"/>
    <p:sldId id="312" r:id="rId12"/>
    <p:sldId id="313" r:id="rId13"/>
    <p:sldId id="314" r:id="rId14"/>
    <p:sldId id="356" r:id="rId15"/>
    <p:sldId id="317" r:id="rId16"/>
    <p:sldId id="318" r:id="rId17"/>
    <p:sldId id="319" r:id="rId18"/>
    <p:sldId id="324" r:id="rId19"/>
    <p:sldId id="325" r:id="rId20"/>
    <p:sldId id="357" r:id="rId21"/>
    <p:sldId id="358" r:id="rId22"/>
    <p:sldId id="360" r:id="rId23"/>
    <p:sldId id="362" r:id="rId24"/>
    <p:sldId id="361" r:id="rId25"/>
    <p:sldId id="364" r:id="rId26"/>
    <p:sldId id="359" r:id="rId27"/>
    <p:sldId id="363" r:id="rId28"/>
    <p:sldId id="365" r:id="rId29"/>
    <p:sldId id="367" r:id="rId30"/>
    <p:sldId id="366" r:id="rId31"/>
    <p:sldId id="326" r:id="rId32"/>
    <p:sldId id="327" r:id="rId33"/>
    <p:sldId id="328" r:id="rId34"/>
    <p:sldId id="329" r:id="rId35"/>
    <p:sldId id="330" r:id="rId36"/>
    <p:sldId id="331" r:id="rId37"/>
    <p:sldId id="332" r:id="rId38"/>
    <p:sldId id="333" r:id="rId39"/>
    <p:sldId id="334" r:id="rId40"/>
    <p:sldId id="335" r:id="rId41"/>
    <p:sldId id="336" r:id="rId42"/>
    <p:sldId id="337" r:id="rId43"/>
    <p:sldId id="338" r:id="rId44"/>
    <p:sldId id="339" r:id="rId45"/>
    <p:sldId id="340" r:id="rId46"/>
    <p:sldId id="341" r:id="rId47"/>
    <p:sldId id="347" r:id="rId4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autoAdjust="0"/>
    <p:restoredTop sz="94660"/>
  </p:normalViewPr>
  <p:slideViewPr>
    <p:cSldViewPr>
      <p:cViewPr>
        <p:scale>
          <a:sx n="70" d="100"/>
          <a:sy n="70" d="100"/>
        </p:scale>
        <p:origin x="-1578"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2803461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3197960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2846177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2535309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118689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2966560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122493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1674791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503099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3645562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7078C83-53E9-4354-A834-8623ABCE5E61}" type="datetimeFigureOut">
              <a:rPr lang="zh-CN" altLang="en-US" smtClean="0"/>
              <a:t>2021/5/30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283363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078C83-53E9-4354-A834-8623ABCE5E61}" type="datetimeFigureOut">
              <a:rPr lang="zh-CN" altLang="en-US" smtClean="0"/>
              <a:t>2021/5/30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9A9EFD-BAFE-4A2D-8369-6659160D51FC}" type="slidenum">
              <a:rPr lang="zh-CN" altLang="en-US" smtClean="0"/>
              <a:t>‹#›</a:t>
            </a:fld>
            <a:endParaRPr lang="zh-CN" altLang="en-US"/>
          </a:p>
        </p:txBody>
      </p:sp>
    </p:spTree>
    <p:extLst>
      <p:ext uri="{BB962C8B-B14F-4D97-AF65-F5344CB8AC3E}">
        <p14:creationId xmlns:p14="http://schemas.microsoft.com/office/powerpoint/2010/main" val="3556668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755650" y="1339850"/>
            <a:ext cx="7772400" cy="1873250"/>
          </a:xfrm>
        </p:spPr>
        <p:txBody>
          <a:bodyPr/>
          <a:lstStyle/>
          <a:p>
            <a:pPr lvl="0">
              <a:defRPr/>
            </a:pP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4800" b="1" dirty="0" smtClean="0">
                <a:latin typeface="Times New Roman" panose="02020603050405020304" pitchFamily="18" charset="0"/>
                <a:ea typeface="楷体" panose="02010609060101010101" pitchFamily="49" charset="-122"/>
                <a:cs typeface="Times New Roman" panose="02020603050405020304" pitchFamily="18" charset="0"/>
              </a:rPr>
              <a:t>EDA</a:t>
            </a: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技术</a:t>
            </a:r>
          </a:p>
        </p:txBody>
      </p:sp>
      <p:grpSp>
        <p:nvGrpSpPr>
          <p:cNvPr id="7172" name="Group 4"/>
          <p:cNvGrpSpPr>
            <a:grpSpLocks/>
          </p:cNvGrpSpPr>
          <p:nvPr/>
        </p:nvGrpSpPr>
        <p:grpSpPr bwMode="auto">
          <a:xfrm>
            <a:off x="250825" y="3357563"/>
            <a:ext cx="8610600" cy="201612"/>
            <a:chOff x="144" y="1680"/>
            <a:chExt cx="5424" cy="144"/>
          </a:xfrm>
        </p:grpSpPr>
        <p:sp>
          <p:nvSpPr>
            <p:cNvPr id="7175" name="Rectangle 5"/>
            <p:cNvSpPr>
              <a:spLocks noChangeArrowheads="1"/>
            </p:cNvSpPr>
            <p:nvPr/>
          </p:nvSpPr>
          <p:spPr bwMode="auto">
            <a:xfrm>
              <a:off x="144"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6" name="Rectangle 6"/>
            <p:cNvSpPr>
              <a:spLocks noChangeArrowheads="1"/>
            </p:cNvSpPr>
            <p:nvPr/>
          </p:nvSpPr>
          <p:spPr bwMode="auto">
            <a:xfrm>
              <a:off x="1952" y="1680"/>
              <a:ext cx="1808" cy="144"/>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7" name="Rectangle 7"/>
            <p:cNvSpPr>
              <a:spLocks noChangeArrowheads="1"/>
            </p:cNvSpPr>
            <p:nvPr/>
          </p:nvSpPr>
          <p:spPr bwMode="auto">
            <a:xfrm>
              <a:off x="3760"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pSp>
      <p:pic>
        <p:nvPicPr>
          <p:cNvPr id="717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3857628"/>
            <a:ext cx="40671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p:cNvSpPr txBox="1">
            <a:spLocks/>
          </p:cNvSpPr>
          <p:nvPr/>
        </p:nvSpPr>
        <p:spPr>
          <a:xfrm>
            <a:off x="467544" y="3562623"/>
            <a:ext cx="7772400" cy="1873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11</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、外延</a:t>
            </a:r>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&amp;</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抛光</a:t>
            </a:r>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&amp;</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光刻</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76876598"/>
      </p:ext>
    </p:extLst>
  </p:cSld>
  <p:clrMapOvr>
    <a:masterClrMapping/>
  </p:clrMapOvr>
  <p:transition advTm="2234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（外延）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7848" y="1196752"/>
            <a:ext cx="9162663" cy="461665"/>
          </a:xfrm>
          <a:prstGeom prst="rect">
            <a:avLst/>
          </a:prstGeom>
        </p:spPr>
        <p:txBody>
          <a:bodyPr wrap="square">
            <a:spAutoFit/>
          </a:bodyPr>
          <a:lstStyle/>
          <a:p>
            <a:pPr marL="342900" indent="-342900">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淀积与外延</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矩形 3"/>
          <p:cNvSpPr/>
          <p:nvPr/>
        </p:nvSpPr>
        <p:spPr>
          <a:xfrm>
            <a:off x="45354" y="1732801"/>
            <a:ext cx="9135157" cy="1065613"/>
          </a:xfrm>
          <a:prstGeom prst="rect">
            <a:avLst/>
          </a:prstGeom>
        </p:spPr>
        <p:txBody>
          <a:bodyPr wrap="square">
            <a:spAutoFit/>
          </a:bodyPr>
          <a:lstStyle/>
          <a:p>
            <a:pPr>
              <a:lnSpc>
                <a:spcPct val="140000"/>
              </a:lnSpc>
            </a:pPr>
            <a:r>
              <a:rPr lang="zh-CN" altLang="en-AU" sz="2400" b="1" dirty="0">
                <a:latin typeface="Times New Roman" panose="02020603050405020304" pitchFamily="18" charset="0"/>
                <a:ea typeface="楷体" panose="02010609060101010101" pitchFamily="49" charset="-122"/>
                <a:cs typeface="Times New Roman" panose="02020603050405020304" pitchFamily="18" charset="0"/>
              </a:rPr>
              <a:t>淀积是指在</a:t>
            </a:r>
            <a:r>
              <a:rPr lang="en-AU" altLang="zh-CN" sz="2400" b="1" dirty="0">
                <a:latin typeface="Times New Roman" panose="02020603050405020304" pitchFamily="18" charset="0"/>
                <a:ea typeface="楷体" panose="02010609060101010101" pitchFamily="49" charset="-122"/>
                <a:cs typeface="Times New Roman" panose="02020603050405020304" pitchFamily="18" charset="0"/>
              </a:rPr>
              <a:t>wafer</a:t>
            </a:r>
            <a:r>
              <a:rPr lang="zh-CN" altLang="en-AU" sz="2400" b="1" dirty="0">
                <a:latin typeface="Times New Roman" panose="02020603050405020304" pitchFamily="18" charset="0"/>
                <a:ea typeface="楷体" panose="02010609060101010101" pitchFamily="49" charset="-122"/>
                <a:cs typeface="Times New Roman" panose="02020603050405020304" pitchFamily="18" charset="0"/>
              </a:rPr>
              <a:t>上淀积一层膜的工艺，淀积薄膜的工艺有很多种，化学气相淀积、物理气相淀积、蒸发等很多。</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1" y="3429000"/>
            <a:ext cx="9180511"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外延：在单晶衬底上生长一层新的单晶层，晶向取决于衬底</a:t>
            </a:r>
          </a:p>
        </p:txBody>
      </p:sp>
    </p:spTree>
    <p:extLst>
      <p:ext uri="{BB962C8B-B14F-4D97-AF65-F5344CB8AC3E}">
        <p14:creationId xmlns:p14="http://schemas.microsoft.com/office/powerpoint/2010/main" val="858431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（外延）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2970064"/>
            <a:ext cx="9144000" cy="4339650"/>
          </a:xfrm>
          <a:prstGeom prst="rect">
            <a:avLst/>
          </a:prstGeom>
        </p:spPr>
        <p:txBody>
          <a:bodyPr wrap="square">
            <a:spAutoFit/>
          </a:bodyPr>
          <a:lstStyle/>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）反应</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剂被携带气体引入反应器后，在衬底表面附近形成“滞留层”，然后，在主气流中的反应剂越过边界层扩散到硅片</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表面</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反应剂被吸附在硅片表面，并进行化学反应</a:t>
            </a: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化学反应生成的固态物质，即所需要的淀积物，在硅片表面成核、生长成薄膜</a:t>
            </a: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反应后的气相副产物，离开衬底表面，扩散回边界层，并随输运气体排出反应室</a:t>
            </a:r>
          </a:p>
          <a:p>
            <a:endParaRPr lang="en-US" altLang="zh-CN" sz="2400" dirty="0" smtClean="0">
              <a:solidFill>
                <a:srgbClr val="D60093"/>
              </a:solidFill>
              <a:latin typeface="华文中宋" pitchFamily="2" charset="-122"/>
              <a:ea typeface="华文中宋" pitchFamily="2" charset="-122"/>
            </a:endParaRPr>
          </a:p>
        </p:txBody>
      </p:sp>
      <p:sp>
        <p:nvSpPr>
          <p:cNvPr id="7" name="矩形 6"/>
          <p:cNvSpPr/>
          <p:nvPr/>
        </p:nvSpPr>
        <p:spPr>
          <a:xfrm>
            <a:off x="0" y="1268760"/>
            <a:ext cx="9148921" cy="1684244"/>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化学气相淀积（</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CVD</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）是通过气态物质的化学反应在</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wafer</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表面淀积一层固态薄膜的工艺。</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CVD</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法淀积薄膜可用以下几个步骤解释薄膜的生长过程：</a:t>
            </a:r>
          </a:p>
        </p:txBody>
      </p:sp>
    </p:spTree>
    <p:extLst>
      <p:ext uri="{BB962C8B-B14F-4D97-AF65-F5344CB8AC3E}">
        <p14:creationId xmlns:p14="http://schemas.microsoft.com/office/powerpoint/2010/main" val="166478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（外延）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8720" y="1124743"/>
            <a:ext cx="9125279" cy="2238241"/>
          </a:xfrm>
          <a:prstGeom prst="rect">
            <a:avLst/>
          </a:prstGeom>
        </p:spPr>
        <p:txBody>
          <a:bodyPr wrap="square">
            <a:spAutoFit/>
          </a:bodyPr>
          <a:lstStyle/>
          <a:p>
            <a:pPr>
              <a:lnSpc>
                <a:spcPct val="150000"/>
              </a:lnSpc>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）化学气相淀积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Chemical Vapor Deposition (CVD)</a:t>
            </a: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一种或数种物质的气体，以某种方式激活后，在衬底表面发生化学反应，并淀积出所需固体薄膜的生长技术。 </a:t>
            </a: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例如：</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APCVD, LPCVD, PECVD, HDPCVD</a:t>
            </a:r>
          </a:p>
        </p:txBody>
      </p:sp>
      <p:sp>
        <p:nvSpPr>
          <p:cNvPr id="6" name="矩形 5"/>
          <p:cNvSpPr/>
          <p:nvPr/>
        </p:nvSpPr>
        <p:spPr>
          <a:xfrm>
            <a:off x="18720" y="3789040"/>
            <a:ext cx="9134641" cy="2238241"/>
          </a:xfrm>
          <a:prstGeom prst="rect">
            <a:avLst/>
          </a:prstGeom>
        </p:spPr>
        <p:txBody>
          <a:bodyPr wrap="square">
            <a:spAutoFit/>
          </a:bodyPr>
          <a:lstStyle/>
          <a:p>
            <a:pPr>
              <a:lnSpc>
                <a:spcPct val="150000"/>
              </a:lnSpc>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）物理气相淀积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Physical Vapor Deposition (PVD)</a:t>
            </a: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利用某种物理过程实现物质的转移，即将原子或分子转移到衬底（硅）表面上，并淀积成薄膜的技术。</a:t>
            </a: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例如：蒸发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evaporation</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，溅射</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sputtering</a:t>
            </a:r>
          </a:p>
        </p:txBody>
      </p:sp>
    </p:spTree>
    <p:extLst>
      <p:ext uri="{BB962C8B-B14F-4D97-AF65-F5344CB8AC3E}">
        <p14:creationId xmlns:p14="http://schemas.microsoft.com/office/powerpoint/2010/main" val="69274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（外延）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7" name="Rectangle 5"/>
          <p:cNvSpPr>
            <a:spLocks noChangeArrowheads="1"/>
          </p:cNvSpPr>
          <p:nvPr/>
        </p:nvSpPr>
        <p:spPr bwMode="auto">
          <a:xfrm>
            <a:off x="0" y="1196975"/>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marL="342900" indent="-342900" algn="l" eaLnBrk="1" hangingPunct="1">
              <a:buFont typeface="Wingdings" panose="05000000000000000000" pitchFamily="2" charset="2"/>
              <a:buChar char="Ø"/>
            </a:pPr>
            <a:r>
              <a:rPr lang="en-US" altLang="zh-CN" dirty="0">
                <a:solidFill>
                  <a:schemeClr val="tx1"/>
                </a:solidFill>
                <a:ea typeface="楷体" panose="02010609060101010101" pitchFamily="49" charset="-122"/>
                <a:cs typeface="Times New Roman" panose="02020603050405020304" pitchFamily="18" charset="0"/>
              </a:rPr>
              <a:t>“</a:t>
            </a:r>
            <a:r>
              <a:rPr lang="zh-CN" altLang="en-US" dirty="0">
                <a:solidFill>
                  <a:schemeClr val="tx1"/>
                </a:solidFill>
                <a:ea typeface="楷体" panose="02010609060101010101" pitchFamily="49" charset="-122"/>
                <a:cs typeface="Times New Roman" panose="02020603050405020304" pitchFamily="18" charset="0"/>
              </a:rPr>
              <a:t>物理气相沉积” 通常指满足下面三个步骤的一类薄膜生长技术</a:t>
            </a:r>
            <a:r>
              <a:rPr lang="en-US" altLang="zh-CN" dirty="0">
                <a:solidFill>
                  <a:schemeClr val="tx1"/>
                </a:solidFill>
                <a:ea typeface="楷体" panose="02010609060101010101" pitchFamily="49" charset="-122"/>
                <a:cs typeface="Times New Roman" panose="02020603050405020304" pitchFamily="18" charset="0"/>
              </a:rPr>
              <a:t>:</a:t>
            </a:r>
          </a:p>
        </p:txBody>
      </p:sp>
      <p:sp>
        <p:nvSpPr>
          <p:cNvPr id="8" name="Rectangle 7"/>
          <p:cNvSpPr txBox="1">
            <a:spLocks noRot="1" noChangeArrowheads="1"/>
          </p:cNvSpPr>
          <p:nvPr/>
        </p:nvSpPr>
        <p:spPr>
          <a:xfrm>
            <a:off x="0" y="2132856"/>
            <a:ext cx="9144000" cy="3175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kumimoji="1" lang="zh-CN" altLang="en-US" sz="2400" b="1" dirty="0">
                <a:latin typeface="Times New Roman" pitchFamily="18" charset="0"/>
                <a:ea typeface="楷体" panose="02010609060101010101" pitchFamily="49" charset="-122"/>
                <a:cs typeface="Times New Roman" panose="02020603050405020304" pitchFamily="18" charset="0"/>
              </a:rPr>
              <a:t>（</a:t>
            </a:r>
            <a:r>
              <a:rPr kumimoji="1" lang="en-US" altLang="zh-CN" sz="2400" b="1" dirty="0">
                <a:latin typeface="Times New Roman" pitchFamily="18" charset="0"/>
                <a:ea typeface="楷体" panose="02010609060101010101" pitchFamily="49" charset="-122"/>
                <a:cs typeface="Times New Roman" panose="02020603050405020304" pitchFamily="18" charset="0"/>
              </a:rPr>
              <a:t>1</a:t>
            </a:r>
            <a:r>
              <a:rPr kumimoji="1" lang="zh-CN" altLang="en-US" sz="2400" b="1" dirty="0">
                <a:latin typeface="Times New Roman" pitchFamily="18" charset="0"/>
                <a:ea typeface="楷体" panose="02010609060101010101" pitchFamily="49" charset="-122"/>
                <a:cs typeface="Times New Roman" panose="02020603050405020304" pitchFamily="18" charset="0"/>
              </a:rPr>
              <a:t>）所生长的材料以物理的方式由固体转化为气体</a:t>
            </a:r>
          </a:p>
          <a:p>
            <a:pPr marL="609600" indent="-609600">
              <a:lnSpc>
                <a:spcPct val="90000"/>
              </a:lnSpc>
              <a:buFontTx/>
              <a:buAutoNum type="arabicPeriod"/>
            </a:pPr>
            <a:endParaRPr kumimoji="1" lang="zh-CN" altLang="en-US" sz="2400" b="1" dirty="0">
              <a:latin typeface="Times New Roman" pitchFamily="18" charset="0"/>
              <a:ea typeface="楷体" panose="02010609060101010101" pitchFamily="49" charset="-122"/>
              <a:cs typeface="Times New Roman" panose="02020603050405020304" pitchFamily="18" charset="0"/>
            </a:endParaRPr>
          </a:p>
          <a:p>
            <a:pPr marL="0" indent="0">
              <a:lnSpc>
                <a:spcPct val="90000"/>
              </a:lnSpc>
              <a:buNone/>
            </a:pPr>
            <a:r>
              <a:rPr kumimoji="1" lang="zh-CN" altLang="en-US" sz="2400" b="1" dirty="0">
                <a:latin typeface="Times New Roman" pitchFamily="18" charset="0"/>
                <a:ea typeface="楷体" panose="02010609060101010101" pitchFamily="49" charset="-122"/>
                <a:cs typeface="Times New Roman" panose="02020603050405020304" pitchFamily="18" charset="0"/>
              </a:rPr>
              <a:t>（</a:t>
            </a:r>
            <a:r>
              <a:rPr kumimoji="1" lang="en-US" altLang="zh-CN" sz="2400" b="1" dirty="0">
                <a:latin typeface="Times New Roman" pitchFamily="18" charset="0"/>
                <a:ea typeface="楷体" panose="02010609060101010101" pitchFamily="49" charset="-122"/>
                <a:cs typeface="Times New Roman" panose="02020603050405020304" pitchFamily="18" charset="0"/>
              </a:rPr>
              <a:t>2</a:t>
            </a:r>
            <a:r>
              <a:rPr kumimoji="1" lang="zh-CN" altLang="en-US" sz="2400" b="1" dirty="0">
                <a:latin typeface="Times New Roman" pitchFamily="18" charset="0"/>
                <a:ea typeface="楷体" panose="02010609060101010101" pitchFamily="49" charset="-122"/>
                <a:cs typeface="Times New Roman" panose="02020603050405020304" pitchFamily="18" charset="0"/>
              </a:rPr>
              <a:t>）生长材料的蒸汽经过一个低压区域到达衬底</a:t>
            </a:r>
          </a:p>
          <a:p>
            <a:pPr marL="609600" indent="-609600">
              <a:lnSpc>
                <a:spcPct val="90000"/>
              </a:lnSpc>
              <a:buFontTx/>
              <a:buAutoNum type="arabicPeriod"/>
            </a:pPr>
            <a:endParaRPr kumimoji="1" lang="zh-CN" altLang="en-US" sz="2400" b="1" dirty="0">
              <a:latin typeface="Times New Roman" pitchFamily="18" charset="0"/>
              <a:ea typeface="楷体" panose="02010609060101010101" pitchFamily="49" charset="-122"/>
              <a:cs typeface="Times New Roman" panose="02020603050405020304" pitchFamily="18" charset="0"/>
            </a:endParaRPr>
          </a:p>
          <a:p>
            <a:pPr marL="0" indent="0">
              <a:lnSpc>
                <a:spcPct val="90000"/>
              </a:lnSpc>
              <a:buNone/>
            </a:pPr>
            <a:r>
              <a:rPr kumimoji="1" lang="zh-CN" altLang="en-US" sz="2400" b="1" dirty="0">
                <a:latin typeface="Times New Roman" pitchFamily="18" charset="0"/>
                <a:ea typeface="楷体" panose="02010609060101010101" pitchFamily="49" charset="-122"/>
                <a:cs typeface="Times New Roman" panose="02020603050405020304" pitchFamily="18" charset="0"/>
              </a:rPr>
              <a:t>（</a:t>
            </a:r>
            <a:r>
              <a:rPr kumimoji="1" lang="en-US" altLang="zh-CN" sz="2400" b="1" dirty="0">
                <a:latin typeface="Times New Roman" pitchFamily="18" charset="0"/>
                <a:ea typeface="楷体" panose="02010609060101010101" pitchFamily="49" charset="-122"/>
                <a:cs typeface="Times New Roman" panose="02020603050405020304" pitchFamily="18" charset="0"/>
              </a:rPr>
              <a:t>3</a:t>
            </a:r>
            <a:r>
              <a:rPr kumimoji="1" lang="zh-CN" altLang="en-US" sz="2400" b="1" dirty="0">
                <a:latin typeface="Times New Roman" pitchFamily="18" charset="0"/>
                <a:ea typeface="楷体" panose="02010609060101010101" pitchFamily="49" charset="-122"/>
                <a:cs typeface="Times New Roman" panose="02020603050405020304" pitchFamily="18" charset="0"/>
              </a:rPr>
              <a:t>）蒸汽在衬底表面上凝结，形成薄膜</a:t>
            </a:r>
          </a:p>
        </p:txBody>
      </p:sp>
    </p:spTree>
    <p:extLst>
      <p:ext uri="{BB962C8B-B14F-4D97-AF65-F5344CB8AC3E}">
        <p14:creationId xmlns:p14="http://schemas.microsoft.com/office/powerpoint/2010/main" val="219497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linds(horizontal)">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blinds(horizontal)">
                                      <p:cBhvr>
                                        <p:cTn id="2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（外延）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268760"/>
            <a:ext cx="9144000" cy="1130246"/>
          </a:xfrm>
          <a:prstGeom prst="rect">
            <a:avLst/>
          </a:prstGeom>
        </p:spPr>
        <p:txBody>
          <a:bodyPr wrap="square">
            <a:spAutoFit/>
          </a:bodyPr>
          <a:lstStyle/>
          <a:p>
            <a:pPr marL="342900" indent="-342900">
              <a:lnSpc>
                <a:spcPct val="150000"/>
              </a:lnSpc>
              <a:buFont typeface="Wingdings" panose="05000000000000000000" pitchFamily="2" charset="2"/>
              <a:buChar char="Ø"/>
            </a:pPr>
            <a:r>
              <a:rPr kumimoji="1" lang="zh-CN" altLang="en-US" sz="2400" b="1" dirty="0" smtClean="0">
                <a:latin typeface="Times New Roman" pitchFamily="18" charset="0"/>
                <a:ea typeface="楷体" panose="02010609060101010101" pitchFamily="49" charset="-122"/>
                <a:cs typeface="Times New Roman" panose="02020603050405020304" pitchFamily="18" charset="0"/>
              </a:rPr>
              <a:t>外延</a:t>
            </a:r>
            <a:r>
              <a:rPr kumimoji="1" lang="zh-CN" altLang="en-US" sz="2400" b="1" dirty="0">
                <a:latin typeface="Times New Roman" pitchFamily="18" charset="0"/>
                <a:ea typeface="楷体" panose="02010609060101010101" pitchFamily="49" charset="-122"/>
                <a:cs typeface="Times New Roman" panose="02020603050405020304" pitchFamily="18" charset="0"/>
              </a:rPr>
              <a:t>是指沉积膜与基片之间存在结晶学关系时，在基片上取向或单晶生长同一物质的方法</a:t>
            </a:r>
          </a:p>
        </p:txBody>
      </p:sp>
      <p:sp>
        <p:nvSpPr>
          <p:cNvPr id="4" name="矩形 3"/>
          <p:cNvSpPr/>
          <p:nvPr/>
        </p:nvSpPr>
        <p:spPr>
          <a:xfrm>
            <a:off x="8842" y="2973106"/>
            <a:ext cx="9135157" cy="1130246"/>
          </a:xfrm>
          <a:prstGeom prst="rect">
            <a:avLst/>
          </a:prstGeom>
        </p:spPr>
        <p:txBody>
          <a:bodyPr wrap="square">
            <a:spAutoFit/>
          </a:bodyPr>
          <a:lstStyle/>
          <a:p>
            <a:pPr marL="342900" indent="-342900">
              <a:lnSpc>
                <a:spcPct val="150000"/>
              </a:lnSpc>
              <a:buFont typeface="Wingdings" panose="05000000000000000000" pitchFamily="2" charset="2"/>
              <a:buChar char="Ø"/>
            </a:pPr>
            <a:r>
              <a:rPr kumimoji="1" lang="zh-CN" altLang="en-US" sz="2400" b="1" dirty="0">
                <a:latin typeface="Times New Roman" pitchFamily="18" charset="0"/>
                <a:ea typeface="楷体" panose="02010609060101010101" pitchFamily="49" charset="-122"/>
                <a:cs typeface="Times New Roman" panose="02020603050405020304" pitchFamily="18" charset="0"/>
              </a:rPr>
              <a:t>外延特点：生成的晶体结构良好；掺入的杂质浓度易控制；可形成接近突变</a:t>
            </a:r>
            <a:r>
              <a:rPr kumimoji="1" lang="en-US" altLang="zh-CN" sz="2400" b="1" dirty="0" err="1">
                <a:latin typeface="Times New Roman" pitchFamily="18" charset="0"/>
                <a:ea typeface="楷体" panose="02010609060101010101" pitchFamily="49" charset="-122"/>
                <a:cs typeface="Times New Roman" panose="02020603050405020304" pitchFamily="18" charset="0"/>
              </a:rPr>
              <a:t>pn</a:t>
            </a:r>
            <a:r>
              <a:rPr kumimoji="1" lang="zh-CN" altLang="en-US" sz="2400" b="1" dirty="0">
                <a:latin typeface="Times New Roman" pitchFamily="18" charset="0"/>
                <a:ea typeface="楷体" panose="02010609060101010101" pitchFamily="49" charset="-122"/>
                <a:cs typeface="Times New Roman" panose="02020603050405020304" pitchFamily="18" charset="0"/>
              </a:rPr>
              <a:t>结的特点 </a:t>
            </a:r>
          </a:p>
        </p:txBody>
      </p:sp>
    </p:spTree>
    <p:extLst>
      <p:ext uri="{BB962C8B-B14F-4D97-AF65-F5344CB8AC3E}">
        <p14:creationId xmlns:p14="http://schemas.microsoft.com/office/powerpoint/2010/main" val="296267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（外延）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noChangeArrowheads="1"/>
          </p:cNvSpPr>
          <p:nvPr/>
        </p:nvSpPr>
        <p:spPr>
          <a:xfrm>
            <a:off x="0" y="1196752"/>
            <a:ext cx="3505200" cy="533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defRPr/>
            </a:pPr>
            <a:r>
              <a:rPr kumimoji="1" lang="zh-CN" altLang="en-US" sz="2400" b="1" dirty="0" smtClean="0">
                <a:latin typeface="Times New Roman" pitchFamily="18" charset="0"/>
                <a:ea typeface="楷体" panose="02010609060101010101" pitchFamily="49" charset="-122"/>
                <a:cs typeface="Times New Roman" panose="02020603050405020304" pitchFamily="18" charset="0"/>
              </a:rPr>
              <a:t>同质外延（硅为例）</a:t>
            </a:r>
            <a:endParaRPr kumimoji="1" lang="zh-CN" altLang="en-US" sz="2400" b="1" dirty="0">
              <a:latin typeface="Times New Roman" pitchFamily="18" charset="0"/>
              <a:ea typeface="楷体" panose="02010609060101010101" pitchFamily="49" charset="-122"/>
              <a:cs typeface="Times New Roman" panose="02020603050405020304" pitchFamily="18" charset="0"/>
            </a:endParaRPr>
          </a:p>
        </p:txBody>
      </p:sp>
      <p:sp>
        <p:nvSpPr>
          <p:cNvPr id="6" name="Text Box 4"/>
          <p:cNvSpPr txBox="1">
            <a:spLocks noChangeArrowheads="1"/>
          </p:cNvSpPr>
          <p:nvPr/>
        </p:nvSpPr>
        <p:spPr bwMode="auto">
          <a:xfrm>
            <a:off x="39492" y="2408237"/>
            <a:ext cx="91045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zh-CN" altLang="en-US" dirty="0">
                <a:solidFill>
                  <a:schemeClr val="tx1"/>
                </a:solidFill>
                <a:ea typeface="楷体" panose="02010609060101010101" pitchFamily="49" charset="-122"/>
                <a:cs typeface="Times New Roman" panose="02020603050405020304" pitchFamily="18" charset="0"/>
              </a:rPr>
              <a:t>（</a:t>
            </a:r>
            <a:r>
              <a:rPr lang="en-US" altLang="zh-CN" dirty="0">
                <a:solidFill>
                  <a:schemeClr val="tx1"/>
                </a:solidFill>
                <a:ea typeface="楷体" panose="02010609060101010101" pitchFamily="49" charset="-122"/>
                <a:cs typeface="Times New Roman" panose="02020603050405020304" pitchFamily="18" charset="0"/>
              </a:rPr>
              <a:t>1</a:t>
            </a:r>
            <a:r>
              <a:rPr lang="zh-CN" altLang="en-US" dirty="0">
                <a:solidFill>
                  <a:schemeClr val="tx1"/>
                </a:solidFill>
                <a:ea typeface="楷体" panose="02010609060101010101" pitchFamily="49" charset="-122"/>
                <a:cs typeface="Times New Roman" panose="02020603050405020304" pitchFamily="18" charset="0"/>
              </a:rPr>
              <a:t>） 原理：在气相外延生长过程中，有两步：</a:t>
            </a:r>
          </a:p>
          <a:p>
            <a:pPr algn="just" eaLnBrk="1" hangingPunct="1"/>
            <a:endParaRPr lang="zh-CN" altLang="en-US" dirty="0">
              <a:solidFill>
                <a:srgbClr val="33CC33"/>
              </a:solidFill>
              <a:latin typeface="Tahoma" pitchFamily="34" charset="0"/>
            </a:endParaRPr>
          </a:p>
        </p:txBody>
      </p:sp>
      <p:sp>
        <p:nvSpPr>
          <p:cNvPr id="7" name="Text Box 10"/>
          <p:cNvSpPr txBox="1">
            <a:spLocks noChangeArrowheads="1"/>
          </p:cNvSpPr>
          <p:nvPr/>
        </p:nvSpPr>
        <p:spPr bwMode="auto">
          <a:xfrm>
            <a:off x="-5076" y="3645406"/>
            <a:ext cx="79191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zh-CN" altLang="en-US" dirty="0">
                <a:solidFill>
                  <a:schemeClr val="tx1"/>
                </a:solidFill>
                <a:ea typeface="楷体" panose="02010609060101010101" pitchFamily="49" charset="-122"/>
                <a:cs typeface="Times New Roman" panose="02020603050405020304" pitchFamily="18" charset="0"/>
              </a:rPr>
              <a:t>表面反应过程－－在衬底表面发生化学反应释放出硅原子</a:t>
            </a:r>
          </a:p>
        </p:txBody>
      </p:sp>
      <p:sp>
        <p:nvSpPr>
          <p:cNvPr id="8" name="Rectangle 11"/>
          <p:cNvSpPr>
            <a:spLocks noChangeArrowheads="1"/>
          </p:cNvSpPr>
          <p:nvPr/>
        </p:nvSpPr>
        <p:spPr bwMode="auto">
          <a:xfrm>
            <a:off x="-10148" y="1730152"/>
            <a:ext cx="2111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en-US" altLang="zh-CN" dirty="0">
                <a:solidFill>
                  <a:schemeClr val="tx1"/>
                </a:solidFill>
                <a:ea typeface="楷体" panose="02010609060101010101" pitchFamily="49" charset="-122"/>
                <a:cs typeface="Times New Roman" panose="02020603050405020304" pitchFamily="18" charset="0"/>
              </a:rPr>
              <a:t>① </a:t>
            </a:r>
            <a:r>
              <a:rPr lang="zh-CN" altLang="en-US" dirty="0">
                <a:solidFill>
                  <a:schemeClr val="tx1"/>
                </a:solidFill>
                <a:ea typeface="楷体" panose="02010609060101010101" pitchFamily="49" charset="-122"/>
                <a:cs typeface="Times New Roman" panose="02020603050405020304" pitchFamily="18" charset="0"/>
              </a:rPr>
              <a:t>外延的过程</a:t>
            </a:r>
          </a:p>
        </p:txBody>
      </p:sp>
      <p:sp>
        <p:nvSpPr>
          <p:cNvPr id="9" name="Text Box 9"/>
          <p:cNvSpPr txBox="1">
            <a:spLocks noChangeArrowheads="1"/>
          </p:cNvSpPr>
          <p:nvPr/>
        </p:nvSpPr>
        <p:spPr bwMode="auto">
          <a:xfrm>
            <a:off x="-1977" y="3008401"/>
            <a:ext cx="57534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zh-CN" altLang="en-US" dirty="0">
                <a:solidFill>
                  <a:schemeClr val="tx1"/>
                </a:solidFill>
                <a:ea typeface="楷体" panose="02010609060101010101" pitchFamily="49" charset="-122"/>
                <a:cs typeface="Times New Roman" panose="02020603050405020304" pitchFamily="18" charset="0"/>
              </a:rPr>
              <a:t>质量输运过程－－反应剂输运到衬底表面</a:t>
            </a:r>
          </a:p>
        </p:txBody>
      </p:sp>
      <p:sp>
        <p:nvSpPr>
          <p:cNvPr id="10" name="Rectangle 8"/>
          <p:cNvSpPr>
            <a:spLocks noChangeArrowheads="1"/>
          </p:cNvSpPr>
          <p:nvPr/>
        </p:nvSpPr>
        <p:spPr bwMode="auto">
          <a:xfrm>
            <a:off x="-13403" y="4355176"/>
            <a:ext cx="2117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en-US" altLang="zh-CN" dirty="0">
                <a:solidFill>
                  <a:schemeClr val="tx1"/>
                </a:solidFill>
                <a:ea typeface="楷体" panose="02010609060101010101" pitchFamily="49" charset="-122"/>
                <a:cs typeface="Times New Roman" panose="02020603050405020304" pitchFamily="18" charset="0"/>
              </a:rPr>
              <a:t>② </a:t>
            </a:r>
            <a:r>
              <a:rPr lang="zh-CN" altLang="en-US" dirty="0">
                <a:solidFill>
                  <a:schemeClr val="tx1"/>
                </a:solidFill>
                <a:ea typeface="楷体" panose="02010609060101010101" pitchFamily="49" charset="-122"/>
                <a:cs typeface="Times New Roman" panose="02020603050405020304" pitchFamily="18" charset="0"/>
              </a:rPr>
              <a:t>外延反应剂</a:t>
            </a:r>
          </a:p>
        </p:txBody>
      </p:sp>
      <p:sp>
        <p:nvSpPr>
          <p:cNvPr id="11" name="Text Box 5"/>
          <p:cNvSpPr txBox="1">
            <a:spLocks noChangeArrowheads="1"/>
          </p:cNvSpPr>
          <p:nvPr/>
        </p:nvSpPr>
        <p:spPr bwMode="auto">
          <a:xfrm>
            <a:off x="-13540" y="5013176"/>
            <a:ext cx="32784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zh-CN" altLang="en-US" dirty="0">
                <a:solidFill>
                  <a:schemeClr val="tx1"/>
                </a:solidFill>
                <a:ea typeface="楷体" panose="02010609060101010101" pitchFamily="49" charset="-122"/>
                <a:cs typeface="Times New Roman" panose="02020603050405020304" pitchFamily="18" charset="0"/>
              </a:rPr>
              <a:t>通常用的外延反应剂：</a:t>
            </a:r>
          </a:p>
        </p:txBody>
      </p:sp>
      <p:sp>
        <p:nvSpPr>
          <p:cNvPr id="12" name="Text Box 6"/>
          <p:cNvSpPr txBox="1">
            <a:spLocks noChangeArrowheads="1"/>
          </p:cNvSpPr>
          <p:nvPr/>
        </p:nvSpPr>
        <p:spPr bwMode="auto">
          <a:xfrm>
            <a:off x="-17541" y="5733256"/>
            <a:ext cx="63309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en-US" altLang="zh-CN" dirty="0">
                <a:solidFill>
                  <a:schemeClr val="tx1"/>
                </a:solidFill>
                <a:ea typeface="楷体" panose="02010609060101010101" pitchFamily="49" charset="-122"/>
                <a:cs typeface="Times New Roman" panose="02020603050405020304" pitchFamily="18" charset="0"/>
              </a:rPr>
              <a:t>SiCl</a:t>
            </a:r>
            <a:r>
              <a:rPr lang="en-US" altLang="zh-CN" baseline="-25000" dirty="0">
                <a:solidFill>
                  <a:schemeClr val="tx1"/>
                </a:solidFill>
                <a:ea typeface="楷体" panose="02010609060101010101" pitchFamily="49" charset="-122"/>
                <a:cs typeface="Times New Roman" panose="02020603050405020304" pitchFamily="18" charset="0"/>
              </a:rPr>
              <a:t>4</a:t>
            </a:r>
            <a:r>
              <a:rPr lang="en-US" altLang="zh-CN" dirty="0">
                <a:solidFill>
                  <a:schemeClr val="tx1"/>
                </a:solidFill>
                <a:ea typeface="楷体" panose="02010609060101010101" pitchFamily="49" charset="-122"/>
                <a:cs typeface="Times New Roman" panose="02020603050405020304" pitchFamily="18" charset="0"/>
              </a:rPr>
              <a:t> (*)</a:t>
            </a:r>
            <a:r>
              <a:rPr lang="zh-CN" altLang="en-US" dirty="0">
                <a:solidFill>
                  <a:schemeClr val="tx1"/>
                </a:solidFill>
                <a:ea typeface="楷体" panose="02010609060101010101" pitchFamily="49" charset="-122"/>
                <a:cs typeface="Times New Roman" panose="02020603050405020304" pitchFamily="18" charset="0"/>
              </a:rPr>
              <a:t>、</a:t>
            </a:r>
            <a:r>
              <a:rPr lang="en-US" altLang="zh-CN" dirty="0">
                <a:solidFill>
                  <a:schemeClr val="tx1"/>
                </a:solidFill>
                <a:ea typeface="楷体" panose="02010609060101010101" pitchFamily="49" charset="-122"/>
                <a:cs typeface="Times New Roman" panose="02020603050405020304" pitchFamily="18" charset="0"/>
              </a:rPr>
              <a:t>SiH</a:t>
            </a:r>
            <a:r>
              <a:rPr lang="en-US" altLang="zh-CN" baseline="-25000" dirty="0">
                <a:solidFill>
                  <a:schemeClr val="tx1"/>
                </a:solidFill>
                <a:ea typeface="楷体" panose="02010609060101010101" pitchFamily="49" charset="-122"/>
                <a:cs typeface="Times New Roman" panose="02020603050405020304" pitchFamily="18" charset="0"/>
              </a:rPr>
              <a:t>2</a:t>
            </a:r>
            <a:r>
              <a:rPr lang="en-US" altLang="zh-CN" dirty="0">
                <a:solidFill>
                  <a:schemeClr val="tx1"/>
                </a:solidFill>
                <a:ea typeface="楷体" panose="02010609060101010101" pitchFamily="49" charset="-122"/>
                <a:cs typeface="Times New Roman" panose="02020603050405020304" pitchFamily="18" charset="0"/>
              </a:rPr>
              <a:t>Cl</a:t>
            </a:r>
            <a:r>
              <a:rPr lang="en-US" altLang="zh-CN" baseline="-25000" dirty="0">
                <a:solidFill>
                  <a:schemeClr val="tx1"/>
                </a:solidFill>
                <a:ea typeface="楷体" panose="02010609060101010101" pitchFamily="49" charset="-122"/>
                <a:cs typeface="Times New Roman" panose="02020603050405020304" pitchFamily="18" charset="0"/>
              </a:rPr>
              <a:t>2</a:t>
            </a:r>
            <a:r>
              <a:rPr lang="zh-CN" altLang="en-US" dirty="0">
                <a:solidFill>
                  <a:schemeClr val="tx1"/>
                </a:solidFill>
                <a:ea typeface="楷体" panose="02010609060101010101" pitchFamily="49" charset="-122"/>
                <a:cs typeface="Times New Roman" panose="02020603050405020304" pitchFamily="18" charset="0"/>
              </a:rPr>
              <a:t>、 </a:t>
            </a:r>
            <a:r>
              <a:rPr lang="en-US" altLang="zh-CN" dirty="0">
                <a:solidFill>
                  <a:schemeClr val="tx1"/>
                </a:solidFill>
                <a:ea typeface="楷体" panose="02010609060101010101" pitchFamily="49" charset="-122"/>
                <a:cs typeface="Times New Roman" panose="02020603050405020304" pitchFamily="18" charset="0"/>
              </a:rPr>
              <a:t>SiH</a:t>
            </a:r>
            <a:r>
              <a:rPr lang="en-US" altLang="zh-CN" baseline="-25000" dirty="0">
                <a:solidFill>
                  <a:schemeClr val="tx1"/>
                </a:solidFill>
                <a:ea typeface="楷体" panose="02010609060101010101" pitchFamily="49" charset="-122"/>
                <a:cs typeface="Times New Roman" panose="02020603050405020304" pitchFamily="18" charset="0"/>
              </a:rPr>
              <a:t>4</a:t>
            </a:r>
            <a:r>
              <a:rPr lang="en-US" altLang="zh-CN" dirty="0">
                <a:solidFill>
                  <a:schemeClr val="tx1"/>
                </a:solidFill>
                <a:ea typeface="楷体" panose="02010609060101010101" pitchFamily="49" charset="-122"/>
                <a:cs typeface="Times New Roman" panose="02020603050405020304" pitchFamily="18" charset="0"/>
              </a:rPr>
              <a:t> </a:t>
            </a:r>
            <a:r>
              <a:rPr lang="zh-CN" altLang="en-US" dirty="0">
                <a:solidFill>
                  <a:schemeClr val="tx1"/>
                </a:solidFill>
                <a:ea typeface="楷体" panose="02010609060101010101" pitchFamily="49" charset="-122"/>
                <a:cs typeface="Times New Roman" panose="02020603050405020304" pitchFamily="18" charset="0"/>
              </a:rPr>
              <a:t>、</a:t>
            </a:r>
            <a:r>
              <a:rPr lang="en-US" altLang="zh-CN" dirty="0">
                <a:solidFill>
                  <a:schemeClr val="tx1"/>
                </a:solidFill>
                <a:ea typeface="楷体" panose="02010609060101010101" pitchFamily="49" charset="-122"/>
                <a:cs typeface="Times New Roman" panose="02020603050405020304" pitchFamily="18" charset="0"/>
              </a:rPr>
              <a:t>SiHCl</a:t>
            </a:r>
            <a:r>
              <a:rPr lang="en-US" altLang="zh-CN" baseline="-25000" dirty="0">
                <a:solidFill>
                  <a:schemeClr val="tx1"/>
                </a:solidFill>
                <a:ea typeface="楷体" panose="02010609060101010101" pitchFamily="49" charset="-122"/>
                <a:cs typeface="Times New Roman" panose="02020603050405020304" pitchFamily="18" charset="0"/>
              </a:rPr>
              <a:t>3</a:t>
            </a:r>
          </a:p>
        </p:txBody>
      </p:sp>
    </p:spTree>
    <p:extLst>
      <p:ext uri="{BB962C8B-B14F-4D97-AF65-F5344CB8AC3E}">
        <p14:creationId xmlns:p14="http://schemas.microsoft.com/office/powerpoint/2010/main" val="133640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0-#ppt_w/2"/>
                                          </p:val>
                                        </p:tav>
                                        <p:tav tm="100000">
                                          <p:val>
                                            <p:strVal val="#ppt_x"/>
                                          </p:val>
                                        </p:tav>
                                      </p:tavLst>
                                    </p:anim>
                                    <p:anim calcmode="lin" valueType="num">
                                      <p:cBhvr additive="base">
                                        <p:cTn id="3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utoUpdateAnimBg="0"/>
      <p:bldP spid="8" grpId="0"/>
      <p:bldP spid="9" grpId="0" autoUpdateAnimBg="0"/>
      <p:bldP spid="10" grpId="0"/>
      <p:bldP spid="11" grpId="0" autoUpdateAnimBg="0"/>
      <p:bldP spid="12"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（外延）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Rectangle 7"/>
          <p:cNvSpPr>
            <a:spLocks noChangeArrowheads="1"/>
          </p:cNvSpPr>
          <p:nvPr/>
        </p:nvSpPr>
        <p:spPr bwMode="auto">
          <a:xfrm>
            <a:off x="12651" y="1340768"/>
            <a:ext cx="26035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en-US" altLang="zh-CN" dirty="0">
                <a:solidFill>
                  <a:schemeClr val="tx1"/>
                </a:solidFill>
                <a:ea typeface="楷体" panose="02010609060101010101" pitchFamily="49" charset="-122"/>
                <a:cs typeface="Times New Roman" panose="02020603050405020304" pitchFamily="18" charset="0"/>
              </a:rPr>
              <a:t>③  SiCl4</a:t>
            </a:r>
            <a:r>
              <a:rPr lang="zh-CN" altLang="en-US" dirty="0">
                <a:solidFill>
                  <a:schemeClr val="tx1"/>
                </a:solidFill>
                <a:ea typeface="楷体" panose="02010609060101010101" pitchFamily="49" charset="-122"/>
                <a:cs typeface="Times New Roman" panose="02020603050405020304" pitchFamily="18" charset="0"/>
              </a:rPr>
              <a:t>外延反应</a:t>
            </a:r>
          </a:p>
        </p:txBody>
      </p:sp>
      <p:grpSp>
        <p:nvGrpSpPr>
          <p:cNvPr id="6" name="Group 12"/>
          <p:cNvGrpSpPr>
            <a:grpSpLocks/>
          </p:cNvGrpSpPr>
          <p:nvPr/>
        </p:nvGrpSpPr>
        <p:grpSpPr bwMode="auto">
          <a:xfrm>
            <a:off x="1001718" y="2276872"/>
            <a:ext cx="6950075" cy="2406650"/>
            <a:chOff x="657" y="776"/>
            <a:chExt cx="4378" cy="1516"/>
          </a:xfrm>
        </p:grpSpPr>
        <p:sp>
          <p:nvSpPr>
            <p:cNvPr id="7" name="Text Box 8"/>
            <p:cNvSpPr txBox="1">
              <a:spLocks noChangeArrowheads="1"/>
            </p:cNvSpPr>
            <p:nvPr/>
          </p:nvSpPr>
          <p:spPr bwMode="auto">
            <a:xfrm>
              <a:off x="657" y="776"/>
              <a:ext cx="437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en-US" altLang="zh-CN" dirty="0">
                  <a:solidFill>
                    <a:schemeClr val="tx1"/>
                  </a:solidFill>
                  <a:ea typeface="楷体" panose="02010609060101010101" pitchFamily="49" charset="-122"/>
                  <a:cs typeface="Times New Roman" panose="02020603050405020304" pitchFamily="18" charset="0"/>
                </a:rPr>
                <a:t>SiCl</a:t>
              </a:r>
              <a:r>
                <a:rPr lang="en-US" altLang="zh-CN" baseline="-25000" dirty="0">
                  <a:solidFill>
                    <a:schemeClr val="tx1"/>
                  </a:solidFill>
                  <a:ea typeface="楷体" panose="02010609060101010101" pitchFamily="49" charset="-122"/>
                  <a:cs typeface="Times New Roman" panose="02020603050405020304" pitchFamily="18" charset="0"/>
                </a:rPr>
                <a:t>4</a:t>
              </a:r>
              <a:r>
                <a:rPr lang="en-US" altLang="zh-CN" dirty="0">
                  <a:solidFill>
                    <a:schemeClr val="tx1"/>
                  </a:solidFill>
                  <a:ea typeface="楷体" panose="02010609060101010101" pitchFamily="49" charset="-122"/>
                  <a:cs typeface="Times New Roman" panose="02020603050405020304" pitchFamily="18" charset="0"/>
                </a:rPr>
                <a:t> </a:t>
              </a:r>
              <a:r>
                <a:rPr lang="zh-CN" altLang="en-US" dirty="0">
                  <a:solidFill>
                    <a:schemeClr val="tx1"/>
                  </a:solidFill>
                  <a:ea typeface="楷体" panose="02010609060101010101" pitchFamily="49" charset="-122"/>
                  <a:cs typeface="Times New Roman" panose="02020603050405020304" pitchFamily="18" charset="0"/>
                </a:rPr>
                <a:t>＋ </a:t>
              </a:r>
              <a:r>
                <a:rPr lang="en-US" altLang="zh-CN" dirty="0">
                  <a:solidFill>
                    <a:schemeClr val="tx1"/>
                  </a:solidFill>
                  <a:ea typeface="楷体" panose="02010609060101010101" pitchFamily="49" charset="-122"/>
                  <a:cs typeface="Times New Roman" panose="02020603050405020304" pitchFamily="18" charset="0"/>
                </a:rPr>
                <a:t>2H</a:t>
              </a:r>
              <a:r>
                <a:rPr lang="en-US" altLang="zh-CN" baseline="-25000" dirty="0">
                  <a:solidFill>
                    <a:schemeClr val="tx1"/>
                  </a:solidFill>
                  <a:ea typeface="楷体" panose="02010609060101010101" pitchFamily="49" charset="-122"/>
                  <a:cs typeface="Times New Roman" panose="02020603050405020304" pitchFamily="18" charset="0"/>
                </a:rPr>
                <a:t>2</a:t>
              </a:r>
              <a:r>
                <a:rPr lang="en-US" altLang="zh-CN" dirty="0">
                  <a:solidFill>
                    <a:schemeClr val="tx1"/>
                  </a:solidFill>
                  <a:ea typeface="楷体" panose="02010609060101010101" pitchFamily="49" charset="-122"/>
                  <a:cs typeface="Times New Roman" panose="02020603050405020304" pitchFamily="18" charset="0"/>
                </a:rPr>
                <a:t> &lt;----&gt; Si + 4HCl</a:t>
              </a:r>
              <a:r>
                <a:rPr lang="zh-CN" altLang="en-US" dirty="0">
                  <a:solidFill>
                    <a:schemeClr val="tx1"/>
                  </a:solidFill>
                  <a:ea typeface="楷体" panose="02010609060101010101" pitchFamily="49" charset="-122"/>
                  <a:cs typeface="Times New Roman" panose="02020603050405020304" pitchFamily="18" charset="0"/>
                </a:rPr>
                <a:t>（</a:t>
              </a:r>
              <a:r>
                <a:rPr lang="en-US" altLang="zh-CN" dirty="0">
                  <a:solidFill>
                    <a:schemeClr val="tx1"/>
                  </a:solidFill>
                  <a:ea typeface="楷体" panose="02010609060101010101" pitchFamily="49" charset="-122"/>
                  <a:cs typeface="Times New Roman" panose="02020603050405020304" pitchFamily="18" charset="0"/>
                </a:rPr>
                <a:t>1200</a:t>
              </a:r>
              <a:r>
                <a:rPr lang="zh-CN" altLang="en-US" dirty="0">
                  <a:solidFill>
                    <a:schemeClr val="tx1"/>
                  </a:solidFill>
                  <a:ea typeface="楷体" panose="02010609060101010101" pitchFamily="49" charset="-122"/>
                  <a:cs typeface="Times New Roman" panose="02020603050405020304" pitchFamily="18" charset="0"/>
                </a:rPr>
                <a:t>度左右）</a:t>
              </a:r>
            </a:p>
            <a:p>
              <a:pPr algn="just" eaLnBrk="1" hangingPunct="1"/>
              <a:r>
                <a:rPr lang="zh-CN" altLang="en-US" dirty="0">
                  <a:solidFill>
                    <a:schemeClr val="tx1"/>
                  </a:solidFill>
                  <a:ea typeface="楷体" panose="02010609060101010101" pitchFamily="49" charset="-122"/>
                  <a:cs typeface="Times New Roman" panose="02020603050405020304" pitchFamily="18" charset="0"/>
                </a:rPr>
                <a:t>                                         （生长，腐蚀）</a:t>
              </a:r>
            </a:p>
          </p:txBody>
        </p:sp>
        <p:sp>
          <p:nvSpPr>
            <p:cNvPr id="8" name="Text Box 9"/>
            <p:cNvSpPr txBox="1">
              <a:spLocks noChangeArrowheads="1"/>
            </p:cNvSpPr>
            <p:nvPr/>
          </p:nvSpPr>
          <p:spPr bwMode="auto">
            <a:xfrm>
              <a:off x="839" y="2001"/>
              <a:ext cx="321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en-US" altLang="zh-CN" dirty="0">
                  <a:solidFill>
                    <a:schemeClr val="tx1"/>
                  </a:solidFill>
                  <a:ea typeface="楷体" panose="02010609060101010101" pitchFamily="49" charset="-122"/>
                  <a:cs typeface="Times New Roman" panose="02020603050405020304" pitchFamily="18" charset="0"/>
                </a:rPr>
                <a:t>SiCl</a:t>
              </a:r>
              <a:r>
                <a:rPr lang="en-US" altLang="zh-CN" baseline="-25000" dirty="0">
                  <a:solidFill>
                    <a:schemeClr val="tx1"/>
                  </a:solidFill>
                  <a:ea typeface="楷体" panose="02010609060101010101" pitchFamily="49" charset="-122"/>
                  <a:cs typeface="Times New Roman" panose="02020603050405020304" pitchFamily="18" charset="0"/>
                </a:rPr>
                <a:t>4</a:t>
              </a:r>
              <a:r>
                <a:rPr lang="en-US" altLang="zh-CN" dirty="0">
                  <a:solidFill>
                    <a:schemeClr val="tx1"/>
                  </a:solidFill>
                  <a:ea typeface="楷体" panose="02010609060101010101" pitchFamily="49" charset="-122"/>
                  <a:cs typeface="Times New Roman" panose="02020603050405020304" pitchFamily="18" charset="0"/>
                </a:rPr>
                <a:t>  </a:t>
              </a:r>
              <a:r>
                <a:rPr lang="zh-CN" altLang="en-US" dirty="0">
                  <a:solidFill>
                    <a:schemeClr val="tx1"/>
                  </a:solidFill>
                  <a:ea typeface="楷体" panose="02010609060101010101" pitchFamily="49" charset="-122"/>
                  <a:cs typeface="Times New Roman" panose="02020603050405020304" pitchFamily="18" charset="0"/>
                </a:rPr>
                <a:t>＋ </a:t>
              </a:r>
              <a:r>
                <a:rPr lang="en-US" altLang="zh-CN" dirty="0">
                  <a:solidFill>
                    <a:schemeClr val="tx1"/>
                  </a:solidFill>
                  <a:ea typeface="楷体" panose="02010609060101010101" pitchFamily="49" charset="-122"/>
                  <a:cs typeface="Times New Roman" panose="02020603050405020304" pitchFamily="18" charset="0"/>
                </a:rPr>
                <a:t>Si &lt;----&gt; 2SiCl</a:t>
              </a:r>
              <a:r>
                <a:rPr lang="en-US" altLang="zh-CN" baseline="-25000" dirty="0">
                  <a:solidFill>
                    <a:schemeClr val="tx1"/>
                  </a:solidFill>
                  <a:ea typeface="楷体" panose="02010609060101010101" pitchFamily="49" charset="-122"/>
                  <a:cs typeface="Times New Roman" panose="02020603050405020304" pitchFamily="18" charset="0"/>
                </a:rPr>
                <a:t>2</a:t>
              </a:r>
              <a:r>
                <a:rPr lang="en-US" altLang="zh-CN" dirty="0">
                  <a:solidFill>
                    <a:schemeClr val="tx1"/>
                  </a:solidFill>
                  <a:ea typeface="楷体" panose="02010609060101010101" pitchFamily="49" charset="-122"/>
                  <a:cs typeface="Times New Roman" panose="02020603050405020304" pitchFamily="18" charset="0"/>
                </a:rPr>
                <a:t> </a:t>
              </a:r>
              <a:r>
                <a:rPr lang="zh-CN" altLang="en-US" dirty="0">
                  <a:solidFill>
                    <a:schemeClr val="tx1"/>
                  </a:solidFill>
                  <a:ea typeface="楷体" panose="02010609060101010101" pitchFamily="49" charset="-122"/>
                  <a:cs typeface="Times New Roman" panose="02020603050405020304" pitchFamily="18" charset="0"/>
                </a:rPr>
                <a:t>（腐蚀硅）</a:t>
              </a:r>
            </a:p>
          </p:txBody>
        </p:sp>
      </p:grpSp>
      <p:sp>
        <p:nvSpPr>
          <p:cNvPr id="9" name="Text Box 10"/>
          <p:cNvSpPr txBox="1">
            <a:spLocks noChangeArrowheads="1"/>
          </p:cNvSpPr>
          <p:nvPr/>
        </p:nvSpPr>
        <p:spPr bwMode="auto">
          <a:xfrm>
            <a:off x="-34958" y="3250977"/>
            <a:ext cx="6794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000066"/>
                </a:solidFill>
                <a:latin typeface="Times New Roman" pitchFamily="18" charset="0"/>
                <a:ea typeface="宋体" charset="-122"/>
              </a:defRPr>
            </a:lvl1pPr>
            <a:lvl2pPr marL="742950" indent="-285750" eaLnBrk="0" hangingPunct="0">
              <a:defRPr kumimoji="1" sz="2400" b="1">
                <a:solidFill>
                  <a:srgbClr val="000066"/>
                </a:solidFill>
                <a:latin typeface="Times New Roman" pitchFamily="18" charset="0"/>
                <a:ea typeface="宋体" charset="-122"/>
              </a:defRPr>
            </a:lvl2pPr>
            <a:lvl3pPr marL="1143000" indent="-228600" eaLnBrk="0" hangingPunct="0">
              <a:defRPr kumimoji="1" sz="2400" b="1">
                <a:solidFill>
                  <a:srgbClr val="000066"/>
                </a:solidFill>
                <a:latin typeface="Times New Roman" pitchFamily="18" charset="0"/>
                <a:ea typeface="宋体" charset="-122"/>
              </a:defRPr>
            </a:lvl3pPr>
            <a:lvl4pPr marL="1600200" indent="-228600" eaLnBrk="0" hangingPunct="0">
              <a:defRPr kumimoji="1" sz="2400" b="1">
                <a:solidFill>
                  <a:srgbClr val="000066"/>
                </a:solidFill>
                <a:latin typeface="Times New Roman" pitchFamily="18" charset="0"/>
                <a:ea typeface="宋体" charset="-122"/>
              </a:defRPr>
            </a:lvl4pPr>
            <a:lvl5pPr marL="2057400" indent="-228600" eaLnBrk="0" hangingPunct="0">
              <a:defRPr kumimoji="1" sz="2400" b="1">
                <a:solidFill>
                  <a:srgbClr val="000066"/>
                </a:solidFill>
                <a:latin typeface="Times New Roman" pitchFamily="18" charset="0"/>
                <a:ea typeface="宋体" charset="-122"/>
              </a:defRPr>
            </a:lvl5pPr>
            <a:lvl6pPr marL="25146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6pPr>
            <a:lvl7pPr marL="29718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7pPr>
            <a:lvl8pPr marL="34290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8pPr>
            <a:lvl9pPr marL="3886200" indent="-228600" algn="ctr" eaLnBrk="0" fontAlgn="base" hangingPunct="0">
              <a:lnSpc>
                <a:spcPct val="125000"/>
              </a:lnSpc>
              <a:spcBef>
                <a:spcPct val="0"/>
              </a:spcBef>
              <a:spcAft>
                <a:spcPct val="0"/>
              </a:spcAft>
              <a:defRPr kumimoji="1" sz="2400" b="1">
                <a:solidFill>
                  <a:srgbClr val="000066"/>
                </a:solidFill>
                <a:latin typeface="Times New Roman" pitchFamily="18" charset="0"/>
                <a:ea typeface="宋体" charset="-122"/>
              </a:defRPr>
            </a:lvl9pPr>
          </a:lstStyle>
          <a:p>
            <a:pPr algn="just" eaLnBrk="1" hangingPunct="1"/>
            <a:r>
              <a:rPr lang="en-US" altLang="zh-CN" dirty="0">
                <a:solidFill>
                  <a:schemeClr val="tx1"/>
                </a:solidFill>
                <a:ea typeface="楷体" panose="02010609060101010101" pitchFamily="49" charset="-122"/>
                <a:cs typeface="Times New Roman" panose="02020603050405020304" pitchFamily="18" charset="0"/>
              </a:rPr>
              <a:t>H</a:t>
            </a:r>
            <a:r>
              <a:rPr lang="en-US" altLang="zh-CN" baseline="-25000" dirty="0">
                <a:solidFill>
                  <a:schemeClr val="tx1"/>
                </a:solidFill>
                <a:ea typeface="楷体" panose="02010609060101010101" pitchFamily="49" charset="-122"/>
                <a:cs typeface="Times New Roman" panose="02020603050405020304" pitchFamily="18" charset="0"/>
              </a:rPr>
              <a:t>2</a:t>
            </a:r>
            <a:r>
              <a:rPr lang="zh-CN" altLang="en-US" dirty="0">
                <a:solidFill>
                  <a:schemeClr val="tx1"/>
                </a:solidFill>
                <a:ea typeface="楷体" panose="02010609060101010101" pitchFamily="49" charset="-122"/>
                <a:cs typeface="Times New Roman" panose="02020603050405020304" pitchFamily="18" charset="0"/>
              </a:rPr>
              <a:t>的作用：运载和稀释气体；还原剂</a:t>
            </a:r>
          </a:p>
        </p:txBody>
      </p:sp>
    </p:spTree>
    <p:extLst>
      <p:ext uri="{BB962C8B-B14F-4D97-AF65-F5344CB8AC3E}">
        <p14:creationId xmlns:p14="http://schemas.microsoft.com/office/powerpoint/2010/main" val="1115328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（外延）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noChangeArrowheads="1"/>
          </p:cNvSpPr>
          <p:nvPr/>
        </p:nvSpPr>
        <p:spPr>
          <a:xfrm>
            <a:off x="0" y="1196752"/>
            <a:ext cx="3505200" cy="5334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defRPr/>
            </a:pPr>
            <a:r>
              <a:rPr kumimoji="1" lang="zh-CN" altLang="en-US" sz="2400" b="1" dirty="0" smtClean="0">
                <a:latin typeface="Times New Roman" pitchFamily="18" charset="0"/>
                <a:ea typeface="楷体" panose="02010609060101010101" pitchFamily="49" charset="-122"/>
                <a:cs typeface="Times New Roman" panose="02020603050405020304" pitchFamily="18" charset="0"/>
              </a:rPr>
              <a:t>异质外延（分子束外延）</a:t>
            </a:r>
            <a:endParaRPr kumimoji="1" lang="zh-CN" altLang="en-US" sz="2400" b="1" dirty="0">
              <a:latin typeface="Times New Roman"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777241"/>
            <a:ext cx="9144000" cy="2567241"/>
          </a:xfrm>
          <a:prstGeom prst="rect">
            <a:avLst/>
          </a:prstGeom>
        </p:spPr>
        <p:txBody>
          <a:bodyPr wrap="square">
            <a:spAutoFit/>
          </a:bodyPr>
          <a:lstStyle/>
          <a:p>
            <a:pPr>
              <a:lnSpc>
                <a:spcPct val="150000"/>
              </a:lnSpc>
            </a:pPr>
            <a:r>
              <a:rPr kumimoji="1" lang="zh-CN" altLang="en-US" sz="2200" b="1" dirty="0">
                <a:latin typeface="Times New Roman" pitchFamily="18" charset="0"/>
                <a:ea typeface="楷体" panose="02010609060101010101" pitchFamily="49" charset="-122"/>
                <a:cs typeface="Times New Roman" panose="02020603050405020304" pitchFamily="18" charset="0"/>
              </a:rPr>
              <a:t>分子束外延技术是在半导体工艺中近十几年来发展起来的一项新技术，它是在超高真空条件下，类似于真空蒸发镀把构成晶体的各个组分和予掺杂的原子</a:t>
            </a:r>
            <a:r>
              <a:rPr kumimoji="1" lang="en-US" altLang="zh-CN" sz="2200" b="1" dirty="0">
                <a:latin typeface="Times New Roman" pitchFamily="18" charset="0"/>
                <a:ea typeface="楷体" panose="02010609060101010101" pitchFamily="49" charset="-122"/>
                <a:cs typeface="Times New Roman" panose="02020603050405020304" pitchFamily="18" charset="0"/>
              </a:rPr>
              <a:t>(</a:t>
            </a:r>
            <a:r>
              <a:rPr kumimoji="1" lang="zh-CN" altLang="en-US" sz="2200" b="1" dirty="0">
                <a:latin typeface="Times New Roman" pitchFamily="18" charset="0"/>
                <a:ea typeface="楷体" panose="02010609060101010101" pitchFamily="49" charset="-122"/>
                <a:cs typeface="Times New Roman" panose="02020603050405020304" pitchFamily="18" charset="0"/>
              </a:rPr>
              <a:t>分子</a:t>
            </a:r>
            <a:r>
              <a:rPr kumimoji="1" lang="en-US" altLang="zh-CN" sz="2200" b="1" dirty="0">
                <a:latin typeface="Times New Roman" pitchFamily="18" charset="0"/>
                <a:ea typeface="楷体" panose="02010609060101010101" pitchFamily="49" charset="-122"/>
                <a:cs typeface="Times New Roman" panose="02020603050405020304" pitchFamily="18" charset="0"/>
              </a:rPr>
              <a:t>)</a:t>
            </a:r>
            <a:r>
              <a:rPr kumimoji="1" lang="zh-CN" altLang="en-US" sz="2200" b="1" dirty="0">
                <a:latin typeface="Times New Roman" pitchFamily="18" charset="0"/>
                <a:ea typeface="楷体" panose="02010609060101010101" pitchFamily="49" charset="-122"/>
                <a:cs typeface="Times New Roman" panose="02020603050405020304" pitchFamily="18" charset="0"/>
              </a:rPr>
              <a:t>，以一定的热运动速度，按一定的比例从喷射炉中喷射到基片上去进行晶体外延生长而制备单晶膜的一种方法。简称</a:t>
            </a:r>
            <a:r>
              <a:rPr kumimoji="1" lang="en-US" altLang="zh-CN" sz="2200" b="1" dirty="0">
                <a:latin typeface="Times New Roman" pitchFamily="18" charset="0"/>
                <a:ea typeface="楷体" panose="02010609060101010101" pitchFamily="49" charset="-122"/>
                <a:cs typeface="Times New Roman" panose="02020603050405020304" pitchFamily="18" charset="0"/>
              </a:rPr>
              <a:t>MBE</a:t>
            </a:r>
            <a:r>
              <a:rPr kumimoji="1" lang="zh-CN" altLang="en-US" sz="2200" b="1" dirty="0" smtClean="0">
                <a:latin typeface="Times New Roman" pitchFamily="18" charset="0"/>
                <a:ea typeface="楷体" panose="02010609060101010101" pitchFamily="49" charset="-122"/>
                <a:cs typeface="Times New Roman" panose="02020603050405020304" pitchFamily="18" charset="0"/>
              </a:rPr>
              <a:t>法（</a:t>
            </a:r>
            <a:r>
              <a:rPr kumimoji="1" lang="en-US" altLang="zh-CN" sz="2200" b="1" dirty="0">
                <a:latin typeface="Times New Roman" pitchFamily="18" charset="0"/>
                <a:ea typeface="楷体" panose="02010609060101010101" pitchFamily="49" charset="-122"/>
                <a:cs typeface="Times New Roman" panose="02020603050405020304" pitchFamily="18" charset="0"/>
              </a:rPr>
              <a:t>Molecular Beam Epitaxy Technology</a:t>
            </a:r>
            <a:r>
              <a:rPr kumimoji="1" lang="zh-CN" altLang="en-US" sz="2200" b="1" dirty="0">
                <a:latin typeface="Times New Roman" pitchFamily="18" charset="0"/>
                <a:ea typeface="楷体" panose="02010609060101010101" pitchFamily="49" charset="-122"/>
                <a:cs typeface="Times New Roman" panose="02020603050405020304" pitchFamily="18" charset="0"/>
              </a:rPr>
              <a:t>）</a:t>
            </a:r>
            <a:endParaRPr kumimoji="1" lang="zh-CN" altLang="en-US" sz="2200" b="1" dirty="0">
              <a:latin typeface="Times New Roman" pitchFamily="18" charset="0"/>
              <a:ea typeface="楷体" panose="02010609060101010101" pitchFamily="49" charset="-122"/>
              <a:cs typeface="Times New Roman" panose="02020603050405020304" pitchFamily="18" charset="0"/>
            </a:endParaRPr>
          </a:p>
        </p:txBody>
      </p:sp>
      <p:sp>
        <p:nvSpPr>
          <p:cNvPr id="6" name="Rectangle 3"/>
          <p:cNvSpPr txBox="1">
            <a:spLocks noChangeArrowheads="1"/>
          </p:cNvSpPr>
          <p:nvPr/>
        </p:nvSpPr>
        <p:spPr>
          <a:xfrm>
            <a:off x="0" y="4581128"/>
            <a:ext cx="3505200" cy="533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defRPr/>
            </a:pPr>
            <a:r>
              <a:rPr kumimoji="1" lang="zh-CN" altLang="en-US" sz="2400" b="1" dirty="0" smtClean="0">
                <a:latin typeface="Times New Roman" pitchFamily="18" charset="0"/>
                <a:ea typeface="楷体" panose="02010609060101010101" pitchFamily="49" charset="-122"/>
                <a:cs typeface="Times New Roman" panose="02020603050405020304" pitchFamily="18" charset="0"/>
              </a:rPr>
              <a:t>淀积与外延的比较</a:t>
            </a:r>
            <a:endParaRPr kumimoji="1" lang="zh-CN" altLang="en-US" sz="2400" b="1" dirty="0">
              <a:latin typeface="Times New Roman" pitchFamily="18" charset="0"/>
              <a:ea typeface="楷体" panose="02010609060101010101" pitchFamily="49" charset="-122"/>
              <a:cs typeface="Times New Roman" panose="02020603050405020304" pitchFamily="18" charset="0"/>
            </a:endParaRPr>
          </a:p>
        </p:txBody>
      </p:sp>
      <p:sp>
        <p:nvSpPr>
          <p:cNvPr id="7" name="矩形 6"/>
          <p:cNvSpPr/>
          <p:nvPr/>
        </p:nvSpPr>
        <p:spPr>
          <a:xfrm>
            <a:off x="-18365" y="5204012"/>
            <a:ext cx="9180729" cy="1107996"/>
          </a:xfrm>
          <a:prstGeom prst="rect">
            <a:avLst/>
          </a:prstGeom>
        </p:spPr>
        <p:txBody>
          <a:bodyPr wrap="square">
            <a:spAutoFit/>
          </a:bodyPr>
          <a:lstStyle/>
          <a:p>
            <a:pPr>
              <a:lnSpc>
                <a:spcPct val="150000"/>
              </a:lnSpc>
            </a:pPr>
            <a:r>
              <a:rPr kumimoji="1" lang="zh-CN" altLang="en-US" sz="2200" b="1" dirty="0">
                <a:latin typeface="Times New Roman" pitchFamily="18" charset="0"/>
                <a:ea typeface="楷体" panose="02010609060101010101" pitchFamily="49" charset="-122"/>
                <a:cs typeface="Times New Roman" panose="02020603050405020304" pitchFamily="18" charset="0"/>
              </a:rPr>
              <a:t>淀积的温度一般比外延的温度低</a:t>
            </a:r>
            <a:r>
              <a:rPr kumimoji="1" lang="en-US" altLang="zh-CN" sz="2200" b="1" dirty="0">
                <a:latin typeface="Times New Roman" pitchFamily="18" charset="0"/>
                <a:ea typeface="楷体" panose="02010609060101010101" pitchFamily="49" charset="-122"/>
                <a:cs typeface="Times New Roman" panose="02020603050405020304" pitchFamily="18" charset="0"/>
              </a:rPr>
              <a:t>,</a:t>
            </a:r>
            <a:r>
              <a:rPr kumimoji="1" lang="zh-CN" altLang="en-US" sz="2200" b="1" dirty="0">
                <a:latin typeface="Times New Roman" pitchFamily="18" charset="0"/>
                <a:ea typeface="楷体" panose="02010609060101010101" pitchFamily="49" charset="-122"/>
                <a:cs typeface="Times New Roman" panose="02020603050405020304" pitchFamily="18" charset="0"/>
              </a:rPr>
              <a:t>淀积得到的一般都是多晶。而外延一般温度较高</a:t>
            </a:r>
            <a:r>
              <a:rPr kumimoji="1" lang="en-US" altLang="zh-CN" sz="2200" b="1" dirty="0">
                <a:latin typeface="Times New Roman" pitchFamily="18" charset="0"/>
                <a:ea typeface="楷体" panose="02010609060101010101" pitchFamily="49" charset="-122"/>
                <a:cs typeface="Times New Roman" panose="02020603050405020304" pitchFamily="18" charset="0"/>
              </a:rPr>
              <a:t>,</a:t>
            </a:r>
            <a:r>
              <a:rPr kumimoji="1" lang="zh-CN" altLang="en-US" sz="2200" b="1" dirty="0">
                <a:latin typeface="Times New Roman" pitchFamily="18" charset="0"/>
                <a:ea typeface="楷体" panose="02010609060101010101" pitchFamily="49" charset="-122"/>
                <a:cs typeface="Times New Roman" panose="02020603050405020304" pitchFamily="18" charset="0"/>
              </a:rPr>
              <a:t>比如</a:t>
            </a:r>
            <a:r>
              <a:rPr kumimoji="1" lang="zh-CN" altLang="en-US" sz="2200" b="1" dirty="0" smtClean="0">
                <a:latin typeface="Times New Roman" pitchFamily="18" charset="0"/>
                <a:ea typeface="楷体" panose="02010609060101010101" pitchFamily="49" charset="-122"/>
                <a:cs typeface="Times New Roman" panose="02020603050405020304" pitchFamily="18" charset="0"/>
              </a:rPr>
              <a:t>气相外延</a:t>
            </a:r>
            <a:r>
              <a:rPr kumimoji="1" lang="en-US" altLang="zh-CN" sz="2200" b="1" dirty="0">
                <a:latin typeface="Times New Roman" pitchFamily="18" charset="0"/>
                <a:ea typeface="楷体" panose="02010609060101010101" pitchFamily="49" charset="-122"/>
                <a:cs typeface="Times New Roman" panose="02020603050405020304" pitchFamily="18" charset="0"/>
              </a:rPr>
              <a:t>,</a:t>
            </a:r>
            <a:r>
              <a:rPr kumimoji="1" lang="zh-CN" altLang="en-US" sz="2200" b="1" dirty="0">
                <a:latin typeface="Times New Roman" pitchFamily="18" charset="0"/>
                <a:ea typeface="楷体" panose="02010609060101010101" pitchFamily="49" charset="-122"/>
                <a:cs typeface="Times New Roman" panose="02020603050405020304" pitchFamily="18" charset="0"/>
              </a:rPr>
              <a:t>它的反应室是热壁的</a:t>
            </a:r>
            <a:r>
              <a:rPr kumimoji="1" lang="en-US" altLang="zh-CN" sz="2200" b="1" dirty="0">
                <a:latin typeface="Times New Roman" pitchFamily="18" charset="0"/>
                <a:ea typeface="楷体" panose="02010609060101010101" pitchFamily="49" charset="-122"/>
                <a:cs typeface="Times New Roman" panose="02020603050405020304" pitchFamily="18" charset="0"/>
              </a:rPr>
              <a:t>,</a:t>
            </a:r>
            <a:r>
              <a:rPr kumimoji="1" lang="zh-CN" altLang="en-US" sz="2200" b="1" dirty="0">
                <a:latin typeface="Times New Roman" pitchFamily="18" charset="0"/>
                <a:ea typeface="楷体" panose="02010609060101010101" pitchFamily="49" charset="-122"/>
                <a:cs typeface="Times New Roman" panose="02020603050405020304" pitchFamily="18" charset="0"/>
              </a:rPr>
              <a:t>得到的是单晶。</a:t>
            </a:r>
          </a:p>
        </p:txBody>
      </p:sp>
    </p:spTree>
    <p:extLst>
      <p:ext uri="{BB962C8B-B14F-4D97-AF65-F5344CB8AC3E}">
        <p14:creationId xmlns:p14="http://schemas.microsoft.com/office/powerpoint/2010/main" val="349140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（外延）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36424"/>
            <a:ext cx="9162663" cy="461665"/>
          </a:xfrm>
          <a:prstGeom prst="rect">
            <a:avLst/>
          </a:prstGeom>
        </p:spPr>
        <p:txBody>
          <a:bodyPr wrap="square">
            <a:spAutoFit/>
          </a:bodyPr>
          <a:lstStyle/>
          <a:p>
            <a:pPr marL="342900" indent="-342900">
              <a:buFont typeface="Wingdings" panose="05000000000000000000" pitchFamily="2" charset="2"/>
              <a:buChar char="Ø"/>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外延的命令</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epitaxy</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，参数及其说明如下：</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498088"/>
            <a:ext cx="7286590" cy="51150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478630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仿真（外延）</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43457" y="1167377"/>
            <a:ext cx="2659702"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外延速率的例子：</a:t>
            </a:r>
          </a:p>
        </p:txBody>
      </p:sp>
      <p:sp>
        <p:nvSpPr>
          <p:cNvPr id="9" name="矩形 8"/>
          <p:cNvSpPr/>
          <p:nvPr/>
        </p:nvSpPr>
        <p:spPr>
          <a:xfrm>
            <a:off x="-9322" y="1772816"/>
            <a:ext cx="9129724" cy="461665"/>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Epitaxy time=1 temp=1000 </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c.boron</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=1e15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growth.rate</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=0.5</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2852936"/>
            <a:ext cx="4320000" cy="324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2852936"/>
            <a:ext cx="4320000" cy="324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1622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仿真（外延）</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536" y="3429000"/>
            <a:ext cx="8924396"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0" y="2151508"/>
            <a:ext cx="9144000" cy="400110"/>
          </a:xfrm>
          <a:prstGeom prst="rect">
            <a:avLst/>
          </a:prstGeom>
        </p:spPr>
        <p:txBody>
          <a:bodyPr wrap="square">
            <a:spAutoFit/>
          </a:bodyPr>
          <a:lstStyle/>
          <a:p>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Epitaxy time=1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temp=1000 thick=2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c.phos</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=1e15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dy</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=0.02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ydy</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=0.1 div=10</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矩形 3"/>
          <p:cNvSpPr/>
          <p:nvPr/>
        </p:nvSpPr>
        <p:spPr>
          <a:xfrm>
            <a:off x="0" y="1340768"/>
            <a:ext cx="2659702"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网格控制的例子：</a:t>
            </a:r>
          </a:p>
        </p:txBody>
      </p:sp>
    </p:spTree>
    <p:extLst>
      <p:ext uri="{BB962C8B-B14F-4D97-AF65-F5344CB8AC3E}">
        <p14:creationId xmlns:p14="http://schemas.microsoft.com/office/powerpoint/2010/main" val="4276661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（抛光）</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96752"/>
            <a:ext cx="8748464" cy="461665"/>
          </a:xfrm>
          <a:prstGeom prst="rect">
            <a:avLst/>
          </a:prstGeom>
        </p:spPr>
        <p:txBody>
          <a:bodyPr wrap="square">
            <a:spAutoFit/>
          </a:bodyPr>
          <a:lstStyle/>
          <a:p>
            <a:pPr marL="342900" indent="-342900">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抛光</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矩形 3"/>
          <p:cNvSpPr/>
          <p:nvPr/>
        </p:nvSpPr>
        <p:spPr>
          <a:xfrm>
            <a:off x="-25993" y="1844824"/>
            <a:ext cx="9169991" cy="1684244"/>
          </a:xfrm>
          <a:prstGeom prst="rect">
            <a:avLst/>
          </a:prstGeom>
        </p:spPr>
        <p:txBody>
          <a:bodyPr wrap="square">
            <a:spAutoFit/>
          </a:bodyPr>
          <a:lstStyle/>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抛光是指利用机械、化学或电化学的作用，使工件表面粗糙度降低，以获得光亮、平整表面的加工方法。是利用抛光工具和磨料颗粒或其他抛光介质对工件表面进行的修饰加工。</a:t>
            </a:r>
          </a:p>
        </p:txBody>
      </p:sp>
      <p:sp>
        <p:nvSpPr>
          <p:cNvPr id="6" name="矩形 5"/>
          <p:cNvSpPr/>
          <p:nvPr/>
        </p:nvSpPr>
        <p:spPr>
          <a:xfrm>
            <a:off x="-25993" y="4293096"/>
            <a:ext cx="5101076" cy="461665"/>
          </a:xfrm>
          <a:prstGeom prst="rect">
            <a:avLst/>
          </a:prstGeom>
        </p:spPr>
        <p:txBody>
          <a:bodyPr wrap="none">
            <a:spAutoFit/>
          </a:bodyPr>
          <a:lstStyle/>
          <a:p>
            <a:pPr marL="342900" indent="-342900">
              <a:buFont typeface="Wingdings" panose="05000000000000000000" pitchFamily="2" charset="2"/>
              <a:buChar char="Ø"/>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Polish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为化学机制的抛光</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(CMP)</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9" name="矩形 8"/>
          <p:cNvSpPr/>
          <p:nvPr/>
        </p:nvSpPr>
        <p:spPr>
          <a:xfrm>
            <a:off x="-25993" y="5229200"/>
            <a:ext cx="5408853" cy="461665"/>
          </a:xfrm>
          <a:prstGeom prst="rect">
            <a:avLst/>
          </a:prstGeom>
        </p:spPr>
        <p:txBody>
          <a:bodyPr wrap="none">
            <a:spAutoFit/>
          </a:bodyPr>
          <a:lstStyle/>
          <a:p>
            <a:pPr marL="342900" indent="-342900">
              <a:buFont typeface="Wingdings" panose="05000000000000000000" pitchFamily="2" charset="2"/>
              <a:buChar char="Ø"/>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CMP: chemical mechanical polishing</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0875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（抛光）</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96752"/>
            <a:ext cx="8748464" cy="461665"/>
          </a:xfrm>
          <a:prstGeom prst="rect">
            <a:avLst/>
          </a:prstGeom>
        </p:spPr>
        <p:txBody>
          <a:bodyPr wrap="square">
            <a:spAutoFit/>
          </a:bodyPr>
          <a:lstStyle/>
          <a:p>
            <a:pPr marL="342900" indent="-342900">
              <a:buFont typeface="Wingdings" panose="05000000000000000000" pitchFamily="2" charset="2"/>
              <a:buChar char="Ø"/>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抛光的命令</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polish</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，参数及说明如下：</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217" y="1680157"/>
            <a:ext cx="8270396"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17" y="3933056"/>
            <a:ext cx="8482894" cy="2520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03707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仿真（抛光）</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601998"/>
            <a:ext cx="9144000" cy="1323439"/>
          </a:xfrm>
          <a:prstGeom prst="rect">
            <a:avLst/>
          </a:prstGeom>
        </p:spPr>
        <p:txBody>
          <a:bodyPr wrap="square">
            <a:spAutoFit/>
          </a:bodyPr>
          <a:lstStyle/>
          <a:p>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Rate.polish</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oxide machine=</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cmp</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u.m</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max.hard</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=0.15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min.hard</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=0.03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isotropic=0.001</a:t>
            </a:r>
          </a:p>
          <a:p>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Polish machine=</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cmp</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time=4 min</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0" y="1110276"/>
            <a:ext cx="235032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简单的抛光例子</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5265" y="3129213"/>
            <a:ext cx="5400000" cy="3705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4048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仿真（抛光）</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110276"/>
            <a:ext cx="296908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相对复杂</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的抛光例子</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3" y="1984375"/>
            <a:ext cx="9046466" cy="30288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7016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a:t>
            </a: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仿真（抛光）</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5" y="1628800"/>
            <a:ext cx="4541046" cy="43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9061" y="1628800"/>
            <a:ext cx="4598091" cy="43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237046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（光刻）</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0213" y="1196751"/>
            <a:ext cx="2077813" cy="461665"/>
          </a:xfrm>
          <a:prstGeom prst="rect">
            <a:avLst/>
          </a:prstGeom>
        </p:spPr>
        <p:txBody>
          <a:bodyPr wrap="none">
            <a:spAutoFit/>
          </a:bodyPr>
          <a:lstStyle/>
          <a:p>
            <a:pPr marL="342900" indent="-342900">
              <a:buFont typeface="Wingdings" panose="05000000000000000000" pitchFamily="2" charset="2"/>
              <a:buChar char="Ø"/>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光刻示意图</a:t>
            </a:r>
          </a:p>
        </p:txBody>
      </p:sp>
      <p:sp>
        <p:nvSpPr>
          <p:cNvPr id="4" name="矩形 3"/>
          <p:cNvSpPr/>
          <p:nvPr/>
        </p:nvSpPr>
        <p:spPr>
          <a:xfrm>
            <a:off x="3676666" y="5445224"/>
            <a:ext cx="1422184"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光学系统</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729" y="2060848"/>
            <a:ext cx="8290211" cy="3096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530521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131840" y="5949280"/>
            <a:ext cx="235032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曝光（</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接触式</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1196751"/>
            <a:ext cx="4104456" cy="4700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741536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131840" y="5949280"/>
            <a:ext cx="235032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曝光（接近式）</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246470"/>
            <a:ext cx="4816946" cy="46997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51306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325400" y="6149385"/>
            <a:ext cx="235032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曝光</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（投影式）</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1253" y="1196752"/>
            <a:ext cx="4383874" cy="4751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52123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627784" y="6129982"/>
            <a:ext cx="296908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曝光</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（步进扫描式）</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213" y="1124744"/>
            <a:ext cx="6696224" cy="4733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76840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2290" name="Picture 2" descr="https://bkimg.cdn.bcebos.com/pic/a71ea8d3fd1f413439e5cbea2e1f95cad0c85e50?x-bce-process=image/watermark,image_d2F0ZXIvYmFpa2U5Mg==,g_7,xp_5,yp_5/format,f_au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40" y="1772816"/>
            <a:ext cx="9035859" cy="3600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9001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7" name="Picture 2" descr="http://5b0988e595225.cdn.sohucs.com/images/20181125/3906edc6391c4a698d5d98ef2f81c61b.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2750" y="1700808"/>
            <a:ext cx="5732280" cy="352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9353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5362" name="Picture 2" descr="https://pic2.zhimg.com/80/v2-4216fa70184633a343cbb9a4272a37e5_720w.jpg?source=1940ef5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88840"/>
            <a:ext cx="9048672" cy="3096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1355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5122" name="Picture 2" descr="http://file.elecfans.com/web1/M00/AE/B7/pIYBAF3YnfWADBT6AAE0WJAF3oU82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46" y="1490906"/>
            <a:ext cx="8628714" cy="4314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6458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3314" name="Picture 2" descr="https://gimg2.baidu.com/image_search/src=http%3A%2F%2Foss.im2maker.com%2Fuploadfile%2F2019%2F05%2F20190510125658527.jpg&amp;refer=http%3A%2F%2Foss.im2maker.com&amp;app=2002&amp;size=f9999,10000&amp;q=a80&amp;n=0&amp;g=0n&amp;fmt=jpeg?sec=1624960138&amp;t=344d0b1b5b3ad0d79db36e7ed5e4abf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12" y="1121430"/>
            <a:ext cx="8828127" cy="5115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38762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6712" y="1340768"/>
            <a:ext cx="3514725" cy="128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0" y="2967335"/>
            <a:ext cx="9144000" cy="1130246"/>
          </a:xfrm>
          <a:prstGeom prst="rect">
            <a:avLst/>
          </a:prstGeom>
        </p:spPr>
        <p:txBody>
          <a:bodyPr wrap="square">
            <a:spAutoFit/>
          </a:bodyPr>
          <a:lstStyle/>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根据瑞利公式</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R=k1</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*(λ/NA)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，我们能做的就是降低波长</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λ</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，提高镜头的数值孔径</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NA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，降低综合因素</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k1</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38114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433" y="1020937"/>
            <a:ext cx="7800975" cy="5534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705273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3" y="1268760"/>
            <a:ext cx="7672039" cy="5256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43524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9144000"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对于光刻仿真需要定义的有：光源（波长，强度），成像系统</a:t>
            </a:r>
          </a:p>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（透镜，滤波），掩膜结构，曝光，烘烤，显影</a:t>
            </a:r>
          </a:p>
        </p:txBody>
      </p:sp>
      <p:sp>
        <p:nvSpPr>
          <p:cNvPr id="4" name="矩形 3"/>
          <p:cNvSpPr/>
          <p:nvPr/>
        </p:nvSpPr>
        <p:spPr>
          <a:xfrm>
            <a:off x="23529" y="3140968"/>
            <a:ext cx="4825360"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依此即可大体确定光刻仿真的流程</a:t>
            </a:r>
          </a:p>
        </p:txBody>
      </p:sp>
    </p:spTree>
    <p:extLst>
      <p:ext uri="{BB962C8B-B14F-4D97-AF65-F5344CB8AC3E}">
        <p14:creationId xmlns:p14="http://schemas.microsoft.com/office/powerpoint/2010/main" val="37040428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96752"/>
            <a:ext cx="3210366"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OPTOLITH</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模块</a:t>
            </a:r>
          </a:p>
        </p:txBody>
      </p:sp>
      <p:sp>
        <p:nvSpPr>
          <p:cNvPr id="4" name="矩形 3"/>
          <p:cNvSpPr/>
          <p:nvPr/>
        </p:nvSpPr>
        <p:spPr>
          <a:xfrm>
            <a:off x="-3246" y="1897836"/>
            <a:ext cx="9147246" cy="830997"/>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OPTOLITH</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模块可对成像</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(imaging)</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，光阻曝光</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(exposure)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，光阻烘烤（</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bake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）和光阻显影（</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development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）等工艺进行精确定义。</a:t>
            </a:r>
          </a:p>
        </p:txBody>
      </p:sp>
      <p:sp>
        <p:nvSpPr>
          <p:cNvPr id="6" name="矩形 5"/>
          <p:cNvSpPr/>
          <p:nvPr/>
        </p:nvSpPr>
        <p:spPr>
          <a:xfrm>
            <a:off x="-3246" y="3309040"/>
            <a:ext cx="9144000" cy="830997"/>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OPTOLITH</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提供光阻的库及其光学性质和显影时的特性（这些可根据需要修改）。</a:t>
            </a:r>
          </a:p>
        </p:txBody>
      </p:sp>
      <p:sp>
        <p:nvSpPr>
          <p:cNvPr id="7" name="矩形 6"/>
          <p:cNvSpPr/>
          <p:nvPr/>
        </p:nvSpPr>
        <p:spPr>
          <a:xfrm>
            <a:off x="-3246" y="4869160"/>
            <a:ext cx="9144000"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主要的小工艺步骤有：</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Mask,  illumination,  projection,  filter,  layout,  image,  expose,  bake,  develop</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0484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99076" y="1157805"/>
            <a:ext cx="9044923" cy="1200329"/>
          </a:xfrm>
          <a:prstGeom prst="rect">
            <a:avLst/>
          </a:prstGeom>
        </p:spPr>
        <p:txBody>
          <a:bodyPr wrap="square">
            <a:spAutoFit/>
          </a:bodyPr>
          <a:lstStyle/>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MASK: </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可</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淀积和形成光刻胶图形，或者是由</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MASKVIEWS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界面编辑的人造掩膜势垒材料</a:t>
            </a:r>
          </a:p>
          <a:p>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355" y="2404674"/>
            <a:ext cx="8208912" cy="1152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32678" y="3876397"/>
            <a:ext cx="7812360"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掩膜也可以由</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Maskviews</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编辑得到</a:t>
            </a:r>
          </a:p>
        </p:txBody>
      </p:sp>
      <p:sp>
        <p:nvSpPr>
          <p:cNvPr id="6" name="矩形 5"/>
          <p:cNvSpPr/>
          <p:nvPr/>
        </p:nvSpPr>
        <p:spPr>
          <a:xfrm>
            <a:off x="0" y="4653136"/>
            <a:ext cx="5868144" cy="461665"/>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Layout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命令可以描述掩膜特征</a:t>
            </a:r>
          </a:p>
        </p:txBody>
      </p:sp>
    </p:spTree>
    <p:extLst>
      <p:ext uri="{BB962C8B-B14F-4D97-AF65-F5344CB8AC3E}">
        <p14:creationId xmlns:p14="http://schemas.microsoft.com/office/powerpoint/2010/main" val="13883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484784"/>
            <a:ext cx="8040004" cy="40324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019196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657" y="1412776"/>
            <a:ext cx="6637810" cy="4392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4472613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53135"/>
            <a:ext cx="5306261" cy="461665"/>
          </a:xfrm>
          <a:prstGeom prst="rect">
            <a:avLst/>
          </a:prstGeom>
        </p:spPr>
        <p:txBody>
          <a:bodyPr wrap="none">
            <a:spAutoFit/>
          </a:bodyPr>
          <a:lstStyle/>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Layout: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描述光刻时输入掩膜的特征。</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1700808"/>
            <a:ext cx="8457792" cy="4866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202943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124744"/>
            <a:ext cx="2880000" cy="23987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1105280"/>
            <a:ext cx="2880000" cy="23935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4293096"/>
            <a:ext cx="2880000" cy="23494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0032" y="4284810"/>
            <a:ext cx="2880000" cy="235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9290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35338" y="1124744"/>
            <a:ext cx="7316981" cy="461665"/>
          </a:xfrm>
          <a:prstGeom prst="rect">
            <a:avLst/>
          </a:prstGeom>
        </p:spPr>
        <p:txBody>
          <a:bodyPr wrap="square">
            <a:spAutoFit/>
          </a:bodyPr>
          <a:lstStyle/>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Illumination</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设定</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基本的照明参数。</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844824"/>
            <a:ext cx="8463918"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3590" y="4494311"/>
            <a:ext cx="7625806"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例句：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Illumination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i.line</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x.tilt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=0.1 </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z.tilt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=0.1 intensity=1</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528639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07346" y="1124744"/>
            <a:ext cx="8281078" cy="461665"/>
          </a:xfrm>
          <a:prstGeom prst="rect">
            <a:avLst/>
          </a:prstGeom>
        </p:spPr>
        <p:txBody>
          <a:bodyPr wrap="square">
            <a:spAutoFit/>
          </a:bodyPr>
          <a:lstStyle/>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Projection</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：定义光学投影系统</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矩形 3"/>
          <p:cNvSpPr/>
          <p:nvPr/>
        </p:nvSpPr>
        <p:spPr>
          <a:xfrm>
            <a:off x="-71438" y="1772816"/>
            <a:ext cx="9144000" cy="830997"/>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参数</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NA(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光学投影系统</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的数值孔径</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Flare</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成像时出现的耀斑数</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0" y="2797477"/>
            <a:ext cx="7740352" cy="830997"/>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例句：</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Projection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NA=0.5   Flare=1</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699" y="3438541"/>
            <a:ext cx="3905250" cy="2914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descr="http://107cine.cdn.cinehello.com/20150122/1421912724_6146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717032"/>
            <a:ext cx="3660682" cy="2525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3844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96752"/>
            <a:ext cx="8604448" cy="461665"/>
          </a:xfrm>
          <a:prstGeom prst="rect">
            <a:avLst/>
          </a:prstGeom>
        </p:spPr>
        <p:txBody>
          <a:bodyPr wrap="square">
            <a:spAutoFit/>
          </a:bodyPr>
          <a:lstStyle/>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Filter</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：定义</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发射孔</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(pupil)</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的类型和光源形状及其滤波特性。</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122" y="1844824"/>
            <a:ext cx="7920880" cy="20946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0" y="4365104"/>
            <a:ext cx="9252520" cy="400110"/>
          </a:xfrm>
          <a:prstGeom prst="rect">
            <a:avLst/>
          </a:prstGeom>
        </p:spPr>
        <p:txBody>
          <a:bodyPr wrap="square">
            <a:spAutoFit/>
          </a:bodyPr>
          <a:lstStyle/>
          <a:p>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例句</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Pupil.filter</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in.radius</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=0.1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out.radius</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=0.2  phase=0 </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transmit=0.1</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827" y="5229200"/>
            <a:ext cx="3964932" cy="400110"/>
          </a:xfrm>
          <a:prstGeom prst="rect">
            <a:avLst/>
          </a:prstGeom>
        </p:spPr>
        <p:txBody>
          <a:bodyPr wrap="none">
            <a:spAutoFit/>
          </a:bodyPr>
          <a:lstStyle/>
          <a:p>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Illum.filter</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pupil.filter</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大体类似</a:t>
            </a:r>
          </a:p>
        </p:txBody>
      </p:sp>
    </p:spTree>
    <p:extLst>
      <p:ext uri="{BB962C8B-B14F-4D97-AF65-F5344CB8AC3E}">
        <p14:creationId xmlns:p14="http://schemas.microsoft.com/office/powerpoint/2010/main" val="66922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4808" y="1034474"/>
            <a:ext cx="4572000" cy="461665"/>
          </a:xfrm>
          <a:prstGeom prst="rect">
            <a:avLst/>
          </a:prstGeom>
        </p:spPr>
        <p:txBody>
          <a:bodyPr>
            <a:spAutoFit/>
          </a:bodyPr>
          <a:lstStyle/>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Image</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：定义成像窗口</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193" y="1599186"/>
            <a:ext cx="7127264" cy="4106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20488" y="6021288"/>
            <a:ext cx="9252520" cy="400110"/>
          </a:xfrm>
          <a:prstGeom prst="rect">
            <a:avLst/>
          </a:prstGeom>
        </p:spPr>
        <p:txBody>
          <a:bodyPr wrap="square">
            <a:spAutoFit/>
          </a:bodyPr>
          <a:lstStyle/>
          <a:p>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例句</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t>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Image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win.x.lo</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=-2 </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win.x.hi</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=2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win.z.lo</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=0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win.z.hi</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=2  dx=0  gap=50</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7445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405" y="1013379"/>
            <a:ext cx="4572000" cy="461665"/>
          </a:xfrm>
          <a:prstGeom prst="rect">
            <a:avLst/>
          </a:prstGeom>
        </p:spPr>
        <p:txBody>
          <a:bodyPr>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Expose</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：定义曝光</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7" y="1586409"/>
            <a:ext cx="7667610" cy="3456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20488" y="5301208"/>
            <a:ext cx="9252520" cy="707886"/>
          </a:xfrm>
          <a:prstGeom prst="rect">
            <a:avLst/>
          </a:prstGeom>
        </p:spPr>
        <p:txBody>
          <a:bodyPr wrap="square">
            <a:spAutoFit/>
          </a:bodyPr>
          <a:lstStyle/>
          <a:p>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例句</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t>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Expose </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z.cross</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cross.val</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1</a:t>
            </a:r>
          </a:p>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Expose dose=200 </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num.refl</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=5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all.mats</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10693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0284" y="1124744"/>
            <a:ext cx="7760636" cy="461665"/>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Bake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：定义对光阻的后曝光和后坚膜时的烘烤</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772816"/>
            <a:ext cx="6167273" cy="1872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0" y="4221088"/>
            <a:ext cx="9144000" cy="707886"/>
          </a:xfrm>
          <a:prstGeom prst="rect">
            <a:avLst/>
          </a:prstGeom>
        </p:spPr>
        <p:txBody>
          <a:bodyPr wrap="square">
            <a:spAutoFit/>
          </a:bodyPr>
          <a:lstStyle/>
          <a:p>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例句</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t>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Bake time=25 </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temp=150  reflow</a:t>
            </a:r>
          </a:p>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Bake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reflow time=25 temp=150</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5688813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4572000" cy="461665"/>
          </a:xfrm>
          <a:prstGeom prst="rect">
            <a:avLst/>
          </a:prstGeom>
        </p:spPr>
        <p:txBody>
          <a:bodyPr>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Develop</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：定义显影</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772816"/>
            <a:ext cx="7920880" cy="20657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0028573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124744"/>
            <a:ext cx="7584884" cy="39377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p:cNvSpPr/>
          <p:nvPr/>
        </p:nvSpPr>
        <p:spPr>
          <a:xfrm>
            <a:off x="0" y="5301208"/>
            <a:ext cx="9144000" cy="1323439"/>
          </a:xfrm>
          <a:prstGeom prst="rect">
            <a:avLst/>
          </a:prstGeom>
        </p:spPr>
        <p:txBody>
          <a:bodyPr wrap="square">
            <a:spAutoFit/>
          </a:bodyPr>
          <a:lstStyle/>
          <a:p>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例句</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t>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Develop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kim</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dump=1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time=30  steps=10             </a:t>
            </a:r>
          </a:p>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Develop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mack</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time=30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steps=5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substeps</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=30</a:t>
            </a:r>
          </a:p>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Rate.develop</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name.resist</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=my  e1.dill=1  e2.dill=0.5  e3.dil=0.003</a:t>
            </a:r>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7149488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01" y="1124744"/>
            <a:ext cx="9106799" cy="5544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164709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261" y="1526775"/>
            <a:ext cx="8510601" cy="432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42844" y="428604"/>
            <a:ext cx="3480440" cy="1077218"/>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工艺仿真（光刻）</a:t>
            </a:r>
          </a:p>
          <a:p>
            <a:pPr>
              <a:defRPr/>
            </a:pP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18383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4019</TotalTime>
  <Words>1376</Words>
  <Application>Microsoft Office PowerPoint</Application>
  <PresentationFormat>全屏显示(4:3)</PresentationFormat>
  <Paragraphs>141</Paragraphs>
  <Slides>47</Slides>
  <Notes>0</Notes>
  <HiddenSlides>0</HiddenSlides>
  <MMClips>0</MMClips>
  <ScaleCrop>false</ScaleCrop>
  <HeadingPairs>
    <vt:vector size="4" baseType="variant">
      <vt:variant>
        <vt:lpstr>主题</vt:lpstr>
      </vt:variant>
      <vt:variant>
        <vt:i4>1</vt:i4>
      </vt:variant>
      <vt:variant>
        <vt:lpstr>幻灯片标题</vt:lpstr>
      </vt:variant>
      <vt:variant>
        <vt:i4>47</vt:i4>
      </vt:variant>
    </vt:vector>
  </HeadingPairs>
  <TitlesOfParts>
    <vt:vector size="48" baseType="lpstr">
      <vt:lpstr>Office 主题​​</vt:lpstr>
      <vt:lpstr>集成电路EDA技术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集成电路EDA技术</dc:title>
  <dc:creator>个人用户</dc:creator>
  <cp:lastModifiedBy>个人用户</cp:lastModifiedBy>
  <cp:revision>106</cp:revision>
  <dcterms:created xsi:type="dcterms:W3CDTF">2020-04-16T03:10:00Z</dcterms:created>
  <dcterms:modified xsi:type="dcterms:W3CDTF">2021-05-30T13:55:09Z</dcterms:modified>
</cp:coreProperties>
</file>