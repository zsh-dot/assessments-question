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0" r:id="rId3"/>
    <p:sldId id="289" r:id="rId4"/>
    <p:sldId id="356" r:id="rId5"/>
    <p:sldId id="355" r:id="rId6"/>
    <p:sldId id="357" r:id="rId7"/>
    <p:sldId id="358" r:id="rId8"/>
    <p:sldId id="363" r:id="rId9"/>
    <p:sldId id="359" r:id="rId10"/>
    <p:sldId id="290" r:id="rId11"/>
    <p:sldId id="292" r:id="rId12"/>
    <p:sldId id="293" r:id="rId13"/>
    <p:sldId id="375" r:id="rId14"/>
    <p:sldId id="294" r:id="rId15"/>
    <p:sldId id="295" r:id="rId16"/>
    <p:sldId id="296" r:id="rId17"/>
    <p:sldId id="322" r:id="rId18"/>
    <p:sldId id="323" r:id="rId19"/>
    <p:sldId id="297" r:id="rId20"/>
    <p:sldId id="303" r:id="rId21"/>
    <p:sldId id="304" r:id="rId22"/>
    <p:sldId id="305" r:id="rId23"/>
    <p:sldId id="364" r:id="rId24"/>
    <p:sldId id="366" r:id="rId25"/>
    <p:sldId id="371" r:id="rId26"/>
    <p:sldId id="367" r:id="rId27"/>
    <p:sldId id="368" r:id="rId28"/>
    <p:sldId id="369" r:id="rId29"/>
    <p:sldId id="365" r:id="rId30"/>
    <p:sldId id="370" r:id="rId31"/>
    <p:sldId id="298" r:id="rId32"/>
    <p:sldId id="373" r:id="rId33"/>
    <p:sldId id="374" r:id="rId34"/>
    <p:sldId id="299" r:id="rId35"/>
    <p:sldId id="300" r:id="rId36"/>
    <p:sldId id="321" r:id="rId37"/>
    <p:sldId id="301" r:id="rId38"/>
    <p:sldId id="306" r:id="rId39"/>
    <p:sldId id="307" r:id="rId40"/>
    <p:sldId id="308" r:id="rId41"/>
    <p:sldId id="309" r:id="rId42"/>
    <p:sldId id="310" r:id="rId4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4660"/>
  </p:normalViewPr>
  <p:slideViewPr>
    <p:cSldViewPr>
      <p:cViewPr>
        <p:scale>
          <a:sx n="70" d="100"/>
          <a:sy n="70" d="100"/>
        </p:scale>
        <p:origin x="-1578"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803461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3197960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846177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535309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118689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96656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122493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16747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503099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3645562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83363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078C83-53E9-4354-A834-8623ABCE5E61}" type="datetimeFigureOut">
              <a:rPr lang="zh-CN" altLang="en-US" smtClean="0"/>
              <a:t>2021/5/23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3556668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11</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、刻蚀</a:t>
            </a: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&amp;</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淀积</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76876598"/>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descr="https://bkimg.cdn.bcebos.com/pic/d1a20cf431adcbef088fa29aa0af2edda2cc9ff7?x-bce-process=image/watermark,image_d2F0ZXIvYmFpa2U4MA==,g_7,xp_5,yp_5/format,f_au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668" y="1340768"/>
            <a:ext cx="7645788" cy="4587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3412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（刻蚀）</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7586" y="1124744"/>
            <a:ext cx="2432076"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etch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a:t>
            </a:r>
          </a:p>
        </p:txBody>
      </p:sp>
      <p:sp>
        <p:nvSpPr>
          <p:cNvPr id="6" name="矩形 5"/>
          <p:cNvSpPr/>
          <p:nvPr/>
        </p:nvSpPr>
        <p:spPr>
          <a:xfrm>
            <a:off x="27586" y="1916832"/>
            <a:ext cx="9116414"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语句功能：</a:t>
            </a: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etch(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语句用来仿真刻蚀工艺过程。</a:t>
            </a:r>
          </a:p>
        </p:txBody>
      </p:sp>
      <p:sp>
        <p:nvSpPr>
          <p:cNvPr id="7" name="矩形 6"/>
          <p:cNvSpPr/>
          <p:nvPr/>
        </p:nvSpPr>
        <p:spPr>
          <a:xfrm>
            <a:off x="0" y="3284984"/>
            <a:ext cx="914400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语法结构：</a:t>
            </a: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etch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材料参数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几何刻蚀参数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4260" y="4725144"/>
            <a:ext cx="9148260" cy="1938992"/>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语句解析：</a:t>
            </a: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可以</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定义材料类型如</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Silicon, Oxide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等材料参数来定义将被进行刻蚀工艺操作的材料。如果选定了某种材料，那么即使其他材料包含在其中也不会被刻蚀掉。如果没有定义材料类型，那么程序会自动刻蚀掉定义区域部分的所有类型的材料。</a:t>
            </a:r>
          </a:p>
        </p:txBody>
      </p:sp>
    </p:spTree>
    <p:extLst>
      <p:ext uri="{BB962C8B-B14F-4D97-AF65-F5344CB8AC3E}">
        <p14:creationId xmlns:p14="http://schemas.microsoft.com/office/powerpoint/2010/main" val="343224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bkimg.cdn.bcebos.com/pic/472309f7905298223a71e65fdbca7bcb0b46d4e8?x-bce-process=image/watermark,image_d2F0ZXIvYmFpa2UxMTY=,g_7,xp_5,yp_5/format,f_au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05822"/>
            <a:ext cx="8577446" cy="44001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407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3" y="1340768"/>
            <a:ext cx="8334375" cy="433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89449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42844" y="1124744"/>
            <a:ext cx="8715436" cy="2238241"/>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干法刻蚀：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把硅片表面曝露于气态中产生的等离子体，等离子体通过光刻胶中开出的窗口，与硅片发生物理或化学反应（或这两种反应），从而去掉曝露的表面材料</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。是</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亚微米尺寸下刻蚀器件的最重要方法。</a:t>
            </a:r>
          </a:p>
        </p:txBody>
      </p:sp>
      <p:sp>
        <p:nvSpPr>
          <p:cNvPr id="7" name="矩形 6"/>
          <p:cNvSpPr/>
          <p:nvPr/>
        </p:nvSpPr>
        <p:spPr>
          <a:xfrm>
            <a:off x="142844" y="3715080"/>
            <a:ext cx="8715436" cy="1130246"/>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）离子束溅射刻蚀：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低气压下惰性气体辉光放电所产生的离子加速后入射到薄膜表面，裸露的薄膜被溅射而除去。</a:t>
            </a:r>
          </a:p>
        </p:txBody>
      </p:sp>
    </p:spTree>
    <p:extLst>
      <p:ext uri="{BB962C8B-B14F-4D97-AF65-F5344CB8AC3E}">
        <p14:creationId xmlns:p14="http://schemas.microsoft.com/office/powerpoint/2010/main" val="82055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8354" y="1050448"/>
            <a:ext cx="9001156" cy="2308324"/>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）等离子体刻蚀：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利用气压为</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1000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帕的特定气体（或混合气体）的辉光放电，产生能与薄膜发生离子化学反应的分子或分子基团，生成的反应产物是挥发性的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它在低气压的真空室中被抽走，从而实现刻蚀。</a:t>
            </a:r>
          </a:p>
        </p:txBody>
      </p:sp>
      <p:sp>
        <p:nvSpPr>
          <p:cNvPr id="7" name="矩形 6"/>
          <p:cNvSpPr/>
          <p:nvPr/>
        </p:nvSpPr>
        <p:spPr>
          <a:xfrm>
            <a:off x="35227" y="3573016"/>
            <a:ext cx="8933244" cy="2308324"/>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）反应离子刻蚀：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这种刻蚀过程同时兼有物理和化学两种</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作用。</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大量带电粒子受垂直于硅片表面的电场加速，垂直入射到硅片表面上</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以较大的动量进行物理刻蚀</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同时它们还与薄膜表面发生强烈的化学反应，产生化学刻蚀作用。</a:t>
            </a:r>
          </a:p>
        </p:txBody>
      </p:sp>
    </p:spTree>
    <p:extLst>
      <p:ext uri="{BB962C8B-B14F-4D97-AF65-F5344CB8AC3E}">
        <p14:creationId xmlns:p14="http://schemas.microsoft.com/office/powerpoint/2010/main" val="276514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8" name="Picture 4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1124744"/>
            <a:ext cx="9144000" cy="553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4614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42844" y="1124744"/>
            <a:ext cx="8715436" cy="1754326"/>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湿法刻蚀：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把硅片浸泡在一定的化学试剂或试剂溶液中，使没有被抗蚀剂掩蔽的那一部分薄膜表面与试剂发生化学反应而被除去</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但是，化学反应的各向异性</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较差</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115549" y="3039325"/>
            <a:ext cx="8715436" cy="1200329"/>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）化学刻蚀：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利用溶液与预刻蚀材料之间的化学反应来去除未被掩蔽膜材料掩蔽的部分而达到刻蚀</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目的。</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115549" y="4653136"/>
            <a:ext cx="8715436" cy="1754326"/>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）电解刻蚀：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利用金属在以自来水或盐水</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为刻蚀主体</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的液体中发生阳极溶解的原理，（电解的作用下）将金属</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进行刻蚀，接通刻蚀电源</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，从而</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达到刻蚀的</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目的。</a:t>
            </a:r>
          </a:p>
        </p:txBody>
      </p:sp>
    </p:spTree>
    <p:extLst>
      <p:ext uri="{BB962C8B-B14F-4D97-AF65-F5344CB8AC3E}">
        <p14:creationId xmlns:p14="http://schemas.microsoft.com/office/powerpoint/2010/main" val="418524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268760"/>
            <a:ext cx="7322927" cy="54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22443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296908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几何刻蚀参数</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解析：</a:t>
            </a:r>
          </a:p>
        </p:txBody>
      </p:sp>
      <p:sp>
        <p:nvSpPr>
          <p:cNvPr id="4" name="矩形 3"/>
          <p:cNvSpPr/>
          <p:nvPr/>
        </p:nvSpPr>
        <p:spPr>
          <a:xfrm>
            <a:off x="0" y="1688785"/>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ALL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定义了程序将移除选择的材料的所有部分。</a:t>
            </a:r>
          </a:p>
        </p:txBody>
      </p:sp>
      <p:sp>
        <p:nvSpPr>
          <p:cNvPr id="6" name="矩形 5"/>
          <p:cNvSpPr/>
          <p:nvPr/>
        </p:nvSpPr>
        <p:spPr>
          <a:xfrm>
            <a:off x="0" y="2420888"/>
            <a:ext cx="9144000"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DRY</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表示</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生成表面将重新生成被暴露的表面。并自动被降低一个固定的高度。如果</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Angle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Undercut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被定义，</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Dry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刻蚀部分的形状也会有所修正。</a:t>
            </a:r>
          </a:p>
        </p:txBody>
      </p:sp>
      <p:sp>
        <p:nvSpPr>
          <p:cNvPr id="7" name="矩形 6"/>
          <p:cNvSpPr/>
          <p:nvPr/>
        </p:nvSpPr>
        <p:spPr>
          <a:xfrm>
            <a:off x="30877" y="4018596"/>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Thickness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定义</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了</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dry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刻蚀类型中要刻蚀掉的厚度。</a:t>
            </a:r>
          </a:p>
        </p:txBody>
      </p:sp>
      <p:sp>
        <p:nvSpPr>
          <p:cNvPr id="8" name="矩形 7"/>
          <p:cNvSpPr/>
          <p:nvPr/>
        </p:nvSpPr>
        <p:spPr>
          <a:xfrm>
            <a:off x="-28456" y="5013176"/>
            <a:ext cx="9129756"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Angle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以</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角度为单位，定义了侧边斜率（默认值为</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90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度的直角）</a:t>
            </a:r>
          </a:p>
        </p:txBody>
      </p:sp>
    </p:spTree>
    <p:extLst>
      <p:ext uri="{BB962C8B-B14F-4D97-AF65-F5344CB8AC3E}">
        <p14:creationId xmlns:p14="http://schemas.microsoft.com/office/powerpoint/2010/main" val="353281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1546" y="1180524"/>
            <a:ext cx="9133858"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Undercut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定义当</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dry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刻蚀进行时，在一个掩膜下以微米为单位的刻蚀所延伸的距离。</a:t>
            </a:r>
          </a:p>
        </p:txBody>
      </p:sp>
      <p:graphicFrame>
        <p:nvGraphicFramePr>
          <p:cNvPr id="7" name="Object 2"/>
          <p:cNvGraphicFramePr>
            <a:graphicFrameLocks noChangeAspect="1"/>
          </p:cNvGraphicFramePr>
          <p:nvPr>
            <p:extLst>
              <p:ext uri="{D42A27DB-BD31-4B8C-83A1-F6EECF244321}">
                <p14:modId xmlns:p14="http://schemas.microsoft.com/office/powerpoint/2010/main" val="3407869320"/>
              </p:ext>
            </p:extLst>
          </p:nvPr>
        </p:nvGraphicFramePr>
        <p:xfrm>
          <a:off x="2252662" y="2011521"/>
          <a:ext cx="4495800" cy="2070100"/>
        </p:xfrm>
        <a:graphic>
          <a:graphicData uri="http://schemas.openxmlformats.org/presentationml/2006/ole">
            <mc:AlternateContent xmlns:mc="http://schemas.openxmlformats.org/markup-compatibility/2006">
              <mc:Choice xmlns:v="urn:schemas-microsoft-com:vml" Requires="v">
                <p:oleObj spid="_x0000_s3074" name="位图图像" r:id="rId3" imgW="4514286" imgH="2591162" progId="Paint.Picture">
                  <p:embed/>
                </p:oleObj>
              </mc:Choice>
              <mc:Fallback>
                <p:oleObj name="位图图像" r:id="rId3" imgW="4514286" imgH="259116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2662" y="2011521"/>
                        <a:ext cx="4495800" cy="207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4"/>
          <p:cNvSpPr txBox="1">
            <a:spLocks noChangeArrowheads="1"/>
          </p:cNvSpPr>
          <p:nvPr/>
        </p:nvSpPr>
        <p:spPr bwMode="auto">
          <a:xfrm>
            <a:off x="309918" y="4068921"/>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对刻蚀速率的各向异性的定量描述</a:t>
            </a:r>
          </a:p>
        </p:txBody>
      </p:sp>
      <p:sp>
        <p:nvSpPr>
          <p:cNvPr id="10" name="Text Box 6"/>
          <p:cNvSpPr txBox="1">
            <a:spLocks noChangeArrowheads="1"/>
          </p:cNvSpPr>
          <p:nvPr/>
        </p:nvSpPr>
        <p:spPr bwMode="auto">
          <a:xfrm>
            <a:off x="309918" y="5301208"/>
            <a:ext cx="7848600"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spcBef>
                <a:spcPct val="500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式中，</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RL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RV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分别代表横向刻蚀速率和纵向刻蚀速率。        </a:t>
            </a:r>
          </a:p>
        </p:txBody>
      </p:sp>
      <p:sp>
        <p:nvSpPr>
          <p:cNvPr id="11" name="Text Box 7"/>
          <p:cNvSpPr txBox="1">
            <a:spLocks noChangeArrowheads="1"/>
          </p:cNvSpPr>
          <p:nvPr/>
        </p:nvSpPr>
        <p:spPr bwMode="auto">
          <a:xfrm>
            <a:off x="0" y="6050121"/>
            <a:ext cx="10225136"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spcBef>
                <a:spcPct val="50000"/>
              </a:spcBef>
            </a:pP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1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表示理想的各向异性，无钻蚀；</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 = 0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表示各向同性，有严重的钻蚀。</a:t>
            </a:r>
          </a:p>
        </p:txBody>
      </p:sp>
      <p:graphicFrame>
        <p:nvGraphicFramePr>
          <p:cNvPr id="12" name="对象 11"/>
          <p:cNvGraphicFramePr>
            <a:graphicFrameLocks noChangeAspect="1"/>
          </p:cNvGraphicFramePr>
          <p:nvPr>
            <p:extLst>
              <p:ext uri="{D42A27DB-BD31-4B8C-83A1-F6EECF244321}">
                <p14:modId xmlns:p14="http://schemas.microsoft.com/office/powerpoint/2010/main" val="1512301687"/>
              </p:ext>
            </p:extLst>
          </p:nvPr>
        </p:nvGraphicFramePr>
        <p:xfrm>
          <a:off x="3403862" y="4495735"/>
          <a:ext cx="1660712" cy="990600"/>
        </p:xfrm>
        <a:graphic>
          <a:graphicData uri="http://schemas.openxmlformats.org/presentationml/2006/ole">
            <mc:AlternateContent xmlns:mc="http://schemas.openxmlformats.org/markup-compatibility/2006">
              <mc:Choice xmlns:v="urn:schemas-microsoft-com:vml" Requires="v">
                <p:oleObj spid="_x0000_s3075" name="Equation" r:id="rId5" imgW="723600" imgH="431640" progId="Equation.DSMT4">
                  <p:embed/>
                </p:oleObj>
              </mc:Choice>
              <mc:Fallback>
                <p:oleObj name="Equation" r:id="rId5" imgW="723600" imgH="431640" progId="Equation.DSMT4">
                  <p:embed/>
                  <p:pic>
                    <p:nvPicPr>
                      <p:cNvPr id="0" name=""/>
                      <p:cNvPicPr/>
                      <p:nvPr/>
                    </p:nvPicPr>
                    <p:blipFill>
                      <a:blip r:embed="rId6"/>
                      <a:stretch>
                        <a:fillRect/>
                      </a:stretch>
                    </p:blipFill>
                    <p:spPr>
                      <a:xfrm>
                        <a:off x="3403862" y="4495735"/>
                        <a:ext cx="1660712" cy="990600"/>
                      </a:xfrm>
                      <a:prstGeom prst="rect">
                        <a:avLst/>
                      </a:prstGeom>
                    </p:spPr>
                  </p:pic>
                </p:oleObj>
              </mc:Fallback>
            </mc:AlternateContent>
          </a:graphicData>
        </a:graphic>
      </p:graphicFrame>
    </p:spTree>
    <p:extLst>
      <p:ext uri="{BB962C8B-B14F-4D97-AF65-F5344CB8AC3E}">
        <p14:creationId xmlns:p14="http://schemas.microsoft.com/office/powerpoint/2010/main" val="353281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 presetClass="entr" presetSubtype="8"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0-#ppt_w/2"/>
                                          </p:val>
                                        </p:tav>
                                        <p:tav tm="100000">
                                          <p:val>
                                            <p:strVal val="#ppt_x"/>
                                          </p:val>
                                        </p:tav>
                                      </p:tavLst>
                                    </p:anim>
                                    <p:anim calcmode="lin" valueType="num">
                                      <p:cBhvr additive="base">
                                        <p:cTn id="21"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0-#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utoUpdateAnimBg="0"/>
      <p:bldP spid="10" grpId="0" autoUpdateAnimBg="0"/>
      <p:bldP spid="1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546" y="1340768"/>
            <a:ext cx="9122454" cy="2308324"/>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6</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LEFT; RIGHT; ABOVE; BELOW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P1.X   P2.X  P1.Y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P2.Y </a:t>
            </a:r>
          </a:p>
          <a:p>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提供</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一个迅捷的刻蚀方式，具有一个梯形的横断面。刻蚀区域将在指定的面进行。（左</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右</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上</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下）</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P1.X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P1.Y P2.X P2.Y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用来定义刻蚀位置的坐标。如果只定义</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P1.X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或</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P1.Y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，那么系统默认为垂直刻蚀。对于非垂直刻蚀情况需要定义</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P2.X P2.Y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6" name="矩形 5"/>
          <p:cNvSpPr/>
          <p:nvPr/>
        </p:nvSpPr>
        <p:spPr>
          <a:xfrm>
            <a:off x="39232" y="4437112"/>
            <a:ext cx="9133858"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7</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Start, Continue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Done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用来</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定义一个需要刻蚀工艺的杂乱无章的复杂区域。可以组多条线来定义多个点。用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来定义在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start/continue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done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模式下的点。</a:t>
            </a:r>
          </a:p>
        </p:txBody>
      </p:sp>
    </p:spTree>
    <p:extLst>
      <p:ext uri="{BB962C8B-B14F-4D97-AF65-F5344CB8AC3E}">
        <p14:creationId xmlns:p14="http://schemas.microsoft.com/office/powerpoint/2010/main" val="179987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484784"/>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8</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Top.Layer</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了只有</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顶部层被刻蚀掉。</a:t>
            </a:r>
          </a:p>
        </p:txBody>
      </p:sp>
      <p:sp>
        <p:nvSpPr>
          <p:cNvPr id="4" name="矩形 3"/>
          <p:cNvSpPr/>
          <p:nvPr/>
        </p:nvSpPr>
        <p:spPr>
          <a:xfrm>
            <a:off x="3302" y="3105471"/>
            <a:ext cx="9140698"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9</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NOEXPOSE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新得到的表面不会导致并发的氧化或</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淀积。</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3281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235032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刻蚀语句实例：</a:t>
            </a:r>
          </a:p>
        </p:txBody>
      </p:sp>
      <p:sp>
        <p:nvSpPr>
          <p:cNvPr id="6" name="矩形 5"/>
          <p:cNvSpPr/>
          <p:nvPr/>
        </p:nvSpPr>
        <p:spPr>
          <a:xfrm>
            <a:off x="2483768" y="2939035"/>
            <a:ext cx="3478837" cy="461665"/>
          </a:xfrm>
          <a:prstGeom prst="rect">
            <a:avLst/>
          </a:prstGeom>
        </p:spPr>
        <p:txBody>
          <a:bodyPr wrap="non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Etch Oxide Left p1.x=0.5</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1066842" y="2060848"/>
            <a:ext cx="7791437" cy="461665"/>
          </a:xfrm>
          <a:prstGeom prst="rect">
            <a:avLst/>
          </a:prstGeom>
        </p:spPr>
        <p:txBody>
          <a:bodyPr wrap="square">
            <a:spAutoFit/>
          </a:bodyPr>
          <a:lstStyle/>
          <a:p>
            <a:r>
              <a:rPr lang="es-ES" altLang="zh-CN" sz="2400" b="1" dirty="0" smtClean="0">
                <a:latin typeface="Times New Roman" panose="02020603050405020304" pitchFamily="18" charset="0"/>
                <a:ea typeface="楷体" panose="02010609060101010101" pitchFamily="49" charset="-122"/>
                <a:cs typeface="Times New Roman" panose="02020603050405020304" pitchFamily="18" charset="0"/>
              </a:rPr>
              <a:t>Etch Oxide Left p1.x=1.0 p1.y=-</a:t>
            </a:r>
            <a:r>
              <a:rPr lang="es-ES" altLang="zh-CN" sz="2400" b="1" dirty="0">
                <a:latin typeface="Times New Roman" panose="02020603050405020304" pitchFamily="18" charset="0"/>
                <a:ea typeface="楷体" panose="02010609060101010101" pitchFamily="49" charset="-122"/>
                <a:cs typeface="Times New Roman" panose="02020603050405020304" pitchFamily="18" charset="0"/>
              </a:rPr>
              <a:t>0.15 </a:t>
            </a:r>
            <a:r>
              <a:rPr lang="es-ES" altLang="zh-CN" sz="2400" b="1" dirty="0" smtClean="0">
                <a:latin typeface="Times New Roman" panose="02020603050405020304" pitchFamily="18" charset="0"/>
                <a:ea typeface="楷体" panose="02010609060101010101" pitchFamily="49" charset="-122"/>
                <a:cs typeface="Times New Roman" panose="02020603050405020304" pitchFamily="18" charset="0"/>
              </a:rPr>
              <a:t>p2.x=0.5 p2.y=0.0</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396552" y="3933056"/>
            <a:ext cx="9140552" cy="1569660"/>
          </a:xfrm>
          <a:prstGeom prst="rect">
            <a:avLst/>
          </a:prstGeom>
        </p:spPr>
        <p:txBody>
          <a:bodyPr wrap="square">
            <a:spAutoFit/>
          </a:bodyPr>
          <a:lstStyle/>
          <a:p>
            <a:pPr algn="ct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Etch     Oxide     Start     x=0.8     y=0.0</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Etch     Continue     x=0.8     y=-0.1</a:t>
            </a:r>
          </a:p>
          <a:p>
            <a:pPr algn="ct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Etch   Continue         x=1.2 y=-0.15</a:t>
            </a:r>
          </a:p>
          <a:p>
            <a:pPr algn="ct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Etch      Done     x=1.2     y=0.0</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3281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48" y="1196752"/>
            <a:ext cx="8688264" cy="5472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281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263847"/>
            <a:ext cx="8812215" cy="54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490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843808" y="4739952"/>
            <a:ext cx="2717411" cy="461665"/>
          </a:xfrm>
          <a:prstGeom prst="rect">
            <a:avLst/>
          </a:prstGeom>
        </p:spPr>
        <p:txBody>
          <a:bodyPr wrap="non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etch silicon thick=1</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2369042" y="5301208"/>
            <a:ext cx="3977371" cy="461665"/>
          </a:xfrm>
          <a:prstGeom prst="rect">
            <a:avLst/>
          </a:prstGeom>
        </p:spPr>
        <p:txBody>
          <a:bodyPr wrap="non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etch silicon thick=1 angle=80</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686" y="1042888"/>
            <a:ext cx="3013720" cy="3521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1975397" y="5877272"/>
            <a:ext cx="4545668" cy="461665"/>
          </a:xfrm>
          <a:prstGeom prst="rect">
            <a:avLst/>
          </a:prstGeom>
        </p:spPr>
        <p:txBody>
          <a:bodyPr wrap="non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etch silicon thick=1 undercut=0.2</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6539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772816"/>
            <a:ext cx="7298712"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281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484784"/>
            <a:ext cx="5010150" cy="401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98906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8546" y="1844824"/>
            <a:ext cx="4495800" cy="407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14890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700808"/>
            <a:ext cx="4562475"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15382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226" y="1196752"/>
            <a:ext cx="8312575" cy="54332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68516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700808"/>
            <a:ext cx="885828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A.M</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U.H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U.M</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U.S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N.M</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：刻蚀速率单位，</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N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分别是长度和时间单位的缩写；</a:t>
            </a:r>
          </a:p>
        </p:txBody>
      </p:sp>
      <p:sp>
        <p:nvSpPr>
          <p:cNvPr id="7" name="矩形 6"/>
          <p:cNvSpPr/>
          <p:nvPr/>
        </p:nvSpPr>
        <p:spPr>
          <a:xfrm>
            <a:off x="0" y="1124744"/>
            <a:ext cx="4445448" cy="461665"/>
          </a:xfrm>
          <a:prstGeom prst="rect">
            <a:avLst/>
          </a:prstGeom>
        </p:spPr>
        <p:txBody>
          <a:bodyPr wrap="non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RIE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及湿法刻蚀刻蚀参数</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解析：</a:t>
            </a:r>
          </a:p>
        </p:txBody>
      </p:sp>
      <p:sp>
        <p:nvSpPr>
          <p:cNvPr id="8" name="矩形 7"/>
          <p:cNvSpPr/>
          <p:nvPr/>
        </p:nvSpPr>
        <p:spPr>
          <a:xfrm>
            <a:off x="0" y="2804110"/>
            <a:ext cx="914400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DIRECTIONAL</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RIE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模型中定义刻蚀速率的方向组成（各向异性）；</a:t>
            </a:r>
          </a:p>
        </p:txBody>
      </p:sp>
      <p:sp>
        <p:nvSpPr>
          <p:cNvPr id="9" name="矩形 8"/>
          <p:cNvSpPr/>
          <p:nvPr/>
        </p:nvSpPr>
        <p:spPr>
          <a:xfrm>
            <a:off x="0" y="4005064"/>
            <a:ext cx="914400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ISOTROPIC</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RIE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Wet Etch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中各向同性的刻蚀速率，这会导致掩膜产生钻蚀；</a:t>
            </a:r>
          </a:p>
        </p:txBody>
      </p:sp>
    </p:spTree>
    <p:extLst>
      <p:ext uri="{BB962C8B-B14F-4D97-AF65-F5344CB8AC3E}">
        <p14:creationId xmlns:p14="http://schemas.microsoft.com/office/powerpoint/2010/main" val="107281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56367" y="1025477"/>
            <a:ext cx="8893652" cy="2677656"/>
          </a:xfrm>
          <a:prstGeom prst="rect">
            <a:avLst/>
          </a:prstGeom>
        </p:spPr>
        <p:txBody>
          <a:bodyPr wrap="square">
            <a:spAutoFit/>
          </a:bodyPr>
          <a:lstStyle/>
          <a:p>
            <a:pPr>
              <a:defRP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刻蚀速率是指刻蚀过程中去除硅片表面材料的速度。</a:t>
            </a:r>
          </a:p>
          <a:p>
            <a:pPr>
              <a:defRP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刻蚀速率＝</a:t>
            </a:r>
            <a:r>
              <a:rPr lang="el-GR" altLang="zh-CN" sz="2400" b="1" dirty="0">
                <a:latin typeface="Times New Roman" panose="02020603050405020304" pitchFamily="18" charset="0"/>
                <a:ea typeface="楷体" panose="02010609060101010101" pitchFamily="49" charset="-122"/>
                <a:cs typeface="Times New Roman" panose="02020603050405020304" pitchFamily="18" charset="0"/>
              </a:rPr>
              <a:t>Δ</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 / 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Å/min)</a:t>
            </a:r>
          </a:p>
          <a:p>
            <a:pPr>
              <a:defRP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l-GR" altLang="zh-CN" sz="2400" b="1" dirty="0">
                <a:latin typeface="Times New Roman" panose="02020603050405020304" pitchFamily="18" charset="0"/>
                <a:ea typeface="楷体" panose="02010609060101010101" pitchFamily="49" charset="-122"/>
                <a:cs typeface="Times New Roman" panose="02020603050405020304" pitchFamily="18" charset="0"/>
              </a:rPr>
              <a:t>Δ</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去掉的材料厚度（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Å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或 </a:t>
            </a:r>
            <a:r>
              <a:rPr lang="el-GR" altLang="zh-CN" sz="2400" b="1" dirty="0">
                <a:latin typeface="Times New Roman" panose="02020603050405020304" pitchFamily="18" charset="0"/>
                <a:ea typeface="楷体" panose="02010609060101010101" pitchFamily="49" charset="-122"/>
                <a:cs typeface="Times New Roman" panose="02020603050405020304" pitchFamily="18" charset="0"/>
              </a:rPr>
              <a:t>μ</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a:p>
            <a:pPr>
              <a:defRP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刻蚀所用时间（</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min</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endParaRPr lang="el-GR"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859815"/>
            <a:ext cx="5950429" cy="2858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639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grpSp>
        <p:nvGrpSpPr>
          <p:cNvPr id="6" name="Group 3"/>
          <p:cNvGrpSpPr>
            <a:grpSpLocks/>
          </p:cNvGrpSpPr>
          <p:nvPr/>
        </p:nvGrpSpPr>
        <p:grpSpPr bwMode="auto">
          <a:xfrm>
            <a:off x="269875" y="2286000"/>
            <a:ext cx="4178300" cy="2889250"/>
            <a:chOff x="1566" y="1253"/>
            <a:chExt cx="2632" cy="1820"/>
          </a:xfrm>
        </p:grpSpPr>
        <p:sp>
          <p:nvSpPr>
            <p:cNvPr id="7" name="Rectangle 4"/>
            <p:cNvSpPr>
              <a:spLocks noChangeArrowheads="1"/>
            </p:cNvSpPr>
            <p:nvPr/>
          </p:nvSpPr>
          <p:spPr bwMode="auto">
            <a:xfrm>
              <a:off x="1884" y="1253"/>
              <a:ext cx="1980" cy="451"/>
            </a:xfrm>
            <a:prstGeom prst="rect">
              <a:avLst/>
            </a:prstGeom>
            <a:noFill/>
            <a:ln w="12700">
              <a:noFill/>
              <a:miter lim="800000"/>
              <a:headEnd/>
              <a:tailEnd/>
            </a:ln>
            <a:effectLst/>
          </p:spPr>
          <p:txBody>
            <a:bodyPr lIns="90488" tIns="44450" rIns="90488" bIns="44450"/>
            <a:lstStyle/>
            <a:p>
              <a:pPr algn="ctr">
                <a:lnSpc>
                  <a:spcPct val="85000"/>
                </a:lnSpc>
                <a:spcBef>
                  <a:spcPct val="20000"/>
                </a:spcBef>
                <a:buClr>
                  <a:schemeClr val="hlink"/>
                </a:buClr>
                <a:buSzPct val="70000"/>
                <a:buFont typeface="Wingdings" pitchFamily="2" charset="2"/>
                <a:buNone/>
                <a:defRPr/>
              </a:pPr>
              <a:r>
                <a:rPr lang="en-US" altLang="zh-CN">
                  <a:effectLst>
                    <a:outerShdw blurRad="38100" dist="38100" dir="2700000" algn="tl">
                      <a:srgbClr val="000000"/>
                    </a:outerShdw>
                  </a:effectLst>
                  <a:ea typeface="宋体" pitchFamily="2" charset="-122"/>
                </a:rPr>
                <a:t>Isotropic etch - etches in all directions at the same rate</a:t>
              </a:r>
            </a:p>
          </p:txBody>
        </p:sp>
        <p:grpSp>
          <p:nvGrpSpPr>
            <p:cNvPr id="8" name="Group 5"/>
            <p:cNvGrpSpPr>
              <a:grpSpLocks/>
            </p:cNvGrpSpPr>
            <p:nvPr/>
          </p:nvGrpSpPr>
          <p:grpSpPr bwMode="auto">
            <a:xfrm>
              <a:off x="1566" y="1749"/>
              <a:ext cx="2632" cy="1324"/>
              <a:chOff x="1566" y="1749"/>
              <a:chExt cx="2632" cy="1324"/>
            </a:xfrm>
          </p:grpSpPr>
          <p:sp>
            <p:nvSpPr>
              <p:cNvPr id="13" name="Rectangle 6"/>
              <p:cNvSpPr>
                <a:spLocks noChangeArrowheads="1"/>
              </p:cNvSpPr>
              <p:nvPr/>
            </p:nvSpPr>
            <p:spPr bwMode="auto">
              <a:xfrm>
                <a:off x="1566" y="2661"/>
                <a:ext cx="2631" cy="412"/>
              </a:xfrm>
              <a:prstGeom prst="rect">
                <a:avLst/>
              </a:prstGeom>
              <a:solidFill>
                <a:srgbClr val="FF6600"/>
              </a:solidFill>
              <a:ln w="12700">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grpSp>
            <p:nvGrpSpPr>
              <p:cNvPr id="14" name="Group 7"/>
              <p:cNvGrpSpPr>
                <a:grpSpLocks/>
              </p:cNvGrpSpPr>
              <p:nvPr/>
            </p:nvGrpSpPr>
            <p:grpSpPr bwMode="auto">
              <a:xfrm>
                <a:off x="1566" y="1749"/>
                <a:ext cx="2631" cy="304"/>
                <a:chOff x="2032" y="1779"/>
                <a:chExt cx="1644" cy="160"/>
              </a:xfrm>
            </p:grpSpPr>
            <p:sp>
              <p:nvSpPr>
                <p:cNvPr id="16" name="Rectangle 8"/>
                <p:cNvSpPr>
                  <a:spLocks noChangeArrowheads="1"/>
                </p:cNvSpPr>
                <p:nvPr/>
              </p:nvSpPr>
              <p:spPr bwMode="auto">
                <a:xfrm>
                  <a:off x="2032" y="1779"/>
                  <a:ext cx="568" cy="160"/>
                </a:xfrm>
                <a:prstGeom prst="rect">
                  <a:avLst/>
                </a:prstGeom>
                <a:solidFill>
                  <a:srgbClr val="800000"/>
                </a:solidFill>
                <a:ln w="12700">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sp>
              <p:nvSpPr>
                <p:cNvPr id="17" name="Rectangle 9"/>
                <p:cNvSpPr>
                  <a:spLocks noChangeArrowheads="1"/>
                </p:cNvSpPr>
                <p:nvPr/>
              </p:nvSpPr>
              <p:spPr bwMode="auto">
                <a:xfrm>
                  <a:off x="3108" y="1779"/>
                  <a:ext cx="568" cy="160"/>
                </a:xfrm>
                <a:prstGeom prst="rect">
                  <a:avLst/>
                </a:prstGeom>
                <a:solidFill>
                  <a:srgbClr val="800000"/>
                </a:solidFill>
                <a:ln w="12700">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grpSp>
          <p:sp>
            <p:nvSpPr>
              <p:cNvPr id="15" name="Freeform 10"/>
              <p:cNvSpPr>
                <a:spLocks/>
              </p:cNvSpPr>
              <p:nvPr/>
            </p:nvSpPr>
            <p:spPr bwMode="auto">
              <a:xfrm>
                <a:off x="1566" y="2051"/>
                <a:ext cx="2632" cy="613"/>
              </a:xfrm>
              <a:custGeom>
                <a:avLst/>
                <a:gdLst>
                  <a:gd name="T0" fmla="*/ 6733 w 1645"/>
                  <a:gd name="T1" fmla="*/ 612 h 613"/>
                  <a:gd name="T2" fmla="*/ 0 w 1645"/>
                  <a:gd name="T3" fmla="*/ 612 h 613"/>
                  <a:gd name="T4" fmla="*/ 0 w 1645"/>
                  <a:gd name="T5" fmla="*/ 0 h 613"/>
                  <a:gd name="T6" fmla="*/ 1454 w 1645"/>
                  <a:gd name="T7" fmla="*/ 0 h 613"/>
                  <a:gd name="T8" fmla="*/ 1429 w 1645"/>
                  <a:gd name="T9" fmla="*/ 12 h 613"/>
                  <a:gd name="T10" fmla="*/ 1379 w 1645"/>
                  <a:gd name="T11" fmla="*/ 60 h 613"/>
                  <a:gd name="T12" fmla="*/ 1357 w 1645"/>
                  <a:gd name="T13" fmla="*/ 96 h 613"/>
                  <a:gd name="T14" fmla="*/ 1331 w 1645"/>
                  <a:gd name="T15" fmla="*/ 138 h 613"/>
                  <a:gd name="T16" fmla="*/ 1379 w 1645"/>
                  <a:gd name="T17" fmla="*/ 228 h 613"/>
                  <a:gd name="T18" fmla="*/ 1502 w 1645"/>
                  <a:gd name="T19" fmla="*/ 294 h 613"/>
                  <a:gd name="T20" fmla="*/ 1603 w 1645"/>
                  <a:gd name="T21" fmla="*/ 354 h 613"/>
                  <a:gd name="T22" fmla="*/ 1699 w 1645"/>
                  <a:gd name="T23" fmla="*/ 384 h 613"/>
                  <a:gd name="T24" fmla="*/ 1946 w 1645"/>
                  <a:gd name="T25" fmla="*/ 408 h 613"/>
                  <a:gd name="T26" fmla="*/ 2166 w 1645"/>
                  <a:gd name="T27" fmla="*/ 462 h 613"/>
                  <a:gd name="T28" fmla="*/ 2539 w 1645"/>
                  <a:gd name="T29" fmla="*/ 480 h 613"/>
                  <a:gd name="T30" fmla="*/ 3179 w 1645"/>
                  <a:gd name="T31" fmla="*/ 498 h 613"/>
                  <a:gd name="T32" fmla="*/ 3773 w 1645"/>
                  <a:gd name="T33" fmla="*/ 498 h 613"/>
                  <a:gd name="T34" fmla="*/ 4117 w 1645"/>
                  <a:gd name="T35" fmla="*/ 498 h 613"/>
                  <a:gd name="T36" fmla="*/ 4859 w 1645"/>
                  <a:gd name="T37" fmla="*/ 444 h 613"/>
                  <a:gd name="T38" fmla="*/ 5325 w 1645"/>
                  <a:gd name="T39" fmla="*/ 342 h 613"/>
                  <a:gd name="T40" fmla="*/ 5448 w 1645"/>
                  <a:gd name="T41" fmla="*/ 258 h 613"/>
                  <a:gd name="T42" fmla="*/ 5496 w 1645"/>
                  <a:gd name="T43" fmla="*/ 156 h 613"/>
                  <a:gd name="T44" fmla="*/ 5496 w 1645"/>
                  <a:gd name="T45" fmla="*/ 90 h 613"/>
                  <a:gd name="T46" fmla="*/ 5350 w 1645"/>
                  <a:gd name="T47" fmla="*/ 48 h 613"/>
                  <a:gd name="T48" fmla="*/ 5155 w 1645"/>
                  <a:gd name="T49" fmla="*/ 0 h 613"/>
                  <a:gd name="T50" fmla="*/ 6733 w 1645"/>
                  <a:gd name="T51" fmla="*/ 0 h 613"/>
                  <a:gd name="T52" fmla="*/ 6733 w 1645"/>
                  <a:gd name="T53" fmla="*/ 612 h 61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45"/>
                  <a:gd name="T82" fmla="*/ 0 h 613"/>
                  <a:gd name="T83" fmla="*/ 1645 w 1645"/>
                  <a:gd name="T84" fmla="*/ 613 h 61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45" h="613">
                    <a:moveTo>
                      <a:pt x="1644" y="612"/>
                    </a:moveTo>
                    <a:lnTo>
                      <a:pt x="0" y="612"/>
                    </a:lnTo>
                    <a:lnTo>
                      <a:pt x="0" y="0"/>
                    </a:lnTo>
                    <a:lnTo>
                      <a:pt x="355" y="0"/>
                    </a:lnTo>
                    <a:lnTo>
                      <a:pt x="349" y="12"/>
                    </a:lnTo>
                    <a:lnTo>
                      <a:pt x="337" y="60"/>
                    </a:lnTo>
                    <a:lnTo>
                      <a:pt x="331" y="96"/>
                    </a:lnTo>
                    <a:lnTo>
                      <a:pt x="325" y="138"/>
                    </a:lnTo>
                    <a:lnTo>
                      <a:pt x="337" y="228"/>
                    </a:lnTo>
                    <a:lnTo>
                      <a:pt x="367" y="294"/>
                    </a:lnTo>
                    <a:lnTo>
                      <a:pt x="391" y="354"/>
                    </a:lnTo>
                    <a:lnTo>
                      <a:pt x="415" y="384"/>
                    </a:lnTo>
                    <a:lnTo>
                      <a:pt x="475" y="408"/>
                    </a:lnTo>
                    <a:lnTo>
                      <a:pt x="529" y="462"/>
                    </a:lnTo>
                    <a:lnTo>
                      <a:pt x="620" y="480"/>
                    </a:lnTo>
                    <a:lnTo>
                      <a:pt x="776" y="498"/>
                    </a:lnTo>
                    <a:lnTo>
                      <a:pt x="921" y="498"/>
                    </a:lnTo>
                    <a:lnTo>
                      <a:pt x="1005" y="498"/>
                    </a:lnTo>
                    <a:lnTo>
                      <a:pt x="1186" y="444"/>
                    </a:lnTo>
                    <a:lnTo>
                      <a:pt x="1300" y="342"/>
                    </a:lnTo>
                    <a:lnTo>
                      <a:pt x="1330" y="258"/>
                    </a:lnTo>
                    <a:lnTo>
                      <a:pt x="1342" y="156"/>
                    </a:lnTo>
                    <a:lnTo>
                      <a:pt x="1342" y="90"/>
                    </a:lnTo>
                    <a:lnTo>
                      <a:pt x="1306" y="48"/>
                    </a:lnTo>
                    <a:lnTo>
                      <a:pt x="1259" y="0"/>
                    </a:lnTo>
                    <a:lnTo>
                      <a:pt x="1644" y="0"/>
                    </a:lnTo>
                    <a:lnTo>
                      <a:pt x="1644" y="612"/>
                    </a:lnTo>
                  </a:path>
                </a:pathLst>
              </a:custGeom>
              <a:solidFill>
                <a:srgbClr val="FFCC00"/>
              </a:solidFill>
              <a:ln w="12700" cap="rnd" cmpd="sng">
                <a:solidFill>
                  <a:schemeClr val="tx1"/>
                </a:solidFill>
                <a:prstDash val="solid"/>
                <a:round/>
                <a:headEnd type="none" w="med" len="med"/>
                <a:tailEnd type="none" w="med" len="med"/>
              </a:ln>
            </p:spPr>
            <p:txBody>
              <a:bodyPr/>
              <a:lstStyle/>
              <a:p>
                <a:endParaRPr lang="zh-CN" altLang="en-US"/>
              </a:p>
            </p:txBody>
          </p:sp>
        </p:grpSp>
        <p:sp>
          <p:nvSpPr>
            <p:cNvPr id="9" name="Rectangle 11"/>
            <p:cNvSpPr>
              <a:spLocks noChangeArrowheads="1"/>
            </p:cNvSpPr>
            <p:nvPr/>
          </p:nvSpPr>
          <p:spPr bwMode="auto">
            <a:xfrm>
              <a:off x="2583" y="2768"/>
              <a:ext cx="65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a:lnSpc>
                  <a:spcPct val="85000"/>
                </a:lnSpc>
                <a:spcBef>
                  <a:spcPct val="0"/>
                </a:spcBef>
                <a:buClrTx/>
                <a:buSzTx/>
                <a:buFontTx/>
                <a:buNone/>
              </a:pPr>
              <a:r>
                <a:rPr lang="en-US" altLang="zh-CN" sz="1800">
                  <a:latin typeface="Times New Roman" pitchFamily="18" charset="0"/>
                </a:rPr>
                <a:t>Substrate</a:t>
              </a:r>
            </a:p>
          </p:txBody>
        </p:sp>
        <p:sp>
          <p:nvSpPr>
            <p:cNvPr id="10" name="Rectangle 12"/>
            <p:cNvSpPr>
              <a:spLocks noChangeArrowheads="1"/>
            </p:cNvSpPr>
            <p:nvPr/>
          </p:nvSpPr>
          <p:spPr bwMode="auto">
            <a:xfrm>
              <a:off x="3685" y="2427"/>
              <a:ext cx="38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algn="ctr">
                <a:lnSpc>
                  <a:spcPct val="85000"/>
                </a:lnSpc>
                <a:spcBef>
                  <a:spcPct val="0"/>
                </a:spcBef>
                <a:buClrTx/>
                <a:buSzTx/>
                <a:buFontTx/>
                <a:buNone/>
              </a:pPr>
              <a:r>
                <a:rPr lang="en-US" altLang="zh-CN" sz="1800">
                  <a:latin typeface="Times New Roman" pitchFamily="18" charset="0"/>
                </a:rPr>
                <a:t>Film</a:t>
              </a:r>
            </a:p>
          </p:txBody>
        </p:sp>
        <p:sp>
          <p:nvSpPr>
            <p:cNvPr id="11" name="Rectangle 13"/>
            <p:cNvSpPr>
              <a:spLocks noChangeArrowheads="1"/>
            </p:cNvSpPr>
            <p:nvPr/>
          </p:nvSpPr>
          <p:spPr bwMode="auto">
            <a:xfrm>
              <a:off x="3484" y="1802"/>
              <a:ext cx="46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algn="ctr">
                <a:lnSpc>
                  <a:spcPct val="85000"/>
                </a:lnSpc>
                <a:spcBef>
                  <a:spcPct val="0"/>
                </a:spcBef>
                <a:buClrTx/>
                <a:buSzTx/>
                <a:buFontTx/>
                <a:buNone/>
              </a:pPr>
              <a:r>
                <a:rPr lang="en-US" altLang="zh-CN" sz="1800">
                  <a:latin typeface="Times New Roman" pitchFamily="18" charset="0"/>
                </a:rPr>
                <a:t>Resist</a:t>
              </a:r>
            </a:p>
          </p:txBody>
        </p:sp>
        <p:sp>
          <p:nvSpPr>
            <p:cNvPr id="12" name="AutoShape 14"/>
            <p:cNvSpPr>
              <a:spLocks noChangeArrowheads="1"/>
            </p:cNvSpPr>
            <p:nvPr/>
          </p:nvSpPr>
          <p:spPr bwMode="auto">
            <a:xfrm>
              <a:off x="2224" y="2003"/>
              <a:ext cx="1312" cy="532"/>
            </a:xfrm>
            <a:prstGeom prst="star16">
              <a:avLst>
                <a:gd name="adj" fmla="val 37500"/>
              </a:avLst>
            </a:prstGeom>
            <a:gradFill rotWithShape="0">
              <a:gsLst>
                <a:gs pos="0">
                  <a:srgbClr val="878787"/>
                </a:gs>
                <a:gs pos="100000">
                  <a:srgbClr val="F8F8F8"/>
                </a:gs>
              </a:gsLst>
              <a:path path="shape">
                <a:fillToRect l="50000" t="50000" r="50000" b="50000"/>
              </a:path>
            </a:gradFill>
            <a:ln w="3175">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grpSp>
      <p:grpSp>
        <p:nvGrpSpPr>
          <p:cNvPr id="18" name="Group 3"/>
          <p:cNvGrpSpPr>
            <a:grpSpLocks/>
          </p:cNvGrpSpPr>
          <p:nvPr/>
        </p:nvGrpSpPr>
        <p:grpSpPr bwMode="auto">
          <a:xfrm>
            <a:off x="4841875" y="1524000"/>
            <a:ext cx="4179888" cy="3622675"/>
            <a:chOff x="1534" y="792"/>
            <a:chExt cx="2633" cy="2282"/>
          </a:xfrm>
        </p:grpSpPr>
        <p:grpSp>
          <p:nvGrpSpPr>
            <p:cNvPr id="19" name="Group 4"/>
            <p:cNvGrpSpPr>
              <a:grpSpLocks/>
            </p:cNvGrpSpPr>
            <p:nvPr/>
          </p:nvGrpSpPr>
          <p:grpSpPr bwMode="auto">
            <a:xfrm>
              <a:off x="1576" y="1260"/>
              <a:ext cx="2563" cy="1787"/>
              <a:chOff x="2076" y="1776"/>
              <a:chExt cx="1620" cy="1787"/>
            </a:xfrm>
          </p:grpSpPr>
          <p:grpSp>
            <p:nvGrpSpPr>
              <p:cNvPr id="30" name="Group 5"/>
              <p:cNvGrpSpPr>
                <a:grpSpLocks/>
              </p:cNvGrpSpPr>
              <p:nvPr/>
            </p:nvGrpSpPr>
            <p:grpSpPr bwMode="auto">
              <a:xfrm>
                <a:off x="2076" y="1776"/>
                <a:ext cx="0" cy="1787"/>
                <a:chOff x="3372" y="1552"/>
                <a:chExt cx="0" cy="2008"/>
              </a:xfrm>
            </p:grpSpPr>
            <p:sp>
              <p:nvSpPr>
                <p:cNvPr id="91" name="Line 6"/>
                <p:cNvSpPr>
                  <a:spLocks noChangeShapeType="1"/>
                </p:cNvSpPr>
                <p:nvPr/>
              </p:nvSpPr>
              <p:spPr bwMode="auto">
                <a:xfrm>
                  <a:off x="3372"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7"/>
                <p:cNvSpPr>
                  <a:spLocks noChangeShapeType="1"/>
                </p:cNvSpPr>
                <p:nvPr/>
              </p:nvSpPr>
              <p:spPr bwMode="auto">
                <a:xfrm>
                  <a:off x="3372"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8"/>
                <p:cNvSpPr>
                  <a:spLocks noChangeShapeType="1"/>
                </p:cNvSpPr>
                <p:nvPr/>
              </p:nvSpPr>
              <p:spPr bwMode="auto">
                <a:xfrm>
                  <a:off x="3372"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1" name="Group 9"/>
              <p:cNvGrpSpPr>
                <a:grpSpLocks/>
              </p:cNvGrpSpPr>
              <p:nvPr/>
            </p:nvGrpSpPr>
            <p:grpSpPr bwMode="auto">
              <a:xfrm>
                <a:off x="2184" y="1776"/>
                <a:ext cx="0" cy="1787"/>
                <a:chOff x="3480" y="1552"/>
                <a:chExt cx="0" cy="2008"/>
              </a:xfrm>
            </p:grpSpPr>
            <p:sp>
              <p:nvSpPr>
                <p:cNvPr id="88" name="Line 10"/>
                <p:cNvSpPr>
                  <a:spLocks noChangeShapeType="1"/>
                </p:cNvSpPr>
                <p:nvPr/>
              </p:nvSpPr>
              <p:spPr bwMode="auto">
                <a:xfrm>
                  <a:off x="3480"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11"/>
                <p:cNvSpPr>
                  <a:spLocks noChangeShapeType="1"/>
                </p:cNvSpPr>
                <p:nvPr/>
              </p:nvSpPr>
              <p:spPr bwMode="auto">
                <a:xfrm>
                  <a:off x="3480"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12"/>
                <p:cNvSpPr>
                  <a:spLocks noChangeShapeType="1"/>
                </p:cNvSpPr>
                <p:nvPr/>
              </p:nvSpPr>
              <p:spPr bwMode="auto">
                <a:xfrm>
                  <a:off x="3480"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 name="Group 13"/>
              <p:cNvGrpSpPr>
                <a:grpSpLocks/>
              </p:cNvGrpSpPr>
              <p:nvPr/>
            </p:nvGrpSpPr>
            <p:grpSpPr bwMode="auto">
              <a:xfrm>
                <a:off x="2292" y="1776"/>
                <a:ext cx="0" cy="1787"/>
                <a:chOff x="3588" y="1552"/>
                <a:chExt cx="0" cy="2008"/>
              </a:xfrm>
            </p:grpSpPr>
            <p:sp>
              <p:nvSpPr>
                <p:cNvPr id="85" name="Line 14"/>
                <p:cNvSpPr>
                  <a:spLocks noChangeShapeType="1"/>
                </p:cNvSpPr>
                <p:nvPr/>
              </p:nvSpPr>
              <p:spPr bwMode="auto">
                <a:xfrm>
                  <a:off x="3588"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15"/>
                <p:cNvSpPr>
                  <a:spLocks noChangeShapeType="1"/>
                </p:cNvSpPr>
                <p:nvPr/>
              </p:nvSpPr>
              <p:spPr bwMode="auto">
                <a:xfrm>
                  <a:off x="3588"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16"/>
                <p:cNvSpPr>
                  <a:spLocks noChangeShapeType="1"/>
                </p:cNvSpPr>
                <p:nvPr/>
              </p:nvSpPr>
              <p:spPr bwMode="auto">
                <a:xfrm>
                  <a:off x="3588"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3" name="Group 17"/>
              <p:cNvGrpSpPr>
                <a:grpSpLocks/>
              </p:cNvGrpSpPr>
              <p:nvPr/>
            </p:nvGrpSpPr>
            <p:grpSpPr bwMode="auto">
              <a:xfrm>
                <a:off x="2400" y="1776"/>
                <a:ext cx="0" cy="1787"/>
                <a:chOff x="3696" y="1552"/>
                <a:chExt cx="0" cy="2008"/>
              </a:xfrm>
            </p:grpSpPr>
            <p:sp>
              <p:nvSpPr>
                <p:cNvPr id="82" name="Line 18"/>
                <p:cNvSpPr>
                  <a:spLocks noChangeShapeType="1"/>
                </p:cNvSpPr>
                <p:nvPr/>
              </p:nvSpPr>
              <p:spPr bwMode="auto">
                <a:xfrm>
                  <a:off x="3696"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19"/>
                <p:cNvSpPr>
                  <a:spLocks noChangeShapeType="1"/>
                </p:cNvSpPr>
                <p:nvPr/>
              </p:nvSpPr>
              <p:spPr bwMode="auto">
                <a:xfrm>
                  <a:off x="3696"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20"/>
                <p:cNvSpPr>
                  <a:spLocks noChangeShapeType="1"/>
                </p:cNvSpPr>
                <p:nvPr/>
              </p:nvSpPr>
              <p:spPr bwMode="auto">
                <a:xfrm>
                  <a:off x="3696"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4" name="Group 21"/>
              <p:cNvGrpSpPr>
                <a:grpSpLocks/>
              </p:cNvGrpSpPr>
              <p:nvPr/>
            </p:nvGrpSpPr>
            <p:grpSpPr bwMode="auto">
              <a:xfrm>
                <a:off x="2508" y="1776"/>
                <a:ext cx="0" cy="1787"/>
                <a:chOff x="3804" y="1552"/>
                <a:chExt cx="0" cy="2008"/>
              </a:xfrm>
            </p:grpSpPr>
            <p:sp>
              <p:nvSpPr>
                <p:cNvPr id="79" name="Line 22"/>
                <p:cNvSpPr>
                  <a:spLocks noChangeShapeType="1"/>
                </p:cNvSpPr>
                <p:nvPr/>
              </p:nvSpPr>
              <p:spPr bwMode="auto">
                <a:xfrm>
                  <a:off x="3804"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23"/>
                <p:cNvSpPr>
                  <a:spLocks noChangeShapeType="1"/>
                </p:cNvSpPr>
                <p:nvPr/>
              </p:nvSpPr>
              <p:spPr bwMode="auto">
                <a:xfrm>
                  <a:off x="3804"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24"/>
                <p:cNvSpPr>
                  <a:spLocks noChangeShapeType="1"/>
                </p:cNvSpPr>
                <p:nvPr/>
              </p:nvSpPr>
              <p:spPr bwMode="auto">
                <a:xfrm>
                  <a:off x="3804"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5" name="Group 25"/>
              <p:cNvGrpSpPr>
                <a:grpSpLocks/>
              </p:cNvGrpSpPr>
              <p:nvPr/>
            </p:nvGrpSpPr>
            <p:grpSpPr bwMode="auto">
              <a:xfrm>
                <a:off x="2616" y="1776"/>
                <a:ext cx="0" cy="1787"/>
                <a:chOff x="3912" y="1552"/>
                <a:chExt cx="0" cy="2008"/>
              </a:xfrm>
            </p:grpSpPr>
            <p:sp>
              <p:nvSpPr>
                <p:cNvPr id="76" name="Line 26"/>
                <p:cNvSpPr>
                  <a:spLocks noChangeShapeType="1"/>
                </p:cNvSpPr>
                <p:nvPr/>
              </p:nvSpPr>
              <p:spPr bwMode="auto">
                <a:xfrm>
                  <a:off x="3912"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27"/>
                <p:cNvSpPr>
                  <a:spLocks noChangeShapeType="1"/>
                </p:cNvSpPr>
                <p:nvPr/>
              </p:nvSpPr>
              <p:spPr bwMode="auto">
                <a:xfrm>
                  <a:off x="3912"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8"/>
                <p:cNvSpPr>
                  <a:spLocks noChangeShapeType="1"/>
                </p:cNvSpPr>
                <p:nvPr/>
              </p:nvSpPr>
              <p:spPr bwMode="auto">
                <a:xfrm>
                  <a:off x="3912"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 name="Group 29"/>
              <p:cNvGrpSpPr>
                <a:grpSpLocks/>
              </p:cNvGrpSpPr>
              <p:nvPr/>
            </p:nvGrpSpPr>
            <p:grpSpPr bwMode="auto">
              <a:xfrm>
                <a:off x="2724" y="1776"/>
                <a:ext cx="0" cy="1787"/>
                <a:chOff x="4020" y="1552"/>
                <a:chExt cx="0" cy="2008"/>
              </a:xfrm>
            </p:grpSpPr>
            <p:sp>
              <p:nvSpPr>
                <p:cNvPr id="73" name="Line 30"/>
                <p:cNvSpPr>
                  <a:spLocks noChangeShapeType="1"/>
                </p:cNvSpPr>
                <p:nvPr/>
              </p:nvSpPr>
              <p:spPr bwMode="auto">
                <a:xfrm>
                  <a:off x="4020"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31"/>
                <p:cNvSpPr>
                  <a:spLocks noChangeShapeType="1"/>
                </p:cNvSpPr>
                <p:nvPr/>
              </p:nvSpPr>
              <p:spPr bwMode="auto">
                <a:xfrm>
                  <a:off x="4020"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32"/>
                <p:cNvSpPr>
                  <a:spLocks noChangeShapeType="1"/>
                </p:cNvSpPr>
                <p:nvPr/>
              </p:nvSpPr>
              <p:spPr bwMode="auto">
                <a:xfrm>
                  <a:off x="4020"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7" name="Group 33"/>
              <p:cNvGrpSpPr>
                <a:grpSpLocks/>
              </p:cNvGrpSpPr>
              <p:nvPr/>
            </p:nvGrpSpPr>
            <p:grpSpPr bwMode="auto">
              <a:xfrm>
                <a:off x="2832" y="1776"/>
                <a:ext cx="0" cy="1787"/>
                <a:chOff x="4128" y="1552"/>
                <a:chExt cx="0" cy="2008"/>
              </a:xfrm>
            </p:grpSpPr>
            <p:sp>
              <p:nvSpPr>
                <p:cNvPr id="70" name="Line 34"/>
                <p:cNvSpPr>
                  <a:spLocks noChangeShapeType="1"/>
                </p:cNvSpPr>
                <p:nvPr/>
              </p:nvSpPr>
              <p:spPr bwMode="auto">
                <a:xfrm>
                  <a:off x="4128"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35"/>
                <p:cNvSpPr>
                  <a:spLocks noChangeShapeType="1"/>
                </p:cNvSpPr>
                <p:nvPr/>
              </p:nvSpPr>
              <p:spPr bwMode="auto">
                <a:xfrm>
                  <a:off x="4128"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36"/>
                <p:cNvSpPr>
                  <a:spLocks noChangeShapeType="1"/>
                </p:cNvSpPr>
                <p:nvPr/>
              </p:nvSpPr>
              <p:spPr bwMode="auto">
                <a:xfrm>
                  <a:off x="4128"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8" name="Group 37"/>
              <p:cNvGrpSpPr>
                <a:grpSpLocks/>
              </p:cNvGrpSpPr>
              <p:nvPr/>
            </p:nvGrpSpPr>
            <p:grpSpPr bwMode="auto">
              <a:xfrm>
                <a:off x="2940" y="1776"/>
                <a:ext cx="0" cy="1787"/>
                <a:chOff x="4236" y="1552"/>
                <a:chExt cx="0" cy="2008"/>
              </a:xfrm>
            </p:grpSpPr>
            <p:sp>
              <p:nvSpPr>
                <p:cNvPr id="67" name="Line 38"/>
                <p:cNvSpPr>
                  <a:spLocks noChangeShapeType="1"/>
                </p:cNvSpPr>
                <p:nvPr/>
              </p:nvSpPr>
              <p:spPr bwMode="auto">
                <a:xfrm>
                  <a:off x="4236"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39"/>
                <p:cNvSpPr>
                  <a:spLocks noChangeShapeType="1"/>
                </p:cNvSpPr>
                <p:nvPr/>
              </p:nvSpPr>
              <p:spPr bwMode="auto">
                <a:xfrm>
                  <a:off x="4236"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40"/>
                <p:cNvSpPr>
                  <a:spLocks noChangeShapeType="1"/>
                </p:cNvSpPr>
                <p:nvPr/>
              </p:nvSpPr>
              <p:spPr bwMode="auto">
                <a:xfrm>
                  <a:off x="4236"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9" name="Group 41"/>
              <p:cNvGrpSpPr>
                <a:grpSpLocks/>
              </p:cNvGrpSpPr>
              <p:nvPr/>
            </p:nvGrpSpPr>
            <p:grpSpPr bwMode="auto">
              <a:xfrm>
                <a:off x="3048" y="1776"/>
                <a:ext cx="0" cy="1787"/>
                <a:chOff x="4344" y="1552"/>
                <a:chExt cx="0" cy="2008"/>
              </a:xfrm>
            </p:grpSpPr>
            <p:sp>
              <p:nvSpPr>
                <p:cNvPr id="64" name="Line 42"/>
                <p:cNvSpPr>
                  <a:spLocks noChangeShapeType="1"/>
                </p:cNvSpPr>
                <p:nvPr/>
              </p:nvSpPr>
              <p:spPr bwMode="auto">
                <a:xfrm>
                  <a:off x="4344"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43"/>
                <p:cNvSpPr>
                  <a:spLocks noChangeShapeType="1"/>
                </p:cNvSpPr>
                <p:nvPr/>
              </p:nvSpPr>
              <p:spPr bwMode="auto">
                <a:xfrm>
                  <a:off x="4344"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44"/>
                <p:cNvSpPr>
                  <a:spLocks noChangeShapeType="1"/>
                </p:cNvSpPr>
                <p:nvPr/>
              </p:nvSpPr>
              <p:spPr bwMode="auto">
                <a:xfrm>
                  <a:off x="4344"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0" name="Group 45"/>
              <p:cNvGrpSpPr>
                <a:grpSpLocks/>
              </p:cNvGrpSpPr>
              <p:nvPr/>
            </p:nvGrpSpPr>
            <p:grpSpPr bwMode="auto">
              <a:xfrm>
                <a:off x="3156" y="1776"/>
                <a:ext cx="0" cy="1787"/>
                <a:chOff x="4452" y="1552"/>
                <a:chExt cx="0" cy="2008"/>
              </a:xfrm>
            </p:grpSpPr>
            <p:sp>
              <p:nvSpPr>
                <p:cNvPr id="61" name="Line 46"/>
                <p:cNvSpPr>
                  <a:spLocks noChangeShapeType="1"/>
                </p:cNvSpPr>
                <p:nvPr/>
              </p:nvSpPr>
              <p:spPr bwMode="auto">
                <a:xfrm>
                  <a:off x="4452"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47"/>
                <p:cNvSpPr>
                  <a:spLocks noChangeShapeType="1"/>
                </p:cNvSpPr>
                <p:nvPr/>
              </p:nvSpPr>
              <p:spPr bwMode="auto">
                <a:xfrm>
                  <a:off x="4452"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48"/>
                <p:cNvSpPr>
                  <a:spLocks noChangeShapeType="1"/>
                </p:cNvSpPr>
                <p:nvPr/>
              </p:nvSpPr>
              <p:spPr bwMode="auto">
                <a:xfrm>
                  <a:off x="4452"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1" name="Group 49"/>
              <p:cNvGrpSpPr>
                <a:grpSpLocks/>
              </p:cNvGrpSpPr>
              <p:nvPr/>
            </p:nvGrpSpPr>
            <p:grpSpPr bwMode="auto">
              <a:xfrm>
                <a:off x="3264" y="1776"/>
                <a:ext cx="0" cy="1787"/>
                <a:chOff x="4560" y="1552"/>
                <a:chExt cx="0" cy="2008"/>
              </a:xfrm>
            </p:grpSpPr>
            <p:sp>
              <p:nvSpPr>
                <p:cNvPr id="58" name="Line 50"/>
                <p:cNvSpPr>
                  <a:spLocks noChangeShapeType="1"/>
                </p:cNvSpPr>
                <p:nvPr/>
              </p:nvSpPr>
              <p:spPr bwMode="auto">
                <a:xfrm>
                  <a:off x="4560"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1"/>
                <p:cNvSpPr>
                  <a:spLocks noChangeShapeType="1"/>
                </p:cNvSpPr>
                <p:nvPr/>
              </p:nvSpPr>
              <p:spPr bwMode="auto">
                <a:xfrm>
                  <a:off x="4560"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52"/>
                <p:cNvSpPr>
                  <a:spLocks noChangeShapeType="1"/>
                </p:cNvSpPr>
                <p:nvPr/>
              </p:nvSpPr>
              <p:spPr bwMode="auto">
                <a:xfrm>
                  <a:off x="4560"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2" name="Group 53"/>
              <p:cNvGrpSpPr>
                <a:grpSpLocks/>
              </p:cNvGrpSpPr>
              <p:nvPr/>
            </p:nvGrpSpPr>
            <p:grpSpPr bwMode="auto">
              <a:xfrm>
                <a:off x="3372" y="1776"/>
                <a:ext cx="0" cy="1787"/>
                <a:chOff x="4668" y="1552"/>
                <a:chExt cx="0" cy="2008"/>
              </a:xfrm>
            </p:grpSpPr>
            <p:sp>
              <p:nvSpPr>
                <p:cNvPr id="55" name="Line 54"/>
                <p:cNvSpPr>
                  <a:spLocks noChangeShapeType="1"/>
                </p:cNvSpPr>
                <p:nvPr/>
              </p:nvSpPr>
              <p:spPr bwMode="auto">
                <a:xfrm>
                  <a:off x="4668"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55"/>
                <p:cNvSpPr>
                  <a:spLocks noChangeShapeType="1"/>
                </p:cNvSpPr>
                <p:nvPr/>
              </p:nvSpPr>
              <p:spPr bwMode="auto">
                <a:xfrm>
                  <a:off x="4668"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56"/>
                <p:cNvSpPr>
                  <a:spLocks noChangeShapeType="1"/>
                </p:cNvSpPr>
                <p:nvPr/>
              </p:nvSpPr>
              <p:spPr bwMode="auto">
                <a:xfrm>
                  <a:off x="4668"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3" name="Group 57"/>
              <p:cNvGrpSpPr>
                <a:grpSpLocks/>
              </p:cNvGrpSpPr>
              <p:nvPr/>
            </p:nvGrpSpPr>
            <p:grpSpPr bwMode="auto">
              <a:xfrm>
                <a:off x="3480" y="1776"/>
                <a:ext cx="0" cy="1787"/>
                <a:chOff x="4776" y="1552"/>
                <a:chExt cx="0" cy="2008"/>
              </a:xfrm>
            </p:grpSpPr>
            <p:sp>
              <p:nvSpPr>
                <p:cNvPr id="52" name="Line 58"/>
                <p:cNvSpPr>
                  <a:spLocks noChangeShapeType="1"/>
                </p:cNvSpPr>
                <p:nvPr/>
              </p:nvSpPr>
              <p:spPr bwMode="auto">
                <a:xfrm>
                  <a:off x="4776"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59"/>
                <p:cNvSpPr>
                  <a:spLocks noChangeShapeType="1"/>
                </p:cNvSpPr>
                <p:nvPr/>
              </p:nvSpPr>
              <p:spPr bwMode="auto">
                <a:xfrm>
                  <a:off x="4776"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60"/>
                <p:cNvSpPr>
                  <a:spLocks noChangeShapeType="1"/>
                </p:cNvSpPr>
                <p:nvPr/>
              </p:nvSpPr>
              <p:spPr bwMode="auto">
                <a:xfrm>
                  <a:off x="4776"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4" name="Group 61"/>
              <p:cNvGrpSpPr>
                <a:grpSpLocks/>
              </p:cNvGrpSpPr>
              <p:nvPr/>
            </p:nvGrpSpPr>
            <p:grpSpPr bwMode="auto">
              <a:xfrm>
                <a:off x="3588" y="1776"/>
                <a:ext cx="0" cy="1787"/>
                <a:chOff x="4884" y="1552"/>
                <a:chExt cx="0" cy="2008"/>
              </a:xfrm>
            </p:grpSpPr>
            <p:sp>
              <p:nvSpPr>
                <p:cNvPr id="49" name="Line 62"/>
                <p:cNvSpPr>
                  <a:spLocks noChangeShapeType="1"/>
                </p:cNvSpPr>
                <p:nvPr/>
              </p:nvSpPr>
              <p:spPr bwMode="auto">
                <a:xfrm>
                  <a:off x="4884"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63"/>
                <p:cNvSpPr>
                  <a:spLocks noChangeShapeType="1"/>
                </p:cNvSpPr>
                <p:nvPr/>
              </p:nvSpPr>
              <p:spPr bwMode="auto">
                <a:xfrm>
                  <a:off x="4884"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64"/>
                <p:cNvSpPr>
                  <a:spLocks noChangeShapeType="1"/>
                </p:cNvSpPr>
                <p:nvPr/>
              </p:nvSpPr>
              <p:spPr bwMode="auto">
                <a:xfrm>
                  <a:off x="4884"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5" name="Group 65"/>
              <p:cNvGrpSpPr>
                <a:grpSpLocks/>
              </p:cNvGrpSpPr>
              <p:nvPr/>
            </p:nvGrpSpPr>
            <p:grpSpPr bwMode="auto">
              <a:xfrm>
                <a:off x="3696" y="1776"/>
                <a:ext cx="0" cy="1787"/>
                <a:chOff x="4992" y="1552"/>
                <a:chExt cx="0" cy="2008"/>
              </a:xfrm>
            </p:grpSpPr>
            <p:sp>
              <p:nvSpPr>
                <p:cNvPr id="46" name="Line 66"/>
                <p:cNvSpPr>
                  <a:spLocks noChangeShapeType="1"/>
                </p:cNvSpPr>
                <p:nvPr/>
              </p:nvSpPr>
              <p:spPr bwMode="auto">
                <a:xfrm>
                  <a:off x="4992" y="1552"/>
                  <a:ext cx="0" cy="2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67"/>
                <p:cNvSpPr>
                  <a:spLocks noChangeShapeType="1"/>
                </p:cNvSpPr>
                <p:nvPr/>
              </p:nvSpPr>
              <p:spPr bwMode="auto">
                <a:xfrm>
                  <a:off x="4992" y="1984"/>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68"/>
                <p:cNvSpPr>
                  <a:spLocks noChangeShapeType="1"/>
                </p:cNvSpPr>
                <p:nvPr/>
              </p:nvSpPr>
              <p:spPr bwMode="auto">
                <a:xfrm>
                  <a:off x="4992" y="2722"/>
                  <a:ext cx="0" cy="17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0" name="Rectangle 69"/>
            <p:cNvSpPr>
              <a:spLocks noChangeArrowheads="1"/>
            </p:cNvSpPr>
            <p:nvPr/>
          </p:nvSpPr>
          <p:spPr bwMode="auto">
            <a:xfrm>
              <a:off x="2068" y="792"/>
              <a:ext cx="1632" cy="324"/>
            </a:xfrm>
            <a:prstGeom prst="rect">
              <a:avLst/>
            </a:prstGeom>
            <a:solidFill>
              <a:schemeClr val="bg1"/>
            </a:solidFill>
            <a:ln w="12700">
              <a:noFill/>
              <a:miter lim="800000"/>
              <a:headEnd/>
              <a:tailEnd/>
            </a:ln>
            <a:effectLst/>
          </p:spPr>
          <p:txBody>
            <a:bodyPr lIns="90488" tIns="44450" rIns="90488" bIns="44450"/>
            <a:lstStyle/>
            <a:p>
              <a:pPr algn="ctr">
                <a:lnSpc>
                  <a:spcPct val="85000"/>
                </a:lnSpc>
                <a:spcBef>
                  <a:spcPct val="20000"/>
                </a:spcBef>
                <a:buClr>
                  <a:schemeClr val="hlink"/>
                </a:buClr>
                <a:buSzPct val="70000"/>
                <a:buFont typeface="Wingdings" pitchFamily="2" charset="2"/>
                <a:buNone/>
                <a:defRPr/>
              </a:pPr>
              <a:r>
                <a:rPr lang="en-US" altLang="zh-CN">
                  <a:effectLst>
                    <a:outerShdw blurRad="38100" dist="38100" dir="2700000" algn="tl">
                      <a:srgbClr val="000000"/>
                    </a:outerShdw>
                  </a:effectLst>
                  <a:ea typeface="宋体" pitchFamily="2" charset="-122"/>
                </a:rPr>
                <a:t>Anisotropic etch - etches in only one direction</a:t>
              </a:r>
            </a:p>
          </p:txBody>
        </p:sp>
        <p:grpSp>
          <p:nvGrpSpPr>
            <p:cNvPr id="21" name="Group 70"/>
            <p:cNvGrpSpPr>
              <a:grpSpLocks/>
            </p:cNvGrpSpPr>
            <p:nvPr/>
          </p:nvGrpSpPr>
          <p:grpSpPr bwMode="auto">
            <a:xfrm>
              <a:off x="1534" y="1871"/>
              <a:ext cx="2633" cy="1203"/>
              <a:chOff x="1534" y="1907"/>
              <a:chExt cx="2633" cy="1203"/>
            </a:xfrm>
          </p:grpSpPr>
          <p:sp>
            <p:nvSpPr>
              <p:cNvPr id="22" name="Rectangle 71"/>
              <p:cNvSpPr>
                <a:spLocks noChangeArrowheads="1"/>
              </p:cNvSpPr>
              <p:nvPr/>
            </p:nvSpPr>
            <p:spPr bwMode="auto">
              <a:xfrm>
                <a:off x="1534" y="2751"/>
                <a:ext cx="2631" cy="359"/>
              </a:xfrm>
              <a:prstGeom prst="rect">
                <a:avLst/>
              </a:prstGeom>
              <a:solidFill>
                <a:srgbClr val="FF6600"/>
              </a:solidFill>
              <a:ln w="12700">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sp>
            <p:nvSpPr>
              <p:cNvPr id="23" name="Freeform 72"/>
              <p:cNvSpPr>
                <a:spLocks/>
              </p:cNvSpPr>
              <p:nvPr/>
            </p:nvSpPr>
            <p:spPr bwMode="auto">
              <a:xfrm>
                <a:off x="1541" y="2205"/>
                <a:ext cx="2626" cy="548"/>
              </a:xfrm>
              <a:custGeom>
                <a:avLst/>
                <a:gdLst>
                  <a:gd name="T0" fmla="*/ 0 w 1645"/>
                  <a:gd name="T1" fmla="*/ 434 h 615"/>
                  <a:gd name="T2" fmla="*/ 0 w 1645"/>
                  <a:gd name="T3" fmla="*/ 2 h 615"/>
                  <a:gd name="T4" fmla="*/ 2351 w 1645"/>
                  <a:gd name="T5" fmla="*/ 2 h 615"/>
                  <a:gd name="T6" fmla="*/ 2351 w 1645"/>
                  <a:gd name="T7" fmla="*/ 251 h 615"/>
                  <a:gd name="T8" fmla="*/ 2497 w 1645"/>
                  <a:gd name="T9" fmla="*/ 248 h 615"/>
                  <a:gd name="T10" fmla="*/ 2645 w 1645"/>
                  <a:gd name="T11" fmla="*/ 248 h 615"/>
                  <a:gd name="T12" fmla="*/ 2717 w 1645"/>
                  <a:gd name="T13" fmla="*/ 257 h 615"/>
                  <a:gd name="T14" fmla="*/ 2939 w 1645"/>
                  <a:gd name="T15" fmla="*/ 260 h 615"/>
                  <a:gd name="T16" fmla="*/ 3110 w 1645"/>
                  <a:gd name="T17" fmla="*/ 248 h 615"/>
                  <a:gd name="T18" fmla="*/ 3328 w 1645"/>
                  <a:gd name="T19" fmla="*/ 239 h 615"/>
                  <a:gd name="T20" fmla="*/ 3478 w 1645"/>
                  <a:gd name="T21" fmla="*/ 251 h 615"/>
                  <a:gd name="T22" fmla="*/ 3747 w 1645"/>
                  <a:gd name="T23" fmla="*/ 260 h 615"/>
                  <a:gd name="T24" fmla="*/ 4088 w 1645"/>
                  <a:gd name="T25" fmla="*/ 248 h 615"/>
                  <a:gd name="T26" fmla="*/ 4358 w 1645"/>
                  <a:gd name="T27" fmla="*/ 260 h 615"/>
                  <a:gd name="T28" fmla="*/ 4360 w 1645"/>
                  <a:gd name="T29" fmla="*/ 0 h 615"/>
                  <a:gd name="T30" fmla="*/ 6687 w 1645"/>
                  <a:gd name="T31" fmla="*/ 2 h 615"/>
                  <a:gd name="T32" fmla="*/ 6687 w 1645"/>
                  <a:gd name="T33" fmla="*/ 434 h 615"/>
                  <a:gd name="T34" fmla="*/ 0 w 1645"/>
                  <a:gd name="T35" fmla="*/ 434 h 61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5"/>
                  <a:gd name="T55" fmla="*/ 0 h 615"/>
                  <a:gd name="T56" fmla="*/ 1645 w 1645"/>
                  <a:gd name="T57" fmla="*/ 615 h 61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5" h="615">
                    <a:moveTo>
                      <a:pt x="0" y="614"/>
                    </a:moveTo>
                    <a:lnTo>
                      <a:pt x="0" y="2"/>
                    </a:lnTo>
                    <a:lnTo>
                      <a:pt x="578" y="2"/>
                    </a:lnTo>
                    <a:lnTo>
                      <a:pt x="578" y="356"/>
                    </a:lnTo>
                    <a:lnTo>
                      <a:pt x="614" y="350"/>
                    </a:lnTo>
                    <a:lnTo>
                      <a:pt x="650" y="350"/>
                    </a:lnTo>
                    <a:lnTo>
                      <a:pt x="668" y="362"/>
                    </a:lnTo>
                    <a:lnTo>
                      <a:pt x="722" y="368"/>
                    </a:lnTo>
                    <a:lnTo>
                      <a:pt x="764" y="350"/>
                    </a:lnTo>
                    <a:lnTo>
                      <a:pt x="818" y="338"/>
                    </a:lnTo>
                    <a:lnTo>
                      <a:pt x="855" y="356"/>
                    </a:lnTo>
                    <a:lnTo>
                      <a:pt x="921" y="368"/>
                    </a:lnTo>
                    <a:lnTo>
                      <a:pt x="1005" y="350"/>
                    </a:lnTo>
                    <a:lnTo>
                      <a:pt x="1071" y="368"/>
                    </a:lnTo>
                    <a:lnTo>
                      <a:pt x="1072" y="0"/>
                    </a:lnTo>
                    <a:lnTo>
                      <a:pt x="1644" y="2"/>
                    </a:lnTo>
                    <a:lnTo>
                      <a:pt x="1644" y="614"/>
                    </a:lnTo>
                    <a:lnTo>
                      <a:pt x="0" y="614"/>
                    </a:lnTo>
                  </a:path>
                </a:pathLst>
              </a:custGeom>
              <a:solidFill>
                <a:srgbClr val="FF9900"/>
              </a:solidFill>
              <a:ln w="12700" cap="rnd" cmpd="sng">
                <a:solidFill>
                  <a:schemeClr val="tx1"/>
                </a:solidFill>
                <a:prstDash val="solid"/>
                <a:round/>
                <a:headEnd type="none" w="med" len="med"/>
                <a:tailEnd type="none" w="med" len="med"/>
              </a:ln>
            </p:spPr>
            <p:txBody>
              <a:bodyPr/>
              <a:lstStyle/>
              <a:p>
                <a:endParaRPr lang="zh-CN" altLang="en-US"/>
              </a:p>
            </p:txBody>
          </p:sp>
          <p:grpSp>
            <p:nvGrpSpPr>
              <p:cNvPr id="24" name="Group 73"/>
              <p:cNvGrpSpPr>
                <a:grpSpLocks/>
              </p:cNvGrpSpPr>
              <p:nvPr/>
            </p:nvGrpSpPr>
            <p:grpSpPr bwMode="auto">
              <a:xfrm>
                <a:off x="1540" y="1907"/>
                <a:ext cx="2625" cy="304"/>
                <a:chOff x="1548" y="1907"/>
                <a:chExt cx="2625" cy="304"/>
              </a:xfrm>
            </p:grpSpPr>
            <p:sp>
              <p:nvSpPr>
                <p:cNvPr id="28" name="Rectangle 74"/>
                <p:cNvSpPr>
                  <a:spLocks noChangeArrowheads="1"/>
                </p:cNvSpPr>
                <p:nvPr/>
              </p:nvSpPr>
              <p:spPr bwMode="auto">
                <a:xfrm>
                  <a:off x="1548" y="1907"/>
                  <a:ext cx="921" cy="304"/>
                </a:xfrm>
                <a:prstGeom prst="rect">
                  <a:avLst/>
                </a:prstGeom>
                <a:solidFill>
                  <a:srgbClr val="969696"/>
                </a:solidFill>
                <a:ln w="12700">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sp>
              <p:nvSpPr>
                <p:cNvPr id="29" name="Rectangle 75"/>
                <p:cNvSpPr>
                  <a:spLocks noChangeArrowheads="1"/>
                </p:cNvSpPr>
                <p:nvPr/>
              </p:nvSpPr>
              <p:spPr bwMode="auto">
                <a:xfrm>
                  <a:off x="3266" y="1907"/>
                  <a:ext cx="907" cy="304"/>
                </a:xfrm>
                <a:prstGeom prst="rect">
                  <a:avLst/>
                </a:prstGeom>
                <a:solidFill>
                  <a:srgbClr val="969696"/>
                </a:solidFill>
                <a:ln w="12700">
                  <a:solidFill>
                    <a:schemeClr val="tx1"/>
                  </a:solidFill>
                  <a:miter lim="800000"/>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eaLnBrk="1" hangingPunct="1">
                    <a:spcBef>
                      <a:spcPct val="0"/>
                    </a:spcBef>
                    <a:buClrTx/>
                    <a:buSzTx/>
                    <a:buFontTx/>
                    <a:buNone/>
                  </a:pPr>
                  <a:endParaRPr lang="zh-CN" altLang="zh-CN"/>
                </a:p>
              </p:txBody>
            </p:sp>
          </p:grpSp>
          <p:sp>
            <p:nvSpPr>
              <p:cNvPr id="25" name="Rectangle 76"/>
              <p:cNvSpPr>
                <a:spLocks noChangeArrowheads="1"/>
              </p:cNvSpPr>
              <p:nvPr/>
            </p:nvSpPr>
            <p:spPr bwMode="auto">
              <a:xfrm>
                <a:off x="3468" y="1952"/>
                <a:ext cx="46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algn="ctr">
                  <a:lnSpc>
                    <a:spcPct val="85000"/>
                  </a:lnSpc>
                  <a:spcBef>
                    <a:spcPct val="0"/>
                  </a:spcBef>
                  <a:buClrTx/>
                  <a:buSzTx/>
                  <a:buFontTx/>
                  <a:buNone/>
                </a:pPr>
                <a:r>
                  <a:rPr lang="en-US" altLang="zh-CN" sz="1800">
                    <a:latin typeface="Times New Roman" pitchFamily="18" charset="0"/>
                  </a:rPr>
                  <a:t>Resist</a:t>
                </a:r>
              </a:p>
            </p:txBody>
          </p:sp>
          <p:sp>
            <p:nvSpPr>
              <p:cNvPr id="26" name="Rectangle 77"/>
              <p:cNvSpPr>
                <a:spLocks noChangeArrowheads="1"/>
              </p:cNvSpPr>
              <p:nvPr/>
            </p:nvSpPr>
            <p:spPr bwMode="auto">
              <a:xfrm>
                <a:off x="2544" y="2800"/>
                <a:ext cx="65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algn="ctr">
                  <a:lnSpc>
                    <a:spcPct val="85000"/>
                  </a:lnSpc>
                  <a:spcBef>
                    <a:spcPct val="0"/>
                  </a:spcBef>
                  <a:buClrTx/>
                  <a:buSzTx/>
                  <a:buFontTx/>
                  <a:buNone/>
                </a:pPr>
                <a:r>
                  <a:rPr lang="en-US" altLang="zh-CN" sz="1800">
                    <a:latin typeface="Times New Roman" pitchFamily="18" charset="0"/>
                  </a:rPr>
                  <a:t>Substrate</a:t>
                </a:r>
              </a:p>
            </p:txBody>
          </p:sp>
          <p:sp>
            <p:nvSpPr>
              <p:cNvPr id="27" name="Rectangle 78"/>
              <p:cNvSpPr>
                <a:spLocks noChangeArrowheads="1"/>
              </p:cNvSpPr>
              <p:nvPr/>
            </p:nvSpPr>
            <p:spPr bwMode="auto">
              <a:xfrm>
                <a:off x="3511" y="2341"/>
                <a:ext cx="38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charset="-122"/>
                  </a:defRPr>
                </a:lvl9pPr>
              </a:lstStyle>
              <a:p>
                <a:pPr algn="ctr">
                  <a:lnSpc>
                    <a:spcPct val="85000"/>
                  </a:lnSpc>
                  <a:spcBef>
                    <a:spcPct val="0"/>
                  </a:spcBef>
                  <a:buClrTx/>
                  <a:buSzTx/>
                  <a:buFontTx/>
                  <a:buNone/>
                </a:pPr>
                <a:r>
                  <a:rPr lang="en-US" altLang="zh-CN" sz="1800">
                    <a:latin typeface="Times New Roman" pitchFamily="18" charset="0"/>
                  </a:rPr>
                  <a:t>Film</a:t>
                </a:r>
              </a:p>
            </p:txBody>
          </p:sp>
        </p:grpSp>
      </p:grpSp>
    </p:spTree>
    <p:extLst>
      <p:ext uri="{BB962C8B-B14F-4D97-AF65-F5344CB8AC3E}">
        <p14:creationId xmlns:p14="http://schemas.microsoft.com/office/powerpoint/2010/main" val="40994601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91" y="1340768"/>
            <a:ext cx="7498696"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492896"/>
            <a:ext cx="4540391" cy="4032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264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0768"/>
            <a:ext cx="8619027" cy="931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3064" y="2295866"/>
            <a:ext cx="4777168" cy="4276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756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04" y="1013378"/>
            <a:ext cx="8952592" cy="2926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8171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仿真（刻蚀）</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279" y="1505822"/>
            <a:ext cx="8162925"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92572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（淀积）</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2049" y="1120484"/>
            <a:ext cx="2954655"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Deposit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：淀积</a:t>
            </a:r>
          </a:p>
        </p:txBody>
      </p:sp>
      <p:sp>
        <p:nvSpPr>
          <p:cNvPr id="7" name="矩形 6"/>
          <p:cNvSpPr/>
          <p:nvPr/>
        </p:nvSpPr>
        <p:spPr>
          <a:xfrm>
            <a:off x="8925" y="1916832"/>
            <a:ext cx="9135075"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语句功能：</a:t>
            </a: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Deposit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（淀积）语句用来淀积一层某种特定的材料。</a:t>
            </a:r>
          </a:p>
        </p:txBody>
      </p:sp>
      <p:sp>
        <p:nvSpPr>
          <p:cNvPr id="8" name="矩形 7"/>
          <p:cNvSpPr/>
          <p:nvPr/>
        </p:nvSpPr>
        <p:spPr>
          <a:xfrm>
            <a:off x="8924" y="3212976"/>
            <a:ext cx="6363275"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语法结构：</a:t>
            </a: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deposit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材料参数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坐标参数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11049" y="4437112"/>
            <a:ext cx="9132951" cy="2308324"/>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语句解析</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Name.resist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用来定义光刻胶的类型。</a:t>
            </a: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Thickness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用来定义淀积层的厚度，单位是微米。</a:t>
            </a: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Temperature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stress.hist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模型中所使用的淀积温度。在</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Elite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淀积</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中也被用以表面扩散仿真。</a:t>
            </a:r>
          </a:p>
        </p:txBody>
      </p:sp>
    </p:spTree>
    <p:extLst>
      <p:ext uri="{BB962C8B-B14F-4D97-AF65-F5344CB8AC3E}">
        <p14:creationId xmlns:p14="http://schemas.microsoft.com/office/powerpoint/2010/main" val="113499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（淀积）</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9144000" cy="2792239"/>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物理</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气相</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淀积</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(Physical </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Vapour</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Deposition</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PVD</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表示</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在真空条件下，采用物理方法，将材料源</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固体或液体表面气化成气态原子、分子或部分电离成离子，并通过低压气体（或等离子体）过程，在基体表面沉积具有某种特殊功能的薄膜的技术。</a:t>
            </a:r>
          </a:p>
        </p:txBody>
      </p:sp>
      <p:sp>
        <p:nvSpPr>
          <p:cNvPr id="4" name="矩形 3"/>
          <p:cNvSpPr/>
          <p:nvPr/>
        </p:nvSpPr>
        <p:spPr>
          <a:xfrm>
            <a:off x="0" y="4007480"/>
            <a:ext cx="9144000" cy="223824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物理气相沉积的主要方法有，真空蒸镀、溅射镀膜、电弧等离子体镀、离子镀膜，及分子束外延等。发展到目前，物理气相沉积技术不仅可沉积金属膜、合金膜、还可以沉积化合物、陶瓷、半导体、聚合物膜等。</a:t>
            </a:r>
          </a:p>
        </p:txBody>
      </p:sp>
    </p:spTree>
    <p:extLst>
      <p:ext uri="{BB962C8B-B14F-4D97-AF65-F5344CB8AC3E}">
        <p14:creationId xmlns:p14="http://schemas.microsoft.com/office/powerpoint/2010/main" val="33432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（淀积）</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4684" y="1196752"/>
            <a:ext cx="9158683" cy="2308324"/>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化学</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气相淀积</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(Chemical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Vapor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Deposition</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CVD)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化学</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气相淀积是把含有构成薄膜元素的气态反应剂引入反应室，在晶圆表面发生化学反应，从而生成所需的固态薄膜并淀积在其表面。</a:t>
            </a:r>
          </a:p>
        </p:txBody>
      </p:sp>
      <p:sp>
        <p:nvSpPr>
          <p:cNvPr id="4" name="矩形 3"/>
          <p:cNvSpPr/>
          <p:nvPr/>
        </p:nvSpPr>
        <p:spPr>
          <a:xfrm>
            <a:off x="7413" y="3861048"/>
            <a:ext cx="9136585" cy="2792239"/>
          </a:xfrm>
          <a:prstGeom prst="rect">
            <a:avLst/>
          </a:prstGeom>
        </p:spPr>
        <p:txBody>
          <a:bodyPr wrap="square">
            <a:spAutoFit/>
          </a:bodyPr>
          <a:lstStyle/>
          <a:p>
            <a:pPr>
              <a:lnSpc>
                <a:spcPct val="150000"/>
              </a:lnSpc>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CVD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是利用气态物质在固体表面进行化学反应</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生成固态沉积物的工艺过程。它一般包括三个步骤</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产生挥发性物质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将挥发性物质输运到沉积区</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于基体上发生化学反应而生成固态产物</a:t>
            </a:r>
          </a:p>
        </p:txBody>
      </p:sp>
    </p:spTree>
    <p:extLst>
      <p:ext uri="{BB962C8B-B14F-4D97-AF65-F5344CB8AC3E}">
        <p14:creationId xmlns:p14="http://schemas.microsoft.com/office/powerpoint/2010/main" val="255802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仿真（淀积）</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954" y="1124744"/>
            <a:ext cx="8545181"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14031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仿真（淀积）</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107908"/>
            <a:ext cx="8828666"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81" y="3861048"/>
            <a:ext cx="8876829"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4967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仿真（淀积）</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484784"/>
            <a:ext cx="8811939" cy="4276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4957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仿真（淀积）</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5821" y="1124744"/>
            <a:ext cx="1731564"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参数解析</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3" name="矩形 2"/>
          <p:cNvSpPr/>
          <p:nvPr/>
        </p:nvSpPr>
        <p:spPr>
          <a:xfrm>
            <a:off x="15821" y="1844824"/>
            <a:ext cx="204094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格点控制参数</a:t>
            </a:r>
          </a:p>
        </p:txBody>
      </p:sp>
      <p:sp>
        <p:nvSpPr>
          <p:cNvPr id="6" name="矩形 5"/>
          <p:cNvSpPr/>
          <p:nvPr/>
        </p:nvSpPr>
        <p:spPr>
          <a:xfrm>
            <a:off x="15821" y="2459504"/>
            <a:ext cx="9144000" cy="400110"/>
          </a:xfrm>
          <a:prstGeom prst="rect">
            <a:avLst/>
          </a:prstGeom>
        </p:spPr>
        <p:txBody>
          <a:bodyPr wrap="square">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 Divisions</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定义了垂直格点</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间隔</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81" y="3023321"/>
            <a:ext cx="7386009"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4967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（氧化）</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07955" y="1196752"/>
            <a:ext cx="4572000" cy="461665"/>
          </a:xfrm>
          <a:prstGeom prst="rect">
            <a:avLst/>
          </a:prstGeom>
        </p:spPr>
        <p:txBody>
          <a:bodyPr>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语句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oxide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（氧化）</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0" y="2204864"/>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语句功能</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oxide</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氧化</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语句用来定义氧化工艺步骤中的各种系数。</a:t>
            </a:r>
          </a:p>
        </p:txBody>
      </p:sp>
      <p:sp>
        <p:nvSpPr>
          <p:cNvPr id="6" name="矩形 5"/>
          <p:cNvSpPr/>
          <p:nvPr/>
        </p:nvSpPr>
        <p:spPr>
          <a:xfrm>
            <a:off x="0" y="3284984"/>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语法结构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oxide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条件参数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环境类型参数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0" y="4437112"/>
            <a:ext cx="9144000" cy="1569660"/>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语句解析：</a:t>
            </a:r>
          </a:p>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所有与氧化相关的参数都在这里有所介绍。</a:t>
            </a:r>
          </a:p>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氧化模型是在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method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语句中定义的。</a:t>
            </a:r>
          </a:p>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对于氧化模型参数的设定，需要知道氧化的类型和衬底晶向。</a:t>
            </a:r>
          </a:p>
        </p:txBody>
      </p:sp>
    </p:spTree>
    <p:extLst>
      <p:ext uri="{BB962C8B-B14F-4D97-AF65-F5344CB8AC3E}">
        <p14:creationId xmlns:p14="http://schemas.microsoft.com/office/powerpoint/2010/main" val="186747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仿真（氧化）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1440" y="1196752"/>
            <a:ext cx="917544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得到氧化层的办法可以是扩散（</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diffuse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）和淀积（</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deposit</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17848" y="1988840"/>
            <a:ext cx="7074431" cy="830997"/>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Diffuse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做氧化</a:t>
            </a: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主要</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参数有：</a:t>
            </a:r>
          </a:p>
        </p:txBody>
      </p:sp>
      <p:sp>
        <p:nvSpPr>
          <p:cNvPr id="6" name="矩形 5"/>
          <p:cNvSpPr/>
          <p:nvPr/>
        </p:nvSpPr>
        <p:spPr>
          <a:xfrm>
            <a:off x="-15720" y="2996952"/>
            <a:ext cx="9159720" cy="400110"/>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扩散步骤的参数，</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time</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temperature,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t.final</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t.rate</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0" y="3501008"/>
            <a:ext cx="9144000" cy="707886"/>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扩散氛围的参数，</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dryo2|weto2|nitrogen|inert,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hcl.pc</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pressure,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c.impurity</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f.o2|f.h2|f.h2o|f.n2|f.hcl</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0" y="4509120"/>
            <a:ext cx="9144000" cy="400110"/>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模型参数，</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b.mod|p.mod|as.mod</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ic.mod|vi.mod</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0" y="5157192"/>
            <a:ext cx="3142399" cy="400110"/>
          </a:xfrm>
          <a:prstGeom prst="rect">
            <a:avLst/>
          </a:prstGeom>
        </p:spPr>
        <p:txBody>
          <a:bodyPr wrap="non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混杂参数，</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no.diff</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reflow</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2371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仿真（氧化）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9144000" cy="830997"/>
          </a:xfrm>
          <a:prstGeom prst="rect">
            <a:avLst/>
          </a:prstGeom>
        </p:spPr>
        <p:txBody>
          <a:bodyPr wrap="square">
            <a:spAutoFit/>
          </a:bodyPr>
          <a:lstStyle/>
          <a:p>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Deckbuild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有内建的抽取功能，在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ATHENA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中某一步工艺之后抽取：材料厚度，结深，表面浓度，浓度分布，方块电阻等特性</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1556" y="2060848"/>
            <a:ext cx="5758012" cy="4439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867675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仿真（氧化）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在菜单栏中自动生成抽取</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命令时</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得到的语句：</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148219"/>
            <a:ext cx="7309026" cy="287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8501334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仿真（氧化）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8054" y="1124744"/>
            <a:ext cx="8876333"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输出窗口显示的结果</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：注意</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警告信息</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7" y="2541751"/>
            <a:ext cx="9117244" cy="552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24278" y="3592341"/>
            <a:ext cx="9168277" cy="1938992"/>
          </a:xfrm>
          <a:prstGeom prst="rect">
            <a:avLst/>
          </a:prstGeom>
        </p:spPr>
        <p:txBody>
          <a:bodyPr wrap="square">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EXTRACT&gt; extract name="</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Tox</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thickness oxide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mat.occno</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x.val</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=0</a:t>
            </a:r>
          </a:p>
          <a:p>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WARNING: specified cutline may give inaccurate values resulting from proximity to structure edge, (min=0, max=1.5</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t>
            </a:r>
          </a:p>
          <a:p>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Tox</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=1467.66 angstroms (0.146766 um)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X.val</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=0</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706501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3372</TotalTime>
  <Words>1735</Words>
  <Application>Microsoft Office PowerPoint</Application>
  <PresentationFormat>全屏显示(4:3)</PresentationFormat>
  <Paragraphs>146</Paragraphs>
  <Slides>42</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42</vt:i4>
      </vt:variant>
    </vt:vector>
  </HeadingPairs>
  <TitlesOfParts>
    <vt:vector size="45" baseType="lpstr">
      <vt:lpstr>Office 主题​​</vt:lpstr>
      <vt:lpstr>位图图像</vt:lpstr>
      <vt:lpstr>Equation</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个人用户</cp:lastModifiedBy>
  <cp:revision>92</cp:revision>
  <dcterms:created xsi:type="dcterms:W3CDTF">2020-04-16T03:10:00Z</dcterms:created>
  <dcterms:modified xsi:type="dcterms:W3CDTF">2021-05-23T08:34:21Z</dcterms:modified>
</cp:coreProperties>
</file>