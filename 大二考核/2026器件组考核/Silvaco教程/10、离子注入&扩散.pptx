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342" r:id="rId6"/>
    <p:sldId id="343" r:id="rId7"/>
    <p:sldId id="260" r:id="rId8"/>
    <p:sldId id="261" r:id="rId9"/>
    <p:sldId id="262" r:id="rId10"/>
    <p:sldId id="263" r:id="rId11"/>
    <p:sldId id="351" r:id="rId12"/>
    <p:sldId id="352" r:id="rId13"/>
    <p:sldId id="353" r:id="rId14"/>
    <p:sldId id="354" r:id="rId15"/>
    <p:sldId id="264" r:id="rId16"/>
    <p:sldId id="265" r:id="rId17"/>
    <p:sldId id="345" r:id="rId18"/>
    <p:sldId id="266" r:id="rId19"/>
    <p:sldId id="344" r:id="rId20"/>
    <p:sldId id="267" r:id="rId21"/>
    <p:sldId id="348" r:id="rId22"/>
    <p:sldId id="346" r:id="rId23"/>
    <p:sldId id="268" r:id="rId24"/>
    <p:sldId id="269" r:id="rId25"/>
    <p:sldId id="270" r:id="rId26"/>
    <p:sldId id="271" r:id="rId27"/>
    <p:sldId id="272" r:id="rId28"/>
    <p:sldId id="273" r:id="rId29"/>
    <p:sldId id="350" r:id="rId30"/>
    <p:sldId id="349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2" r:id="rId39"/>
    <p:sldId id="283" r:id="rId40"/>
    <p:sldId id="284" r:id="rId41"/>
    <p:sldId id="285" r:id="rId42"/>
    <p:sldId id="286" r:id="rId43"/>
    <p:sldId id="287" r:id="rId44"/>
    <p:sldId id="288" r:id="rId4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867" autoAdjust="0"/>
    <p:restoredTop sz="94660"/>
  </p:normalViewPr>
  <p:slideViewPr>
    <p:cSldViewPr>
      <p:cViewPr>
        <p:scale>
          <a:sx n="70" d="100"/>
          <a:sy n="70" d="100"/>
        </p:scale>
        <p:origin x="-157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3461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7960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17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309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89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60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93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791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09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562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637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78C83-53E9-4354-A834-8623ABCE5E61}" type="datetimeFigureOut">
              <a:rPr lang="zh-CN" altLang="en-US" smtClean="0"/>
              <a:t>2021/5/21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A9EFD-BAFE-4A2D-8369-6659160D51F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68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ctrTitle"/>
          </p:nvPr>
        </p:nvSpPr>
        <p:spPr>
          <a:xfrm>
            <a:off x="755650" y="1339850"/>
            <a:ext cx="7772400" cy="1873250"/>
          </a:xfrm>
        </p:spPr>
        <p:txBody>
          <a:bodyPr/>
          <a:lstStyle/>
          <a:p>
            <a:pPr lvl="0">
              <a:defRPr/>
            </a:pP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集成电路</a:t>
            </a:r>
            <a:r>
              <a:rPr lang="en-US" altLang="zh-CN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EDA</a:t>
            </a:r>
            <a:r>
              <a:rPr lang="zh-CN" altLang="en-US" sz="48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技术</a:t>
            </a:r>
          </a:p>
        </p:txBody>
      </p:sp>
      <p:grpSp>
        <p:nvGrpSpPr>
          <p:cNvPr id="7172" name="Group 4"/>
          <p:cNvGrpSpPr>
            <a:grpSpLocks/>
          </p:cNvGrpSpPr>
          <p:nvPr/>
        </p:nvGrpSpPr>
        <p:grpSpPr bwMode="auto">
          <a:xfrm>
            <a:off x="250825" y="3357563"/>
            <a:ext cx="8610600" cy="201612"/>
            <a:chOff x="144" y="1680"/>
            <a:chExt cx="5424" cy="144"/>
          </a:xfrm>
        </p:grpSpPr>
        <p:sp>
          <p:nvSpPr>
            <p:cNvPr id="7175" name="Rectangle 5"/>
            <p:cNvSpPr>
              <a:spLocks noChangeArrowheads="1"/>
            </p:cNvSpPr>
            <p:nvPr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6" name="Rectangle 6"/>
            <p:cNvSpPr>
              <a:spLocks noChangeArrowheads="1"/>
            </p:cNvSpPr>
            <p:nvPr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CC33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177" name="Rectangle 7"/>
            <p:cNvSpPr>
              <a:spLocks noChangeArrowheads="1"/>
            </p:cNvSpPr>
            <p:nvPr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pic>
        <p:nvPicPr>
          <p:cNvPr id="717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3857628"/>
            <a:ext cx="406717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2"/>
          <p:cNvSpPr txBox="1">
            <a:spLocks/>
          </p:cNvSpPr>
          <p:nvPr/>
        </p:nvSpPr>
        <p:spPr>
          <a:xfrm>
            <a:off x="467544" y="3562623"/>
            <a:ext cx="7772400" cy="1873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、工艺仿真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876598"/>
      </p:ext>
    </p:extLst>
  </p:cSld>
  <p:clrMapOvr>
    <a:masterClrMapping/>
  </p:clrMapOvr>
  <p:transition advTm="22344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8924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工艺仿真（初始化）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56230" y="1124744"/>
            <a:ext cx="7512113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重点学习语句包括：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     网格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定义：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line</a:t>
            </a:r>
          </a:p>
          <a:p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            初始化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语句：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initialize</a:t>
            </a:r>
          </a:p>
          <a:p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离子注入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</a:t>
            </a:r>
          </a:p>
          <a:p>
            <a:pPr algn="ctr"/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扩散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diffusion</a:t>
            </a:r>
          </a:p>
          <a:p>
            <a:pPr algn="ctr"/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刻蚀：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etch</a:t>
            </a:r>
          </a:p>
          <a:p>
            <a:pPr algn="ctr"/>
            <a:endParaRPr lang="en-US" altLang="zh-CN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氧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化：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oxide</a:t>
            </a:r>
          </a:p>
          <a:p>
            <a:pPr algn="ctr"/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淀积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deposit</a:t>
            </a:r>
          </a:p>
          <a:p>
            <a:pPr algn="ctr"/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外延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expitaxy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618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892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仿真（初始化）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22560" y="1124744"/>
            <a:ext cx="41328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Initialize: 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初始化语句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1988840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功能：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Initialize(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初始化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语句定义了初始化的材料和材料掺杂信息。</a:t>
            </a:r>
          </a:p>
        </p:txBody>
      </p:sp>
      <p:sp>
        <p:nvSpPr>
          <p:cNvPr id="6" name="矩形 5"/>
          <p:cNvSpPr/>
          <p:nvPr/>
        </p:nvSpPr>
        <p:spPr>
          <a:xfrm>
            <a:off x="23422" y="3284984"/>
            <a:ext cx="9144000" cy="846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语法结构：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Initialize 【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材料参数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掺杂参数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维度参数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4221088"/>
            <a:ext cx="51347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在所有区域初始化了背景掺杂浓度。</a:t>
            </a: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892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仿真（初始化）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21501" y="1124744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材料参数包括：</a:t>
            </a:r>
          </a:p>
        </p:txBody>
      </p:sp>
      <p:sp>
        <p:nvSpPr>
          <p:cNvPr id="4" name="矩形 3"/>
          <p:cNvSpPr/>
          <p:nvPr/>
        </p:nvSpPr>
        <p:spPr>
          <a:xfrm>
            <a:off x="2885" y="1700808"/>
            <a:ext cx="9144000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）材料类型参数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材料类型可以是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Silicon,  Oxide, 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Oxyniteride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Nitride, Polysilicon,  Aluminum,  Tungsten, Titanium, Platinum, 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Wsix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Tisix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Ptsix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Photoresist, 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AlGaAs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InGaAs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SiGe, InP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等中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的任意一种。</a:t>
            </a:r>
          </a:p>
          <a:p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0" y="3717032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）材料晶向参数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 Orientation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材料晶向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Oreintation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定义了衬底的晶向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110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111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可被识别。</a:t>
            </a:r>
          </a:p>
        </p:txBody>
      </p:sp>
      <p:sp>
        <p:nvSpPr>
          <p:cNvPr id="7" name="矩形 6"/>
          <p:cNvSpPr/>
          <p:nvPr/>
        </p:nvSpPr>
        <p:spPr>
          <a:xfrm>
            <a:off x="5770" y="5229200"/>
            <a:ext cx="91411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）材料成分百分比参数：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C.Frac</a:t>
            </a:r>
            <a:endParaRPr lang="en-US" altLang="zh-CN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材料成分百分比参数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C.Frac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定义了化合物半导体的组成如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SiGe,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AlGaAs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</a:t>
            </a: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3892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仿真（初始化）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823166"/>
            <a:ext cx="4291925" cy="2838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Line 60"/>
          <p:cNvSpPr>
            <a:spLocks noChangeShapeType="1"/>
          </p:cNvSpPr>
          <p:nvPr/>
        </p:nvSpPr>
        <p:spPr bwMode="auto">
          <a:xfrm>
            <a:off x="6739574" y="2511565"/>
            <a:ext cx="568325" cy="19780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Line 61"/>
          <p:cNvSpPr>
            <a:spLocks noChangeShapeType="1"/>
          </p:cNvSpPr>
          <p:nvPr/>
        </p:nvSpPr>
        <p:spPr bwMode="auto">
          <a:xfrm>
            <a:off x="5896611" y="3011627"/>
            <a:ext cx="2276475" cy="9874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Line 62"/>
          <p:cNvSpPr>
            <a:spLocks noChangeShapeType="1"/>
          </p:cNvSpPr>
          <p:nvPr/>
        </p:nvSpPr>
        <p:spPr bwMode="auto">
          <a:xfrm rot="21540000" flipV="1">
            <a:off x="5896611" y="2511565"/>
            <a:ext cx="2289175" cy="19367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63"/>
          <p:cNvSpPr>
            <a:spLocks noChangeShapeType="1"/>
          </p:cNvSpPr>
          <p:nvPr/>
        </p:nvSpPr>
        <p:spPr bwMode="auto">
          <a:xfrm rot="21480000" flipV="1">
            <a:off x="6728461" y="3011627"/>
            <a:ext cx="612775" cy="95408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Oval 64"/>
          <p:cNvSpPr>
            <a:spLocks noChangeArrowheads="1"/>
          </p:cNvSpPr>
          <p:nvPr/>
        </p:nvSpPr>
        <p:spPr bwMode="auto">
          <a:xfrm>
            <a:off x="6845936" y="2971940"/>
            <a:ext cx="114300" cy="1190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Oval 65"/>
          <p:cNvSpPr>
            <a:spLocks noChangeArrowheads="1"/>
          </p:cNvSpPr>
          <p:nvPr/>
        </p:nvSpPr>
        <p:spPr bwMode="auto">
          <a:xfrm>
            <a:off x="7582536" y="3699015"/>
            <a:ext cx="114300" cy="11747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Oval 66"/>
          <p:cNvSpPr>
            <a:spLocks noChangeArrowheads="1"/>
          </p:cNvSpPr>
          <p:nvPr/>
        </p:nvSpPr>
        <p:spPr bwMode="auto">
          <a:xfrm>
            <a:off x="6437949" y="3886340"/>
            <a:ext cx="114300" cy="11906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Oval 67"/>
          <p:cNvSpPr>
            <a:spLocks noChangeArrowheads="1"/>
          </p:cNvSpPr>
          <p:nvPr/>
        </p:nvSpPr>
        <p:spPr bwMode="auto">
          <a:xfrm>
            <a:off x="7101524" y="3197365"/>
            <a:ext cx="112712" cy="12065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accent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5" name="Group 68"/>
          <p:cNvGrpSpPr>
            <a:grpSpLocks/>
          </p:cNvGrpSpPr>
          <p:nvPr/>
        </p:nvGrpSpPr>
        <p:grpSpPr bwMode="auto">
          <a:xfrm>
            <a:off x="5836286" y="2449652"/>
            <a:ext cx="2384425" cy="2097088"/>
            <a:chOff x="3120" y="384"/>
            <a:chExt cx="1742" cy="1527"/>
          </a:xfrm>
        </p:grpSpPr>
        <p:sp>
          <p:nvSpPr>
            <p:cNvPr id="16" name="Line 69"/>
            <p:cNvSpPr>
              <a:spLocks noChangeShapeType="1"/>
            </p:cNvSpPr>
            <p:nvPr/>
          </p:nvSpPr>
          <p:spPr bwMode="auto">
            <a:xfrm flipV="1">
              <a:off x="3168" y="1502"/>
              <a:ext cx="611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70"/>
            <p:cNvSpPr>
              <a:spLocks noChangeShapeType="1"/>
            </p:cNvSpPr>
            <p:nvPr/>
          </p:nvSpPr>
          <p:spPr bwMode="auto">
            <a:xfrm flipV="1">
              <a:off x="4203" y="428"/>
              <a:ext cx="616" cy="3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71"/>
            <p:cNvSpPr>
              <a:spLocks noChangeShapeType="1"/>
            </p:cNvSpPr>
            <p:nvPr/>
          </p:nvSpPr>
          <p:spPr bwMode="auto">
            <a:xfrm flipV="1">
              <a:off x="3120" y="1536"/>
              <a:ext cx="616" cy="3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72"/>
            <p:cNvSpPr>
              <a:spLocks noChangeArrowheads="1"/>
            </p:cNvSpPr>
            <p:nvPr/>
          </p:nvSpPr>
          <p:spPr bwMode="auto">
            <a:xfrm>
              <a:off x="3164" y="793"/>
              <a:ext cx="1040" cy="107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Rectangle 73"/>
            <p:cNvSpPr>
              <a:spLocks noChangeArrowheads="1"/>
            </p:cNvSpPr>
            <p:nvPr/>
          </p:nvSpPr>
          <p:spPr bwMode="auto">
            <a:xfrm>
              <a:off x="3781" y="429"/>
              <a:ext cx="1039" cy="1075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74"/>
            <p:cNvSpPr>
              <a:spLocks noChangeShapeType="1"/>
            </p:cNvSpPr>
            <p:nvPr/>
          </p:nvSpPr>
          <p:spPr bwMode="auto">
            <a:xfrm flipV="1">
              <a:off x="3164" y="429"/>
              <a:ext cx="616" cy="36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75"/>
            <p:cNvSpPr>
              <a:spLocks noChangeShapeType="1"/>
            </p:cNvSpPr>
            <p:nvPr/>
          </p:nvSpPr>
          <p:spPr bwMode="auto">
            <a:xfrm flipV="1">
              <a:off x="4224" y="1488"/>
              <a:ext cx="616" cy="3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Oval 76"/>
            <p:cNvSpPr>
              <a:spLocks noChangeArrowheads="1"/>
            </p:cNvSpPr>
            <p:nvPr/>
          </p:nvSpPr>
          <p:spPr bwMode="auto">
            <a:xfrm>
              <a:off x="3740" y="384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Oval 77"/>
            <p:cNvSpPr>
              <a:spLocks noChangeArrowheads="1"/>
            </p:cNvSpPr>
            <p:nvPr/>
          </p:nvSpPr>
          <p:spPr bwMode="auto">
            <a:xfrm>
              <a:off x="4778" y="384"/>
              <a:ext cx="84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Oval 78"/>
            <p:cNvSpPr>
              <a:spLocks noChangeArrowheads="1"/>
            </p:cNvSpPr>
            <p:nvPr/>
          </p:nvSpPr>
          <p:spPr bwMode="auto">
            <a:xfrm>
              <a:off x="3430" y="1088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Oval 79"/>
            <p:cNvSpPr>
              <a:spLocks noChangeArrowheads="1"/>
            </p:cNvSpPr>
            <p:nvPr/>
          </p:nvSpPr>
          <p:spPr bwMode="auto">
            <a:xfrm>
              <a:off x="3948" y="567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Oval 80"/>
            <p:cNvSpPr>
              <a:spLocks noChangeArrowheads="1"/>
            </p:cNvSpPr>
            <p:nvPr/>
          </p:nvSpPr>
          <p:spPr bwMode="auto">
            <a:xfrm>
              <a:off x="4259" y="930"/>
              <a:ext cx="84" cy="87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Oval 81"/>
            <p:cNvSpPr>
              <a:spLocks noChangeArrowheads="1"/>
            </p:cNvSpPr>
            <p:nvPr/>
          </p:nvSpPr>
          <p:spPr bwMode="auto">
            <a:xfrm>
              <a:off x="4465" y="1113"/>
              <a:ext cx="83" cy="87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Oval 82"/>
            <p:cNvSpPr>
              <a:spLocks noChangeArrowheads="1"/>
            </p:cNvSpPr>
            <p:nvPr/>
          </p:nvSpPr>
          <p:spPr bwMode="auto">
            <a:xfrm>
              <a:off x="3958" y="1642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Oval 83"/>
            <p:cNvSpPr>
              <a:spLocks noChangeArrowheads="1"/>
            </p:cNvSpPr>
            <p:nvPr/>
          </p:nvSpPr>
          <p:spPr bwMode="auto">
            <a:xfrm>
              <a:off x="3648" y="1249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Line 84"/>
            <p:cNvSpPr>
              <a:spLocks noChangeShapeType="1"/>
            </p:cNvSpPr>
            <p:nvPr/>
          </p:nvSpPr>
          <p:spPr bwMode="auto">
            <a:xfrm>
              <a:off x="3164" y="1868"/>
              <a:ext cx="10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85"/>
            <p:cNvSpPr>
              <a:spLocks noChangeShapeType="1"/>
            </p:cNvSpPr>
            <p:nvPr/>
          </p:nvSpPr>
          <p:spPr bwMode="auto">
            <a:xfrm flipV="1">
              <a:off x="3164" y="793"/>
              <a:ext cx="0" cy="107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Oval 86"/>
            <p:cNvSpPr>
              <a:spLocks noChangeArrowheads="1"/>
            </p:cNvSpPr>
            <p:nvPr/>
          </p:nvSpPr>
          <p:spPr bwMode="auto">
            <a:xfrm>
              <a:off x="3120" y="749"/>
              <a:ext cx="83" cy="87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Oval 87"/>
            <p:cNvSpPr>
              <a:spLocks noChangeArrowheads="1"/>
            </p:cNvSpPr>
            <p:nvPr/>
          </p:nvSpPr>
          <p:spPr bwMode="auto">
            <a:xfrm>
              <a:off x="4128" y="768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Oval 88"/>
            <p:cNvSpPr>
              <a:spLocks noChangeArrowheads="1"/>
            </p:cNvSpPr>
            <p:nvPr/>
          </p:nvSpPr>
          <p:spPr bwMode="auto">
            <a:xfrm>
              <a:off x="3120" y="1824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Oval 89"/>
            <p:cNvSpPr>
              <a:spLocks noChangeArrowheads="1"/>
            </p:cNvSpPr>
            <p:nvPr/>
          </p:nvSpPr>
          <p:spPr bwMode="auto">
            <a:xfrm>
              <a:off x="4778" y="1460"/>
              <a:ext cx="84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Oval 90"/>
            <p:cNvSpPr>
              <a:spLocks noChangeArrowheads="1"/>
            </p:cNvSpPr>
            <p:nvPr/>
          </p:nvSpPr>
          <p:spPr bwMode="auto">
            <a:xfrm>
              <a:off x="4160" y="1825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8" name="Oval 91"/>
            <p:cNvSpPr>
              <a:spLocks noChangeArrowheads="1"/>
            </p:cNvSpPr>
            <p:nvPr/>
          </p:nvSpPr>
          <p:spPr bwMode="auto">
            <a:xfrm>
              <a:off x="3740" y="1460"/>
              <a:ext cx="83" cy="86"/>
            </a:xfrm>
            <a:prstGeom prst="ellipse">
              <a:avLst/>
            </a:prstGeom>
            <a:solidFill>
              <a:srgbClr val="0066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423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8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9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3892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仿真（初始化）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68759"/>
            <a:ext cx="7056784" cy="5198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0899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892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仿真（初始化）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0484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掺杂参数包括：</a:t>
            </a:r>
          </a:p>
        </p:txBody>
      </p:sp>
      <p:sp>
        <p:nvSpPr>
          <p:cNvPr id="4" name="矩形 3"/>
          <p:cNvSpPr/>
          <p:nvPr/>
        </p:nvSpPr>
        <p:spPr>
          <a:xfrm>
            <a:off x="-13996" y="1700808"/>
            <a:ext cx="91579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）掺杂类型参数：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掺杂类型参数包括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Antimony, Arsenic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Boron, Phosphorus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等。定义了作为背景掺杂所引入的杂质类型。只能用其中之一。如果使用了此参数则必须同时定义浓度或电阻率参数。</a:t>
            </a:r>
          </a:p>
        </p:txBody>
      </p:sp>
      <p:sp>
        <p:nvSpPr>
          <p:cNvPr id="6" name="矩形 5"/>
          <p:cNvSpPr/>
          <p:nvPr/>
        </p:nvSpPr>
        <p:spPr>
          <a:xfrm>
            <a:off x="16733" y="3212976"/>
            <a:ext cx="915099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）掺杂浓度参数：</a:t>
            </a:r>
          </a:p>
          <a:p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Concentration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了背景浓度，单位为每立方厘米。</a:t>
            </a:r>
          </a:p>
        </p:txBody>
      </p:sp>
      <p:sp>
        <p:nvSpPr>
          <p:cNvPr id="7" name="矩形 6"/>
          <p:cNvSpPr/>
          <p:nvPr/>
        </p:nvSpPr>
        <p:spPr>
          <a:xfrm>
            <a:off x="13184" y="4149080"/>
            <a:ext cx="913081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）电阻率参数：</a:t>
            </a:r>
          </a:p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电阻率参数定义了初始化衬底材料的电阻率，单位是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ohms.cm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13996" y="5103674"/>
            <a:ext cx="915799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）掺杂浓度参数</a:t>
            </a:r>
          </a:p>
          <a:p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C.Antimony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C.Arsenic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C.Boron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C.Phosphor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C.silicon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参数也可以用来定义衬底材料的初始掺杂浓度，与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Concentration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的是，它可以多个参数同时使用并以此来定义初始化的补偿掺杂。</a:t>
            </a: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892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仿真（初始化）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42806"/>
            <a:ext cx="7626784" cy="5604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8924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仿真（初始化）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268557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下面语句定义氧化物为衬底，初始化了网格信息并建立了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1e15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的初始掺杂浓度，掺杂材料为硼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init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oxide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c.boron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=1e15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（离子注入）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2515" y="1124744"/>
            <a:ext cx="36423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：离子注入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1916832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语句功能：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implant(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离子注入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语句定义了离子注入的工艺过程。</a:t>
            </a:r>
          </a:p>
        </p:txBody>
      </p:sp>
      <p:sp>
        <p:nvSpPr>
          <p:cNvPr id="6" name="矩形 5"/>
          <p:cNvSpPr/>
          <p:nvPr/>
        </p:nvSpPr>
        <p:spPr>
          <a:xfrm>
            <a:off x="16428" y="3140968"/>
            <a:ext cx="91275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语法结构：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【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杂质参数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模型选择参数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注入条件参数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22110" y="4581128"/>
            <a:ext cx="916611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语句解析：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选择解析模型、蒙特卡洛模型等不同的离子注入模型，来对离子注入工艺过程进行仿真。可以定义注入的杂质类型、并可对离子计量、能量等条件进行设置。</a:t>
            </a: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（离子注入）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84277"/>
            <a:ext cx="9144000" cy="3223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5511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（离子注入）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89" y="1124744"/>
            <a:ext cx="4300738" cy="1590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2690010"/>
            <a:ext cx="4825295" cy="2155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795" y="4848278"/>
            <a:ext cx="4179767" cy="1869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335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（离子注入）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9290" y="1196752"/>
            <a:ext cx="4033947" cy="2577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7433" y="4365104"/>
            <a:ext cx="3617660" cy="217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335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（离子注入）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948299"/>
            <a:ext cx="6792484" cy="214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124744"/>
            <a:ext cx="6927905" cy="243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3357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196752"/>
            <a:ext cx="8424936" cy="536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1119706"/>
            <a:ext cx="8845857" cy="3389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290" y="1000108"/>
            <a:ext cx="4896544" cy="42118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3" y="5439754"/>
            <a:ext cx="8448675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8283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9938" y="1196752"/>
            <a:ext cx="9134061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杂质类型参数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杂质类型可以是：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Aluminum, Antimony, Arsenic, Beryllium, Bf2, Boron, Chromium, Gallium, Carbon, Germanium, Indium, Magnesium, Phosphorus, Selenium, Silicon,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Zinc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的任意一种。</a:t>
            </a:r>
          </a:p>
        </p:txBody>
      </p:sp>
      <p:sp>
        <p:nvSpPr>
          <p:cNvPr id="4" name="矩形 3"/>
          <p:cNvSpPr/>
          <p:nvPr/>
        </p:nvSpPr>
        <p:spPr>
          <a:xfrm>
            <a:off x="19472" y="3735163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模型选择参数：</a:t>
            </a:r>
          </a:p>
        </p:txBody>
      </p:sp>
      <p:sp>
        <p:nvSpPr>
          <p:cNvPr id="6" name="矩形 5"/>
          <p:cNvSpPr/>
          <p:nvPr/>
        </p:nvSpPr>
        <p:spPr>
          <a:xfrm>
            <a:off x="-10347" y="4398613"/>
            <a:ext cx="38202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）解析分布模型参数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Gauss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120" y="4910783"/>
            <a:ext cx="5256584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s://bkimg.cdn.bcebos.com/pic/342ac65c1038534384b650b09213b07eca8088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98438"/>
            <a:ext cx="1952625" cy="419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80928"/>
            <a:ext cx="9178435" cy="676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000108"/>
            <a:ext cx="5256584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https://bkimg.cdn.bcebos.com/pic/342ac65c1038534384b650b09213b07eca80882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5035" y="4581128"/>
            <a:ext cx="3817633" cy="819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648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31238" y="1124744"/>
            <a:ext cx="9175238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）解析分布模型参数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Pearson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由于实际的分布情况往往不是对称的，高斯分布有其局限性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。对于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非对称离子注入分布的计算，最为简单并且被广泛使用的是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Pearson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分布。特别是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Pearson IV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函数。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这个函数来获得纵向离子注入分布。</a:t>
            </a:r>
          </a:p>
        </p:txBody>
      </p:sp>
      <p:sp>
        <p:nvSpPr>
          <p:cNvPr id="6" name="矩形 5"/>
          <p:cNvSpPr/>
          <p:nvPr/>
        </p:nvSpPr>
        <p:spPr>
          <a:xfrm>
            <a:off x="-23652" y="3397559"/>
            <a:ext cx="91676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Pearson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函数指的是一系列分布曲线，它们是求解下列微分方程的结果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221088"/>
            <a:ext cx="3728414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-31238" y="1124744"/>
            <a:ext cx="917523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解析分布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模型参数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SVDP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默认情况下，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ATHENA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采用的是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SVDP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989" y="2219325"/>
            <a:ext cx="6086475" cy="463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3468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-31238" y="1004949"/>
            <a:ext cx="9175238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Crystal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Amorphous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</a:t>
            </a:r>
            <a:endParaRPr lang="en-US" altLang="zh-CN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指定了离子注入仿真过程中是否考虑硅的晶体结构。此二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参数不能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同时选定。默认条件下是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Crystal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模式。某些特定材料中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要明确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Amorphous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模式以避免得到错误的仿真结果。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4112AF23-7D5C-487A-80B8-74A6E69EA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3551675"/>
            <a:ext cx="3804395" cy="261362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5EBD2798-FC11-4354-8DAE-473B4B6E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3551675"/>
            <a:ext cx="3841233" cy="269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34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注入条件参数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1844824"/>
            <a:ext cx="9153331" cy="9572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Dose</a:t>
            </a: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定义了单位面积内所使用的杂质剂量。单位是每平方厘米。</a:t>
            </a:r>
          </a:p>
        </p:txBody>
      </p:sp>
      <p:sp>
        <p:nvSpPr>
          <p:cNvPr id="6" name="矩形 5"/>
          <p:cNvSpPr/>
          <p:nvPr/>
        </p:nvSpPr>
        <p:spPr>
          <a:xfrm>
            <a:off x="16328" y="3453610"/>
            <a:ext cx="912067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Full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Dose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调整了用来补偿倾斜角的剂量。这种定义通常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用于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高倾斜角度的离子注入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。调整后的剂量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剂量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 cos(tilt),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cos(tilt)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是倾斜角的余弦值。</a:t>
            </a:r>
          </a:p>
          <a:p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943" y="4829619"/>
            <a:ext cx="424815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9331" y="297704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Tilt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定义了对应于垂直离子注入的倾斜角度，单位是度。默认为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度。</a:t>
            </a:r>
          </a:p>
        </p:txBody>
      </p:sp>
      <p:sp>
        <p:nvSpPr>
          <p:cNvPr id="6" name="矩形 5"/>
          <p:cNvSpPr/>
          <p:nvPr/>
        </p:nvSpPr>
        <p:spPr>
          <a:xfrm>
            <a:off x="9331" y="1412776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Energy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了离子的能量，单位是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KeV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 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5085184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Rotation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定义了相对于仿真平面的旋转角度。</a:t>
            </a: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914400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离子注入实例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）下面的离子定义了具有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100keV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能量的剂量为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1e14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的磷，偏角是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度。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 Pearson  </a:t>
            </a:r>
            <a:r>
              <a:rPr lang="en-US" altLang="zh-CN" sz="24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Phosph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Dose=1E14  Energy=100   Tilt=15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221709"/>
            <a:ext cx="4271888" cy="34951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2885" y="1053135"/>
            <a:ext cx="49792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）两种解析模型的仿真结果对比</a:t>
            </a:r>
          </a:p>
        </p:txBody>
      </p:sp>
      <p:sp>
        <p:nvSpPr>
          <p:cNvPr id="4" name="矩形 3"/>
          <p:cNvSpPr/>
          <p:nvPr/>
        </p:nvSpPr>
        <p:spPr>
          <a:xfrm>
            <a:off x="24385" y="162880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pearson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4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phosph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dose=1e14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energy=500 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tilt=15</a:t>
            </a:r>
          </a:p>
          <a:p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pt-B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gauss  aluminum dose=1e14 </a:t>
            </a:r>
            <a:r>
              <a:rPr lang="pt-BR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energy=500 </a:t>
            </a:r>
            <a:r>
              <a:rPr lang="pt-BR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tilt=15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799515"/>
            <a:ext cx="4770801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406" y="1124744"/>
            <a:ext cx="55980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）改变偏转角度对注入后分布的影响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1484784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gauss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phosph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dose=1e14 energy=500 tilt=15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gauss 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aluminum dose=1e14 energy=500 tilt=45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gauss 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arsenic dose=1e14 energy=500 tilt=75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942912"/>
            <a:ext cx="4662441" cy="3841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1124744"/>
            <a:ext cx="559800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改变注入浓度对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注入后分布的影响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535612"/>
            <a:ext cx="5095684" cy="420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0" y="1505822"/>
            <a:ext cx="9144000" cy="96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gauss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phosph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dose=1e14 energy=500 tilt=15</a:t>
            </a:r>
            <a:endParaRPr lang="zh-CN" altLang="en-US" sz="20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implant gauss aluminum dose=1e16 energy=500 tilt=15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73814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1182656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   Comparison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Gauss, Pearson and SVDP method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-25991" y="1844824"/>
            <a:ext cx="508594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    Tilt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angle dependence using SVDP model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34565" y="2564904"/>
            <a:ext cx="91699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   Oxide Thickness Dependence of B Implant Profiles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0" y="3244334"/>
            <a:ext cx="56521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   Dose Dependence of P Implants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-34566" y="4005064"/>
            <a:ext cx="91785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    Retrograde Well Formation Using High Energy Phosphorus Implants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-11492" y="4603904"/>
            <a:ext cx="91469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  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Phosphorus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Implant through Thick Nitride Layer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767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2844" y="428604"/>
            <a:ext cx="43043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仿真（离子注入）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166" y="1185212"/>
            <a:ext cx="7128792" cy="543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03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（扩散）</a:t>
            </a: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5882" y="1124744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  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：扩散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0" y="1863408"/>
            <a:ext cx="91381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语句功能：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diffuse(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扩散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语句用来计算氧化、硅化以杂质的扩散。</a:t>
            </a:r>
          </a:p>
        </p:txBody>
      </p:sp>
      <p:sp>
        <p:nvSpPr>
          <p:cNvPr id="6" name="矩形 5"/>
          <p:cNvSpPr/>
          <p:nvPr/>
        </p:nvSpPr>
        <p:spPr>
          <a:xfrm>
            <a:off x="-2942" y="2996952"/>
            <a:ext cx="914694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语法结构：</a:t>
            </a: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【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条件参数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】【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环境类型参数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】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4306163"/>
            <a:ext cx="91381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语句解析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zh-CN" altLang="en-US" sz="24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此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语句定义了扩散或氧化的工艺步骤。任何在晶圆中出现的杂质都会扩散。如果晶圆被暴露在气体中，预沉积或氧化就会发生。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氧化和扩散的参数被包含在与之相关的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Method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Oxide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中。</a:t>
            </a: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209674"/>
            <a:ext cx="8136904" cy="5559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3184" y="112474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条件参数</a:t>
            </a:r>
          </a:p>
        </p:txBody>
      </p:sp>
      <p:sp>
        <p:nvSpPr>
          <p:cNvPr id="4" name="矩形 3"/>
          <p:cNvSpPr/>
          <p:nvPr/>
        </p:nvSpPr>
        <p:spPr>
          <a:xfrm>
            <a:off x="13184" y="1772816"/>
            <a:ext cx="909532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Temperature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温度参数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了熔炉温度。单位是摄氏度。范围在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800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1200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摄氏度之间。在此温度范围之外的仿真会不精确，甚至出错。</a:t>
            </a:r>
          </a:p>
        </p:txBody>
      </p:sp>
      <p:sp>
        <p:nvSpPr>
          <p:cNvPr id="6" name="矩形 5"/>
          <p:cNvSpPr/>
          <p:nvPr/>
        </p:nvSpPr>
        <p:spPr>
          <a:xfrm>
            <a:off x="-11156" y="2690336"/>
            <a:ext cx="915515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Time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时间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参数定义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了扩散的时间。单位可以是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Hours(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小时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(minutes)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分钟，和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seconds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（秒）。分别用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Hours, minutes, seconds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来定义时间参数的单位，程序默认单位是分钟。</a:t>
            </a:r>
          </a:p>
        </p:txBody>
      </p:sp>
      <p:sp>
        <p:nvSpPr>
          <p:cNvPr id="7" name="矩形 6"/>
          <p:cNvSpPr/>
          <p:nvPr/>
        </p:nvSpPr>
        <p:spPr>
          <a:xfrm>
            <a:off x="21906" y="3956585"/>
            <a:ext cx="90865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T.Final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了最终要提升到的终止温度值。</a:t>
            </a:r>
          </a:p>
        </p:txBody>
      </p:sp>
      <p:sp>
        <p:nvSpPr>
          <p:cNvPr id="8" name="矩形 7"/>
          <p:cNvSpPr/>
          <p:nvPr/>
        </p:nvSpPr>
        <p:spPr>
          <a:xfrm>
            <a:off x="-11156" y="4797152"/>
            <a:ext cx="91551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T.Rate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ramped thermal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工艺步骤定义了以摄氏度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分钟为单位的速率。</a:t>
            </a: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" y="1124744"/>
            <a:ext cx="20409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环境类型参数</a:t>
            </a:r>
          </a:p>
        </p:txBody>
      </p:sp>
      <p:sp>
        <p:nvSpPr>
          <p:cNvPr id="4" name="矩形 3"/>
          <p:cNvSpPr/>
          <p:nvPr/>
        </p:nvSpPr>
        <p:spPr>
          <a:xfrm>
            <a:off x="2028" y="1700808"/>
            <a:ext cx="91419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DryO2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WetO2, Nitrogen, Ammonia, Argon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定义熔炉中的气体类型，可以是干氧、湿氧、氮气、氨气或氩气。在每个扩散步骤中只允许定义一种气体。目前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Nitrogen, Ammonia, Argon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没区别的，会得到相同结果。</a:t>
            </a:r>
          </a:p>
        </p:txBody>
      </p:sp>
      <p:sp>
        <p:nvSpPr>
          <p:cNvPr id="6" name="矩形 5"/>
          <p:cNvSpPr/>
          <p:nvPr/>
        </p:nvSpPr>
        <p:spPr>
          <a:xfrm>
            <a:off x="0" y="2996952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HCL.PC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定义气体中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的百分比。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3717032"/>
            <a:ext cx="914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Pressure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局部压力。对于干氧和湿氧情况，默认值是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-23938" y="4437112"/>
            <a:ext cx="914400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C.Antimony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C.Arsenic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C.Boron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C.Phpsphor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C.Silicon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等定义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扩散气体中的杂质浓度。单位是原子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立方厘米对于气体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环境中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存在多种杂质的情况，可以设置多个杂质参数。</a:t>
            </a:r>
          </a:p>
        </p:txBody>
      </p:sp>
      <p:sp>
        <p:nvSpPr>
          <p:cNvPr id="9" name="矩形 8"/>
          <p:cNvSpPr/>
          <p:nvPr/>
        </p:nvSpPr>
        <p:spPr>
          <a:xfrm>
            <a:off x="14299" y="5617842"/>
            <a:ext cx="91174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F.02, F.H2, F.H20, F.N2, and F.HCL 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定义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了气体中氧气、氢气、水蒸汽、氮气和氯酸气体成分的流动速率。如果使用这些参数就不能使用干氧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DryO2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湿氧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WetO2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Nitrogen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HCL.PC</a:t>
            </a:r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这些参数。</a:t>
            </a:r>
          </a:p>
        </p:txBody>
      </p:sp>
    </p:spTree>
    <p:extLst>
      <p:ext uri="{BB962C8B-B14F-4D97-AF65-F5344CB8AC3E}">
        <p14:creationId xmlns:p14="http://schemas.microsoft.com/office/powerpoint/2010/main" val="231909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2981" y="1124744"/>
            <a:ext cx="14221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数值参数</a:t>
            </a:r>
          </a:p>
        </p:txBody>
      </p:sp>
      <p:sp>
        <p:nvSpPr>
          <p:cNvPr id="4" name="矩形 3"/>
          <p:cNvSpPr/>
          <p:nvPr/>
        </p:nvSpPr>
        <p:spPr>
          <a:xfrm>
            <a:off x="-23124" y="1916832"/>
            <a:ext cx="916712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Continue</a:t>
            </a:r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语句用于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连续扩散步骤，它会调用之前扩散语句中保留的数据定义气体中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HCL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的百分比。使用此参数要非常谨慎。只有当两次扩散中的气体环境一致的情况下才能使用。</a:t>
            </a:r>
          </a:p>
        </p:txBody>
      </p:sp>
    </p:spTree>
    <p:extLst>
      <p:ext uri="{BB962C8B-B14F-4D97-AF65-F5344CB8AC3E}">
        <p14:creationId xmlns:p14="http://schemas.microsoft.com/office/powerpoint/2010/main" val="230524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406" y="1124744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扩散语句实例：</a:t>
            </a:r>
          </a:p>
        </p:txBody>
      </p:sp>
      <p:sp>
        <p:nvSpPr>
          <p:cNvPr id="4" name="矩形 3"/>
          <p:cNvSpPr/>
          <p:nvPr/>
        </p:nvSpPr>
        <p:spPr>
          <a:xfrm>
            <a:off x="-35294" y="1607707"/>
            <a:ext cx="917929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）预沉积实例：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下面的例子定义了一个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1000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摄氏度，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30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分钟的硼预沉积。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290" y="2898000"/>
            <a:ext cx="4807724" cy="39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625483" y="2445316"/>
            <a:ext cx="51555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time=30 temp=1000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c.phosph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=1.0e20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24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48724" y="1065311"/>
            <a:ext cx="37144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(2) 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扩散时间对结果的影响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068960"/>
            <a:ext cx="3036112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112" y="3072611"/>
            <a:ext cx="3086491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635" y="3068960"/>
            <a:ext cx="3061721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566731" y="1700808"/>
            <a:ext cx="70989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time=10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temp=1000  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c.phosph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=1.0e20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time=50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temp=1000  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c.phosph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=1.0e20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time=100 temp=1000  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 err="1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c.phosph</a:t>
            </a:r>
            <a:r>
              <a:rPr lang="en-US" altLang="zh-CN" sz="20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=1.0e20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24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-14605" y="1111153"/>
            <a:ext cx="36375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(3)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扩散温度对结果的影响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605" y="3140968"/>
            <a:ext cx="3069831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465" y="3140968"/>
            <a:ext cx="3075623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382" y="3140968"/>
            <a:ext cx="3062769" cy="28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1074888" y="1772816"/>
            <a:ext cx="698477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time=100 temp=800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c.phosph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=1.0e20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time=100 temp=1000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c.phosph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=1.0e20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time=100 temp=1200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c.phosph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=1.0e20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-406" y="1124744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氧化语句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实例：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32" y="2564904"/>
            <a:ext cx="4317703" cy="36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564904"/>
            <a:ext cx="4329260" cy="36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977425" y="1772816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time=40 temp=1500 dryo2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time=40 temp=1500 weto2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1E372D79-D3A4-43F9-913B-32DB85F09F8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51520" y="2176963"/>
            <a:ext cx="4355976" cy="298022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Picture 3">
            <a:extLst>
              <a:ext uri="{FF2B5EF4-FFF2-40B4-BE49-F238E27FC236}">
                <a16:creationId xmlns="" xmlns:a16="http://schemas.microsoft.com/office/drawing/2014/main" id="{D423EB98-AB83-4845-AB81-7A1EC1B7AD67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60032" y="2215015"/>
            <a:ext cx="4176464" cy="2808312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43224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3063" y="1124744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气体流动实例：</a:t>
            </a:r>
          </a:p>
        </p:txBody>
      </p:sp>
      <p:sp>
        <p:nvSpPr>
          <p:cNvPr id="6" name="矩形 5"/>
          <p:cNvSpPr/>
          <p:nvPr/>
        </p:nvSpPr>
        <p:spPr>
          <a:xfrm>
            <a:off x="33063" y="170080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下面的例子进行了混合气体成分条件下的扩散。包括相对比例为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的比例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212976"/>
            <a:ext cx="4339646" cy="36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1078795" y="2636912"/>
            <a:ext cx="64807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diffuse time=40 temp=1500 F.O2=10 F.H2=10 </a:t>
            </a:r>
            <a:r>
              <a:rPr lang="en-US" altLang="zh-CN" sz="2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F.HCl</a:t>
            </a:r>
            <a:r>
              <a:rPr lang="en-US" altLang="zh-CN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=0.1</a:t>
            </a:r>
            <a:endParaRPr lang="zh-CN" altLang="en-US" sz="2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24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44" y="1196286"/>
            <a:ext cx="540067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310" y="2492896"/>
            <a:ext cx="8924925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224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35899"/>
            <a:ext cx="9048750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224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2844" y="428604"/>
            <a:ext cx="348044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工艺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仿真（扩散）</a:t>
            </a:r>
          </a:p>
          <a:p>
            <a:pPr>
              <a:defRPr/>
            </a:pPr>
            <a:endParaRPr lang="zh-CN" altLang="en-US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42844" y="928670"/>
            <a:ext cx="8715436" cy="71438"/>
          </a:xfrm>
          <a:prstGeom prst="line">
            <a:avLst/>
          </a:prstGeom>
          <a:ln w="28575">
            <a:solidFill>
              <a:srgbClr val="CC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64" y="1484784"/>
            <a:ext cx="8943975" cy="451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32244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3196</TotalTime>
  <Words>1724</Words>
  <Application>Microsoft Office PowerPoint</Application>
  <PresentationFormat>全屏显示(4:3)</PresentationFormat>
  <Paragraphs>176</Paragraphs>
  <Slides>44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5" baseType="lpstr">
      <vt:lpstr>Office 主题​​</vt:lpstr>
      <vt:lpstr>集成电路EDA技术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集成电路EDA技术</dc:title>
  <dc:creator>个人用户</dc:creator>
  <cp:lastModifiedBy>个人用户</cp:lastModifiedBy>
  <cp:revision>80</cp:revision>
  <dcterms:created xsi:type="dcterms:W3CDTF">2020-04-16T03:10:00Z</dcterms:created>
  <dcterms:modified xsi:type="dcterms:W3CDTF">2021-05-21T14:50:34Z</dcterms:modified>
</cp:coreProperties>
</file>