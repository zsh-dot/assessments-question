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4" r:id="rId2"/>
    <p:sldId id="256" r:id="rId3"/>
    <p:sldId id="257" r:id="rId4"/>
    <p:sldId id="258" r:id="rId5"/>
    <p:sldId id="259" r:id="rId6"/>
    <p:sldId id="326" r:id="rId7"/>
    <p:sldId id="260" r:id="rId8"/>
    <p:sldId id="261" r:id="rId9"/>
    <p:sldId id="262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5" r:id="rId51"/>
    <p:sldId id="304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5" r:id="rId61"/>
    <p:sldId id="316" r:id="rId62"/>
    <p:sldId id="317" r:id="rId63"/>
    <p:sldId id="318" r:id="rId64"/>
    <p:sldId id="319" r:id="rId6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4660"/>
  </p:normalViewPr>
  <p:slideViewPr>
    <p:cSldViewPr>
      <p:cViewPr>
        <p:scale>
          <a:sx n="80" d="100"/>
          <a:sy n="80" d="100"/>
        </p:scale>
        <p:origin x="-1426" y="-10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CFB0-5A93-4CB0-96B3-C80167B97E5D}" type="datetimeFigureOut">
              <a:rPr lang="zh-CN" altLang="en-US" smtClean="0"/>
              <a:t>2020/3/10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921B8-4CDA-496A-AF9E-88B441C27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615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CFB0-5A93-4CB0-96B3-C80167B97E5D}" type="datetimeFigureOut">
              <a:rPr lang="zh-CN" altLang="en-US" smtClean="0"/>
              <a:t>2020/3/10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921B8-4CDA-496A-AF9E-88B441C27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002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CFB0-5A93-4CB0-96B3-C80167B97E5D}" type="datetimeFigureOut">
              <a:rPr lang="zh-CN" altLang="en-US" smtClean="0"/>
              <a:t>2020/3/10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921B8-4CDA-496A-AF9E-88B441C27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105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CFB0-5A93-4CB0-96B3-C80167B97E5D}" type="datetimeFigureOut">
              <a:rPr lang="zh-CN" altLang="en-US" smtClean="0"/>
              <a:t>2020/3/10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921B8-4CDA-496A-AF9E-88B441C27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666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CFB0-5A93-4CB0-96B3-C80167B97E5D}" type="datetimeFigureOut">
              <a:rPr lang="zh-CN" altLang="en-US" smtClean="0"/>
              <a:t>2020/3/10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921B8-4CDA-496A-AF9E-88B441C27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576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CFB0-5A93-4CB0-96B3-C80167B97E5D}" type="datetimeFigureOut">
              <a:rPr lang="zh-CN" altLang="en-US" smtClean="0"/>
              <a:t>2020/3/10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921B8-4CDA-496A-AF9E-88B441C27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223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CFB0-5A93-4CB0-96B3-C80167B97E5D}" type="datetimeFigureOut">
              <a:rPr lang="zh-CN" altLang="en-US" smtClean="0"/>
              <a:t>2020/3/10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921B8-4CDA-496A-AF9E-88B441C27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68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CFB0-5A93-4CB0-96B3-C80167B97E5D}" type="datetimeFigureOut">
              <a:rPr lang="zh-CN" altLang="en-US" smtClean="0"/>
              <a:t>2020/3/10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921B8-4CDA-496A-AF9E-88B441C27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578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CFB0-5A93-4CB0-96B3-C80167B97E5D}" type="datetimeFigureOut">
              <a:rPr lang="zh-CN" altLang="en-US" smtClean="0"/>
              <a:t>2020/3/10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921B8-4CDA-496A-AF9E-88B441C27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568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CFB0-5A93-4CB0-96B3-C80167B97E5D}" type="datetimeFigureOut">
              <a:rPr lang="zh-CN" altLang="en-US" smtClean="0"/>
              <a:t>2020/3/10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921B8-4CDA-496A-AF9E-88B441C27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58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CFB0-5A93-4CB0-96B3-C80167B97E5D}" type="datetimeFigureOut">
              <a:rPr lang="zh-CN" altLang="en-US" smtClean="0"/>
              <a:t>2020/3/10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921B8-4CDA-496A-AF9E-88B441C27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728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4CFB0-5A93-4CB0-96B3-C80167B97E5D}" type="datetimeFigureOut">
              <a:rPr lang="zh-CN" altLang="en-US" smtClean="0"/>
              <a:t>2020/3/10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921B8-4CDA-496A-AF9E-88B441C27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787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ctrTitle"/>
          </p:nvPr>
        </p:nvSpPr>
        <p:spPr>
          <a:xfrm>
            <a:off x="755650" y="1339850"/>
            <a:ext cx="7772400" cy="1873250"/>
          </a:xfrm>
        </p:spPr>
        <p:txBody>
          <a:bodyPr/>
          <a:lstStyle/>
          <a:p>
            <a:pPr lvl="0">
              <a:defRPr/>
            </a:pPr>
            <a:r>
              <a:rPr lang="zh-CN" altLang="en-US" sz="4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集成电路</a:t>
            </a:r>
            <a:r>
              <a:rPr lang="en-US" altLang="zh-CN" sz="4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EDA</a:t>
            </a:r>
            <a:r>
              <a:rPr lang="zh-CN" altLang="en-US" sz="4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技术</a:t>
            </a:r>
          </a:p>
        </p:txBody>
      </p:sp>
      <p:grpSp>
        <p:nvGrpSpPr>
          <p:cNvPr id="7172" name="Group 4"/>
          <p:cNvGrpSpPr>
            <a:grpSpLocks/>
          </p:cNvGrpSpPr>
          <p:nvPr/>
        </p:nvGrpSpPr>
        <p:grpSpPr bwMode="auto">
          <a:xfrm>
            <a:off x="250825" y="3357563"/>
            <a:ext cx="8610600" cy="201612"/>
            <a:chOff x="144" y="1680"/>
            <a:chExt cx="5424" cy="144"/>
          </a:xfrm>
        </p:grpSpPr>
        <p:sp>
          <p:nvSpPr>
            <p:cNvPr id="7175" name="Rectangle 5"/>
            <p:cNvSpPr>
              <a:spLocks noChangeArrowheads="1"/>
            </p:cNvSpPr>
            <p:nvPr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76" name="Rectangle 6"/>
            <p:cNvSpPr>
              <a:spLocks noChangeArrowheads="1"/>
            </p:cNvSpPr>
            <p:nvPr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rgbClr val="CC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77" name="Rectangle 7"/>
            <p:cNvSpPr>
              <a:spLocks noChangeArrowheads="1"/>
            </p:cNvSpPr>
            <p:nvPr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pic>
        <p:nvPicPr>
          <p:cNvPr id="717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3857628"/>
            <a:ext cx="4067175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2"/>
          <p:cNvSpPr txBox="1">
            <a:spLocks/>
          </p:cNvSpPr>
          <p:nvPr/>
        </p:nvSpPr>
        <p:spPr>
          <a:xfrm>
            <a:off x="467544" y="3562623"/>
            <a:ext cx="7772400" cy="1873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4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4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、初识</a:t>
            </a:r>
            <a:r>
              <a:rPr lang="en-US" altLang="zh-CN" sz="4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</a:t>
            </a:r>
            <a:endParaRPr lang="zh-CN" altLang="en-US" sz="4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583205"/>
      </p:ext>
    </p:extLst>
  </p:cSld>
  <p:clrMapOvr>
    <a:masterClrMapping/>
  </p:clrMapOvr>
  <p:transition advTm="22344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芯片制造过程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0" y="1145637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晶圆：切割出的晶圆经过抛光后变得几乎完美无瑕，表面甚至可以当镜子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168962"/>
            <a:ext cx="5797419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052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芯片制造过程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0" y="112474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旋涂光刻胶：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图中蓝色部分就是在晶圆旋转过程中浇上去的光刻胶液体，类似制作传统胶片的那种。晶圆旋转可以让光刻胶铺的非常薄、非常平。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130" y="2492896"/>
            <a:ext cx="4896544" cy="4068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3023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芯片制造过程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s://upload.semidata.info/new.eefocus.com/article/image/2018/04/03/5ac2d462266a8-thum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556792"/>
            <a:ext cx="6804754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4263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芯片制造过程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0" y="1075180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光刻：光刻胶层随后透过</a:t>
            </a:r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掩模被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曝光在</a:t>
            </a:r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紫外线之下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，变得可溶，期间发生的化学反应类似按下机械相机快门那一刻胶片的变化。掩模上印着预先设计好的电路图案，紫外线透过它照在光刻胶层上，就会形成微处理器的每一层电路图案。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644840"/>
            <a:ext cx="4950862" cy="4023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6359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芯片制造过程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669" y="1104902"/>
            <a:ext cx="3486476" cy="5753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276872"/>
            <a:ext cx="3581400" cy="245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8726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芯片制造过程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6571" y="1124744"/>
            <a:ext cx="8064896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光刻曝光制作晶体管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017390"/>
            <a:ext cx="4272789" cy="3822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1236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芯片制造过程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0" y="1054760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溶解光刻胶：光刻过程中曝光在紫外线下的光刻胶被溶解掉，清除后留下的图案和掩模上的一致。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988840"/>
            <a:ext cx="5238750" cy="406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8165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芯片制造过程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0" y="1189855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蚀刻：使用化学物质溶解掉暴露出来的晶圆部分，而剩下的光刻胶保护着不应该蚀刻的部分。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047" y="2204864"/>
            <a:ext cx="523875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8129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芯片制造过程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-10142" y="1196752"/>
            <a:ext cx="91541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清除光刻胶：蚀刻完成后，光刻胶的</a:t>
            </a:r>
            <a:r>
              <a:rPr lang="zh-CN" altLang="en-US" sz="2400" b="1" dirty="0" smtClean="0">
                <a:latin typeface="华文楷体" pitchFamily="2" charset="-122"/>
                <a:ea typeface="华文楷体" pitchFamily="2" charset="-122"/>
              </a:rPr>
              <a:t>使命暂时宣告</a:t>
            </a: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完成，全部清除后就可以看到设计好的电路图案。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636" y="2204863"/>
            <a:ext cx="5238750" cy="383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9953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芯片制造过程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0" y="1196751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光刻胶：再次浇上光刻胶</a:t>
            </a:r>
            <a:r>
              <a:rPr lang="en-US" altLang="zh-CN" sz="2400" b="1" dirty="0">
                <a:latin typeface="华文楷体" pitchFamily="2" charset="-122"/>
                <a:ea typeface="华文楷体" pitchFamily="2" charset="-122"/>
              </a:rPr>
              <a:t>(</a:t>
            </a: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蓝色部分</a:t>
            </a:r>
            <a:r>
              <a:rPr lang="en-US" altLang="zh-CN" sz="2400" b="1" dirty="0">
                <a:latin typeface="华文楷体" pitchFamily="2" charset="-122"/>
                <a:ea typeface="华文楷体" pitchFamily="2" charset="-122"/>
              </a:rPr>
              <a:t>)</a:t>
            </a: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，然后光刻，并洗掉曝光的部分，剩下的光刻胶还是用来保护不会离子注入的那部分材料。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561" y="2276872"/>
            <a:ext cx="6101518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2690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芯片制造过程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-4058" y="1124744"/>
            <a:ext cx="914805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华文楷体" pitchFamily="2" charset="-122"/>
                <a:ea typeface="华文楷体" pitchFamily="2" charset="-122"/>
              </a:rPr>
              <a:t>离子注入：</a:t>
            </a: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在真空系统中，用经过加速的、要掺杂的原子的离子照射</a:t>
            </a:r>
            <a:r>
              <a:rPr lang="en-US" altLang="zh-CN" sz="2400" b="1" dirty="0">
                <a:latin typeface="华文楷体" pitchFamily="2" charset="-122"/>
                <a:ea typeface="华文楷体" pitchFamily="2" charset="-122"/>
              </a:rPr>
              <a:t>(</a:t>
            </a: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注入</a:t>
            </a:r>
            <a:r>
              <a:rPr lang="en-US" altLang="zh-CN" sz="2400" b="1" dirty="0">
                <a:latin typeface="华文楷体" pitchFamily="2" charset="-122"/>
                <a:ea typeface="华文楷体" pitchFamily="2" charset="-122"/>
              </a:rPr>
              <a:t>)</a:t>
            </a: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固体材料，从而在被注入的区域形成特殊的注入层，并改变这些区域的硅的导电性。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308" y="2325073"/>
            <a:ext cx="5238750" cy="433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9656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芯片制造过程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s://timgsa.baidu.com/timg?image&amp;quality=80&amp;size=b9999_10000&amp;sec=1554801267462&amp;di=2a4f058df2dcbe3ada66972315d125ae&amp;imgtype=0&amp;src=http%3A%2F%2Fwww.p-e-china.com%2Fuploadfile%2FArticle%2F201408%2F2014081110121978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210" y="1340767"/>
            <a:ext cx="6336704" cy="482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499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芯片制造过程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-19676" y="1196752"/>
            <a:ext cx="91636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清除光刻胶：离子注入完成后，光刻胶也被清除，而注入区域</a:t>
            </a:r>
            <a:r>
              <a:rPr lang="en-US" altLang="zh-CN" sz="2400" b="1" dirty="0">
                <a:latin typeface="华文楷体" pitchFamily="2" charset="-122"/>
                <a:ea typeface="华文楷体" pitchFamily="2" charset="-122"/>
              </a:rPr>
              <a:t>(</a:t>
            </a: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绿色部分</a:t>
            </a:r>
            <a:r>
              <a:rPr lang="en-US" altLang="zh-CN" sz="2400" b="1" dirty="0">
                <a:latin typeface="华文楷体" pitchFamily="2" charset="-122"/>
                <a:ea typeface="华文楷体" pitchFamily="2" charset="-122"/>
              </a:rPr>
              <a:t>)</a:t>
            </a: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也已掺杂，注入了不同的原子。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864" y="2304166"/>
            <a:ext cx="5238750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2382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芯片制造过程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0" y="1124744"/>
            <a:ext cx="90364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绝缘层</a:t>
            </a:r>
            <a:r>
              <a:rPr lang="zh-CN" altLang="en-US" sz="2400" b="1" dirty="0" smtClean="0">
                <a:latin typeface="华文楷体" pitchFamily="2" charset="-122"/>
                <a:ea typeface="华文楷体" pitchFamily="2" charset="-122"/>
              </a:rPr>
              <a:t>处理</a:t>
            </a:r>
            <a:r>
              <a:rPr lang="en-US" altLang="zh-CN" sz="2400" b="1" dirty="0" smtClean="0">
                <a:latin typeface="华文楷体" pitchFamily="2" charset="-122"/>
                <a:ea typeface="华文楷体" pitchFamily="2" charset="-122"/>
              </a:rPr>
              <a:t>:</a:t>
            </a: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 </a:t>
            </a:r>
            <a:r>
              <a:rPr lang="zh-CN" altLang="en-US" sz="2400" b="1" dirty="0" smtClean="0">
                <a:latin typeface="华文楷体" pitchFamily="2" charset="-122"/>
                <a:ea typeface="华文楷体" pitchFamily="2" charset="-122"/>
              </a:rPr>
              <a:t> 此时</a:t>
            </a: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晶体管雏形已经基本完成，利用气相沉积法，在硅晶圆表面全面地沉积一层氧化硅膜，形成绝缘层。同样利用光刻掩模技术在层间绝缘膜上开孔，以便引出导体电极。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522" y="2564904"/>
            <a:ext cx="5238750" cy="348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5538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芯片制造过程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-14808" y="1043804"/>
            <a:ext cx="91588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电镀</a:t>
            </a:r>
            <a:r>
              <a:rPr lang="zh-CN" altLang="en-US" sz="2400" b="1" dirty="0" smtClean="0">
                <a:latin typeface="华文楷体" pitchFamily="2" charset="-122"/>
                <a:ea typeface="华文楷体" pitchFamily="2" charset="-122"/>
              </a:rPr>
              <a:t>：</a:t>
            </a: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利用溅射沉积法，在晶圆整个表面上沉积布线用的铜层，继续使用光刻掩模技术对铜层进行雕刻，形成场效应管的源极、漏极、栅极。最后在整个晶圆表面沉积一层绝缘层以保护晶体管。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420888"/>
            <a:ext cx="5145557" cy="4088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9717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芯片制造过程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-28804" y="1124744"/>
            <a:ext cx="91728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铜层：电镀完成后，铜离子沉积在晶圆表面，形成一个薄薄的铜层。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7" y="2132856"/>
            <a:ext cx="5238750" cy="383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7490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芯片制造过程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0" y="1124744"/>
            <a:ext cx="73579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抛光：将多余的铜抛光掉，也就是磨光晶圆表面。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104459"/>
            <a:ext cx="523875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2109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芯片制造过程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0" y="1161861"/>
            <a:ext cx="91085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金属层互连：晶体管级别，六个晶体管的</a:t>
            </a:r>
            <a:r>
              <a:rPr lang="zh-CN" altLang="en-US" sz="2400" b="1" dirty="0" smtClean="0">
                <a:latin typeface="华文楷体" pitchFamily="2" charset="-122"/>
                <a:ea typeface="华文楷体" pitchFamily="2" charset="-122"/>
              </a:rPr>
              <a:t>组合</a:t>
            </a: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，</a:t>
            </a:r>
            <a:r>
              <a:rPr lang="zh-CN" altLang="en-US" sz="2400" b="1" dirty="0" smtClean="0">
                <a:latin typeface="华文楷体" pitchFamily="2" charset="-122"/>
                <a:ea typeface="华文楷体" pitchFamily="2" charset="-122"/>
              </a:rPr>
              <a:t>在</a:t>
            </a: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不同晶体管之间形成复合互连金属层，具体布局取决于相应处理器所需要的不同功能性。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448" y="2362190"/>
            <a:ext cx="4826227" cy="3966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3634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42844" y="1268760"/>
            <a:ext cx="72635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首先</a:t>
            </a:r>
            <a:r>
              <a:rPr lang="zh-CN" altLang="zh-CN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安装包</a:t>
            </a:r>
            <a:r>
              <a:rPr lang="zh-CN" altLang="zh-CN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文件夹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中找到这个</a:t>
            </a:r>
            <a:r>
              <a:rPr lang="zh-CN" altLang="zh-CN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图标</a:t>
            </a:r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，点击开始安装</a:t>
            </a:r>
            <a:endParaRPr lang="zh-CN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492896"/>
            <a:ext cx="5456078" cy="12241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279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757" y="1844824"/>
            <a:ext cx="6720636" cy="452283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/>
        </p:nvSpPr>
        <p:spPr>
          <a:xfrm>
            <a:off x="221969" y="1196752"/>
            <a:ext cx="42659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记得把</a:t>
            </a:r>
            <a:r>
              <a:rPr lang="en-US" altLang="zh-CN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Install License Server</a:t>
            </a:r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勾上</a:t>
            </a:r>
            <a:endParaRPr lang="zh-CN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582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21969" y="1196752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等待安装完</a:t>
            </a:r>
            <a:endParaRPr lang="zh-CN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742" y="1643609"/>
            <a:ext cx="6728617" cy="51549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2177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30162" y="1013379"/>
            <a:ext cx="87154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在安装过程</a:t>
            </a:r>
            <a:r>
              <a:rPr lang="zh-CN" altLang="zh-CN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中有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可能直接跳出来一个网页，直接设置一个密码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613" y="1475043"/>
            <a:ext cx="7317897" cy="53354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61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42844" y="1040112"/>
            <a:ext cx="88216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点击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Login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之后，出现以下页面，收藏网页之后先把这个网页关闭！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98532"/>
            <a:ext cx="8083230" cy="5314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772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42844" y="1124744"/>
            <a:ext cx="87154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安装完后，</a:t>
            </a:r>
            <a:r>
              <a:rPr lang="zh-CN" altLang="zh-CN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点击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你的“开始”，找到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S.EDA Tools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，点击其中的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SFLM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—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Stop Server</a:t>
            </a:r>
            <a:endParaRPr lang="zh-CN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44" y="2204458"/>
            <a:ext cx="8784976" cy="33843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607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42844" y="1013379"/>
            <a:ext cx="87154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随后找到安装包文件夹里的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rpc.sflmserverd.exe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文件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766" y="1475044"/>
            <a:ext cx="4968552" cy="151216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23074" y="3212976"/>
            <a:ext cx="91146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将其复制到安装路径下的这里，替换原来的文件</a:t>
            </a:r>
          </a:p>
        </p:txBody>
      </p:sp>
      <p:pic>
        <p:nvPicPr>
          <p:cNvPr id="7" name="图片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694522"/>
            <a:ext cx="5998570" cy="29870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6849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42844" y="1013379"/>
            <a:ext cx="8893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接着查看你自己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PC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ID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号，每台电脑的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ID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号都是不同的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87" y="1858820"/>
            <a:ext cx="7687186" cy="33843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0508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196752"/>
            <a:ext cx="7416254" cy="50405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8530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9362" y="1000108"/>
            <a:ext cx="90791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下一步，打开你之前保存的网页输入之间设置的</a:t>
            </a:r>
            <a:r>
              <a:rPr lang="zh-CN" altLang="zh-CN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密码</a:t>
            </a:r>
            <a:endParaRPr lang="zh-CN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77" y="1803316"/>
            <a:ext cx="8208912" cy="50003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02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988840"/>
            <a:ext cx="7339685" cy="28803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/>
          <p:cNvSpPr/>
          <p:nvPr/>
        </p:nvSpPr>
        <p:spPr>
          <a:xfrm>
            <a:off x="141864" y="1196752"/>
            <a:ext cx="28007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然后点击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Start Server</a:t>
            </a:r>
            <a:endParaRPr lang="zh-CN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651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42844" y="1030781"/>
            <a:ext cx="86776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打开你的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license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文件，把这里的号码换成你的机器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ID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号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772816"/>
            <a:ext cx="6624736" cy="44644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8750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9362" y="1013379"/>
            <a:ext cx="90791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然后因为这个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license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的有效期是到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2016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年的，你可以把这里所有的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2016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改成一个很大的年份，比如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2099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，代表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2099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license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才过期</a:t>
            </a:r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988840"/>
            <a:ext cx="6624736" cy="44644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365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1095" y="112474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并把它放到安装路径下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16832"/>
            <a:ext cx="7632848" cy="33930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858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0" y="1013379"/>
            <a:ext cx="8964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回到网页中，开始准备安装新的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license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，选择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Register Online</a:t>
            </a:r>
            <a:endParaRPr lang="zh-CN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84172"/>
            <a:ext cx="6840760" cy="51851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708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0" y="1021451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填写你的信息，当然这里可以随便填写，假的也行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243" y="1594926"/>
            <a:ext cx="7488832" cy="50405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185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628800"/>
            <a:ext cx="7391672" cy="489654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/>
        </p:nvSpPr>
        <p:spPr>
          <a:xfrm>
            <a:off x="0" y="1021451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点击</a:t>
            </a:r>
            <a:r>
              <a:rPr lang="en-US" altLang="zh-CN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Next</a:t>
            </a:r>
            <a:endParaRPr lang="zh-CN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609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9362" y="1013379"/>
            <a:ext cx="89351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点击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Next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之后，再接下来的界面也可以看到你的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ID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号，所以要是之前没有替换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license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里面的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ID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的话，现在再粘贴也可以。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476" y="1916832"/>
            <a:ext cx="7272808" cy="46805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6689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9472" y="1030781"/>
            <a:ext cx="91245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点击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OK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之后，接下来选择最右边的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INSTALL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NEW 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LICENSE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324" y="1605271"/>
            <a:ext cx="7731124" cy="47040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3073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9362" y="1013379"/>
            <a:ext cx="8359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可能需要</a:t>
            </a:r>
            <a:r>
              <a:rPr lang="zh-CN" altLang="zh-CN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填写</a:t>
            </a:r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之前设的</a:t>
            </a:r>
            <a:r>
              <a:rPr lang="zh-CN" altLang="zh-CN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密码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，之后点击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Install </a:t>
            </a:r>
            <a:r>
              <a:rPr lang="en-US" altLang="zh-CN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Saved  File</a:t>
            </a:r>
            <a:endParaRPr lang="zh-CN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154" y="1498572"/>
            <a:ext cx="7848302" cy="50987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308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9362" y="1052736"/>
            <a:ext cx="88289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找到之前保存在安装路径下面的，替换过</a:t>
            </a:r>
            <a:r>
              <a:rPr lang="en-US" altLang="zh-CN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PC  ID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以及有效期限的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License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，载入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844824"/>
            <a:ext cx="7526640" cy="47525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581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-3246" y="1047982"/>
            <a:ext cx="5109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如果</a:t>
            </a:r>
            <a:r>
              <a:rPr lang="zh-CN" altLang="zh-CN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安装成功，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就会出现下面的界面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26" y="1628800"/>
            <a:ext cx="8265054" cy="50405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1381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70" y="1380322"/>
            <a:ext cx="8640390" cy="48965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151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0" y="1013379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最后检查有没有安装成功。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30" y="1628800"/>
            <a:ext cx="7776864" cy="47525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91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7038" y="1013379"/>
            <a:ext cx="85154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如果出现的是这个，恭喜你，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Silvaco</a:t>
            </a:r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已经安装到你的电脑里了</a:t>
            </a:r>
          </a:p>
        </p:txBody>
      </p:sp>
      <p:pic>
        <p:nvPicPr>
          <p:cNvPr id="7" name="图片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70785"/>
            <a:ext cx="8105798" cy="5189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725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45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7038" y="1013379"/>
            <a:ext cx="85154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如果安装有问题的话，这里有一个</a:t>
            </a:r>
            <a:r>
              <a:rPr lang="en-US" altLang="zh-CN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站视频可以帮助大家</a:t>
            </a:r>
            <a:endParaRPr lang="zh-CN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038" y="1624743"/>
            <a:ext cx="91269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https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://www.bilibili.com/video/av88206566?from=search&amp;seid=11553685469136193025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951" y="2424503"/>
            <a:ext cx="5858222" cy="4401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7593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21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初识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7038" y="1013379"/>
            <a:ext cx="85154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安装完之后，我们开始运行软件了</a:t>
            </a:r>
            <a:endParaRPr lang="zh-CN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038" y="1916832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第一步还是点击这个图标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4352" y="2996951"/>
            <a:ext cx="852860" cy="755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0299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21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初识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-30629" y="1045427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打开之后可以看到界面如下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10" y="1493697"/>
            <a:ext cx="8136903" cy="52906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3764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21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初识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0" y="1052736"/>
            <a:ext cx="4493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大概的仿真流程图如下，全部：</a:t>
            </a:r>
          </a:p>
        </p:txBody>
      </p:sp>
      <p:pic>
        <p:nvPicPr>
          <p:cNvPr id="6" name="图片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2816"/>
            <a:ext cx="8280920" cy="4032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6522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21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初识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8052" y="1225689"/>
            <a:ext cx="884022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全部文件输入、程序编写都是在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DeckBuild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完成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b="1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关键组件包括：工艺仿真器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ATHENA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、器件编辑器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DevEdit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、器件仿真器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ATLAS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、可视化工具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Tonyplot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b="1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ATHENA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：对工艺关键步骤进行仿真，包括离子注入、扩散、刻蚀、淀积、光刻以及氧化</a:t>
            </a:r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等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b="1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ATLAS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：对器件进行电学、光学和热学</a:t>
            </a:r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仿真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b="1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Tonyplot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：可视化工具，可以显示器件的结构、工艺的每一步仿真步骤，以及器件的仿真曲线</a:t>
            </a:r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等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212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21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初识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1154" y="1124744"/>
            <a:ext cx="91328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对于初学者来说，我们推荐利用软件自带的例子进行参考，通过菜单中的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Help—Example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，我们可以选择大量的例子进行参考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091" y="1873625"/>
            <a:ext cx="3854942" cy="1627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398373"/>
            <a:ext cx="4969371" cy="3428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971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21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初识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0" y="1124744"/>
            <a:ext cx="4339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接下来我们看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DeckBulid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的界面</a:t>
            </a:r>
          </a:p>
        </p:txBody>
      </p:sp>
      <p:pic>
        <p:nvPicPr>
          <p:cNvPr id="6" name="图片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40" y="1588843"/>
            <a:ext cx="9002172" cy="51549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869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21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初识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0" y="1013379"/>
            <a:ext cx="88582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我们随便选择一个，比如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MOS2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下面的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mos2ex08.in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，这个就是编写好的程序输入文件，界面如下</a:t>
            </a:r>
          </a:p>
        </p:txBody>
      </p:sp>
      <p:pic>
        <p:nvPicPr>
          <p:cNvPr id="6" name="图片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844376"/>
            <a:ext cx="8064896" cy="48969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1850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21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初识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0" y="1124744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窗口顶部是操作菜单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196752"/>
            <a:ext cx="4468810" cy="1152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426" y="2492896"/>
            <a:ext cx="6419850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4351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21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初识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3731" y="1124744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窗口底部是状态栏</a:t>
            </a:r>
          </a:p>
        </p:txBody>
      </p:sp>
      <p:pic>
        <p:nvPicPr>
          <p:cNvPr id="6" name="图片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51" y="2267744"/>
            <a:ext cx="8280350" cy="43204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21904" y="3573016"/>
            <a:ext cx="91220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Ready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表示仿真的状态，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ATHENA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表示当前使用的仿真组件，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Stop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None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表示当前没有设置断点，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Line 21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表示光标所处的行号</a:t>
            </a:r>
          </a:p>
        </p:txBody>
      </p:sp>
    </p:spTree>
    <p:extLst>
      <p:ext uri="{BB962C8B-B14F-4D97-AF65-F5344CB8AC3E}">
        <p14:creationId xmlns:p14="http://schemas.microsoft.com/office/powerpoint/2010/main" val="194739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21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初识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0" y="1021451"/>
            <a:ext cx="90364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菜单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Edit—Preferences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，看到里面的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History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，建议大家把这个勾上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772816"/>
            <a:ext cx="4608210" cy="43601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719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21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初识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2120" y="1111568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接下来我们开始执行程序，执行的时候下面的输出窗口会显示数据</a:t>
            </a:r>
          </a:p>
        </p:txBody>
      </p:sp>
      <p:pic>
        <p:nvPicPr>
          <p:cNvPr id="6" name="图片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73233"/>
            <a:ext cx="8390736" cy="52847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3933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21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初识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448" y="1013379"/>
            <a:ext cx="90330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然后得到这两个结果，很显然一个是器件的剖面结构，另一个是器件的性能仿真曲线，都是通过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Tonyplot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可视化工具输出的，当然输出的结果不止这两张图，怎么看其他的结果我们后来再涉及。</a:t>
            </a:r>
          </a:p>
        </p:txBody>
      </p:sp>
      <p:pic>
        <p:nvPicPr>
          <p:cNvPr id="6" name="图片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28" y="2213708"/>
            <a:ext cx="4320000" cy="43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858" y="2236052"/>
            <a:ext cx="4320000" cy="432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688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21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初识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478" y="1444567"/>
            <a:ext cx="5651778" cy="5437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3448" y="1013379"/>
            <a:ext cx="90330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这里就是我们的历史文件了，如果勾上了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make history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就会出现这些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48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21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初识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8800"/>
            <a:ext cx="9144000" cy="4729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3448" y="1013379"/>
            <a:ext cx="9033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每一个工艺步骤的器件剖面图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122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21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初识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3448" y="1013379"/>
            <a:ext cx="90330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 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Tonyplot 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窗口显示的是结构文件时，点右键将会出现“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display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”选项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30" y="3165868"/>
            <a:ext cx="7742664" cy="3674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03" y="1428877"/>
            <a:ext cx="6148809" cy="1581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168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21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初识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854" y="1103011"/>
            <a:ext cx="5792846" cy="5792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3448" y="1013379"/>
            <a:ext cx="9033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Mesh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" y="1702431"/>
            <a:ext cx="3062317" cy="2160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4978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21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初识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334" y="1475044"/>
            <a:ext cx="5337930" cy="5351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3448" y="1013379"/>
            <a:ext cx="9033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Contours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，可以看各种物理量，这里是掺杂浓度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848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21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初识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" y="1700808"/>
            <a:ext cx="9143438" cy="4914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3448" y="1013379"/>
            <a:ext cx="9033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Tool—Cutline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，可以通过划线看各种一维数据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901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21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初识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12423"/>
            <a:ext cx="9144000" cy="4366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3448" y="1013379"/>
            <a:ext cx="9033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电流特性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901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1442</Words>
  <Application>Microsoft Office PowerPoint</Application>
  <PresentationFormat>全屏显示(4:3)</PresentationFormat>
  <Paragraphs>136</Paragraphs>
  <Slides>64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65" baseType="lpstr">
      <vt:lpstr>Office 主题​​</vt:lpstr>
      <vt:lpstr>集成电路EDA技术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集成电路EDA技术</dc:title>
  <dc:creator>个人用户</dc:creator>
  <cp:lastModifiedBy>个人用户</cp:lastModifiedBy>
  <cp:revision>15</cp:revision>
  <dcterms:created xsi:type="dcterms:W3CDTF">2020-03-02T14:48:12Z</dcterms:created>
  <dcterms:modified xsi:type="dcterms:W3CDTF">2020-03-10T01:12:19Z</dcterms:modified>
</cp:coreProperties>
</file>