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78" r:id="rId25"/>
    <p:sldId id="279" r:id="rId26"/>
    <p:sldId id="280" r:id="rId27"/>
    <p:sldId id="283" r:id="rId28"/>
    <p:sldId id="284" r:id="rId2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253"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3891888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619813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1018219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2720005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2181449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387798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3242186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2956494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3917054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294564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EAB4540-FF16-4097-94FD-3C43043CECE6}" type="datetimeFigureOut">
              <a:rPr lang="zh-CN" altLang="en-US" smtClean="0"/>
              <a:t>2020/4/6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2948243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AB4540-FF16-4097-94FD-3C43043CECE6}" type="datetimeFigureOut">
              <a:rPr lang="zh-CN" altLang="en-US" smtClean="0"/>
              <a:t>2020/4/6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D3B8ED-29D9-44AE-89BB-832A39928630}" type="slidenum">
              <a:rPr lang="zh-CN" altLang="en-US" smtClean="0"/>
              <a:t>‹#›</a:t>
            </a:fld>
            <a:endParaRPr lang="zh-CN" altLang="en-US"/>
          </a:p>
        </p:txBody>
      </p:sp>
    </p:spTree>
    <p:extLst>
      <p:ext uri="{BB962C8B-B14F-4D97-AF65-F5344CB8AC3E}">
        <p14:creationId xmlns:p14="http://schemas.microsoft.com/office/powerpoint/2010/main" val="3474957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ctrTitle"/>
          </p:nvPr>
        </p:nvSpPr>
        <p:spPr>
          <a:xfrm>
            <a:off x="755650" y="1339850"/>
            <a:ext cx="7772400" cy="1873250"/>
          </a:xfrm>
        </p:spPr>
        <p:txBody>
          <a:bodyPr/>
          <a:lstStyle/>
          <a:p>
            <a:pPr lvl="0">
              <a:defRPr/>
            </a:pP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集成电路</a:t>
            </a:r>
            <a:r>
              <a:rPr lang="en-US" altLang="zh-CN" sz="4800" b="1" dirty="0" smtClean="0">
                <a:latin typeface="Times New Roman" panose="02020603050405020304" pitchFamily="18" charset="0"/>
                <a:ea typeface="楷体" panose="02010609060101010101" pitchFamily="49" charset="-122"/>
                <a:cs typeface="Times New Roman" panose="02020603050405020304" pitchFamily="18" charset="0"/>
              </a:rPr>
              <a:t>EDA</a:t>
            </a:r>
            <a:r>
              <a:rPr lang="zh-CN" altLang="en-US" sz="4800" b="1" dirty="0" smtClean="0">
                <a:latin typeface="Times New Roman" panose="02020603050405020304" pitchFamily="18" charset="0"/>
                <a:ea typeface="楷体" panose="02010609060101010101" pitchFamily="49" charset="-122"/>
                <a:cs typeface="Times New Roman" panose="02020603050405020304" pitchFamily="18" charset="0"/>
              </a:rPr>
              <a:t>技术</a:t>
            </a:r>
          </a:p>
        </p:txBody>
      </p:sp>
      <p:grpSp>
        <p:nvGrpSpPr>
          <p:cNvPr id="7172" name="Group 4"/>
          <p:cNvGrpSpPr>
            <a:grpSpLocks/>
          </p:cNvGrpSpPr>
          <p:nvPr/>
        </p:nvGrpSpPr>
        <p:grpSpPr bwMode="auto">
          <a:xfrm>
            <a:off x="250825" y="3357563"/>
            <a:ext cx="8610600" cy="201612"/>
            <a:chOff x="144" y="1680"/>
            <a:chExt cx="5424" cy="144"/>
          </a:xfrm>
        </p:grpSpPr>
        <p:sp>
          <p:nvSpPr>
            <p:cNvPr id="7175" name="Rectangle 5"/>
            <p:cNvSpPr>
              <a:spLocks noChangeArrowheads="1"/>
            </p:cNvSpPr>
            <p:nvPr/>
          </p:nvSpPr>
          <p:spPr bwMode="auto">
            <a:xfrm>
              <a:off x="144"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6" name="Rectangle 6"/>
            <p:cNvSpPr>
              <a:spLocks noChangeArrowheads="1"/>
            </p:cNvSpPr>
            <p:nvPr/>
          </p:nvSpPr>
          <p:spPr bwMode="auto">
            <a:xfrm>
              <a:off x="1952" y="1680"/>
              <a:ext cx="1808" cy="144"/>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sp>
          <p:nvSpPr>
            <p:cNvPr id="7177" name="Rectangle 7"/>
            <p:cNvSpPr>
              <a:spLocks noChangeArrowheads="1"/>
            </p:cNvSpPr>
            <p:nvPr/>
          </p:nvSpPr>
          <p:spPr bwMode="auto">
            <a:xfrm>
              <a:off x="3760" y="1680"/>
              <a:ext cx="1808" cy="144"/>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lang="zh-CN" altLang="en-US"/>
            </a:p>
          </p:txBody>
        </p:sp>
      </p:grpSp>
      <p:pic>
        <p:nvPicPr>
          <p:cNvPr id="717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825" y="3857628"/>
            <a:ext cx="40671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2"/>
          <p:cNvSpPr txBox="1">
            <a:spLocks/>
          </p:cNvSpPr>
          <p:nvPr/>
        </p:nvSpPr>
        <p:spPr>
          <a:xfrm>
            <a:off x="467544" y="3562623"/>
            <a:ext cx="7772400" cy="18732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8</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r>
              <a:rPr lang="en-US" altLang="zh-CN" sz="3200" b="1" dirty="0" smtClean="0">
                <a:latin typeface="Times New Roman" panose="02020603050405020304" pitchFamily="18" charset="0"/>
                <a:ea typeface="楷体" panose="02010609060101010101" pitchFamily="49" charset="-122"/>
                <a:cs typeface="Times New Roman" panose="02020603050405020304" pitchFamily="18" charset="0"/>
              </a:rPr>
              <a:t>2</a:t>
            </a: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691471830"/>
      </p:ext>
    </p:extLst>
  </p:cSld>
  <p:clrMapOvr>
    <a:masterClrMapping/>
  </p:clrMapOvr>
  <p:transition advTm="2234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5821" y="1124744"/>
            <a:ext cx="204094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第五步：显影</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 name="矩形 5"/>
          <p:cNvSpPr/>
          <p:nvPr/>
        </p:nvSpPr>
        <p:spPr>
          <a:xfrm>
            <a:off x="15821" y="1738809"/>
            <a:ext cx="2387192" cy="461665"/>
          </a:xfrm>
          <a:prstGeom prst="rect">
            <a:avLst/>
          </a:prstGeom>
        </p:spPr>
        <p:txBody>
          <a:bodyPr wrap="none">
            <a:spAutoFit/>
          </a:bodyPr>
          <a:lstStyle/>
          <a:p>
            <a:pPr marL="342900" indent="-34290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光刻机的分类</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矩形 3"/>
          <p:cNvSpPr/>
          <p:nvPr/>
        </p:nvSpPr>
        <p:spPr>
          <a:xfrm>
            <a:off x="-67382" y="2420887"/>
            <a:ext cx="9215438" cy="830997"/>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）接触式</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光刻机：直到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世纪</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70</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年代中期，接触式光刻机一直是半导体工业中主要使用的光刻机。</a:t>
            </a:r>
          </a:p>
        </p:txBody>
      </p:sp>
      <p:pic>
        <p:nvPicPr>
          <p:cNvPr id="1026" name="Picture 2" descr="http://5b0988e595225.cdn.sohucs.com/images/20181125/c52bc240cf2143e0937d8551bada5785.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760" y="3356992"/>
            <a:ext cx="3600000" cy="3326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5473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5851" y="1344216"/>
            <a:ext cx="5800725" cy="3228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0" y="5301208"/>
            <a:ext cx="914400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接触式光刻机用于分立器件产品、小规模集成电路，以及大约在</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5um</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或更大的特征图形尺寸</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39320"/>
            <a:ext cx="3475865" cy="3431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1906" y="1124744"/>
            <a:ext cx="9122094" cy="1200329"/>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）接近</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式光刻机：接近式光刻机是接触式光刻机的自然演变。该系统本质上是一个接触式光刻机，只是带有使晶圆近距离接触或软接触掩膜版的机械装置。有时接近式光刻机也称为软接触机器。</a:t>
            </a:r>
          </a:p>
        </p:txBody>
      </p:sp>
      <p:pic>
        <p:nvPicPr>
          <p:cNvPr id="3074" name="Picture 2" descr="http://5b0988e595225.cdn.sohucs.com/images/20181125/a4a78b3bbc0b4d72a20f245217445e7e.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2780928"/>
            <a:ext cx="4762500" cy="3219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46" y="1340768"/>
            <a:ext cx="4229100"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7033" y="1398318"/>
            <a:ext cx="4320000" cy="335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0" y="5229200"/>
            <a:ext cx="9144000"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接近式光刻机的性能表现是分辨率和缺陷密度的折中，但即使缺陷密度得以改善，接近式光刻机在超大规模集成电路的光刻掩膜工艺中也少有用武之地。</a:t>
            </a:r>
          </a:p>
        </p:txBody>
      </p:sp>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0" y="1124744"/>
            <a:ext cx="3414717"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）扫描投影光刻机：</a:t>
            </a:r>
          </a:p>
        </p:txBody>
      </p:sp>
      <p:sp>
        <p:nvSpPr>
          <p:cNvPr id="6" name="矩形 5"/>
          <p:cNvSpPr/>
          <p:nvPr/>
        </p:nvSpPr>
        <p:spPr>
          <a:xfrm>
            <a:off x="0" y="1700808"/>
            <a:ext cx="9144000" cy="830997"/>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基本原理是将</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掩膜版上的图形投影到晶圆表面上，很像是幻灯片被投影到屏幕</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上。</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122" name="Picture 2" descr="http://5b0988e595225.cdn.sohucs.com/images/20181125/3906edc6391c4a698d5d98ef2f81c61b.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4422" y="2636912"/>
            <a:ext cx="5732280"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84" y="1181742"/>
            <a:ext cx="7858125"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24744"/>
            <a:ext cx="314060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）步进式光刻机：</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790" y="1700808"/>
            <a:ext cx="7820025" cy="460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1235972"/>
            <a:ext cx="204094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第五步：显影</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7172" name="Picture 4" descr="http://5b0988e595225.cdn.sohucs.com/images/20181125/eaadee2400e14bdbb053240244474065.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0344" y="1827728"/>
            <a:ext cx="4762500" cy="357187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3442057" y="5673417"/>
            <a:ext cx="1112805"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掩膜版</a:t>
            </a:r>
          </a:p>
        </p:txBody>
      </p:sp>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23326" y="1196752"/>
            <a:ext cx="9120674" cy="1200329"/>
          </a:xfrm>
          <a:prstGeom prst="rect">
            <a:avLst/>
          </a:prstGeom>
        </p:spPr>
        <p:txBody>
          <a:bodyPr wrap="square">
            <a:spAutoFit/>
          </a:bodyPr>
          <a:lstStyle/>
          <a:p>
            <a:pPr marL="342900" indent="-342900">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晶圆完成对准和曝光后，器件或电路的图案被以曝光和未曝光区域的形式记录在光刻胶上。通过对未聚合光刻胶的化学分解来使图案显影。</a:t>
            </a:r>
          </a:p>
        </p:txBody>
      </p:sp>
      <p:sp>
        <p:nvSpPr>
          <p:cNvPr id="4" name="矩形 3"/>
          <p:cNvSpPr/>
          <p:nvPr/>
        </p:nvSpPr>
        <p:spPr>
          <a:xfrm>
            <a:off x="0" y="2852936"/>
            <a:ext cx="9144000" cy="830997"/>
          </a:xfrm>
          <a:prstGeom prst="rect">
            <a:avLst/>
          </a:prstGeom>
        </p:spPr>
        <p:txBody>
          <a:bodyPr wrap="square">
            <a:spAutoFit/>
          </a:bodyPr>
          <a:lstStyle/>
          <a:p>
            <a:pPr marL="342900" indent="-342900">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显影技术被设计成使之把完全一样的掩膜版图案复制到光刻胶上。不良的显影工艺造成的问题是显影不充分</a:t>
            </a:r>
          </a:p>
        </p:txBody>
      </p:sp>
      <p:sp>
        <p:nvSpPr>
          <p:cNvPr id="6" name="矩形 5"/>
          <p:cNvSpPr/>
          <p:nvPr/>
        </p:nvSpPr>
        <p:spPr>
          <a:xfrm>
            <a:off x="-26409" y="4221088"/>
            <a:ext cx="4552849" cy="461665"/>
          </a:xfrm>
          <a:prstGeom prst="rect">
            <a:avLst/>
          </a:prstGeom>
        </p:spPr>
        <p:txBody>
          <a:bodyPr wrap="none">
            <a:spAutoFit/>
          </a:bodyPr>
          <a:lstStyle/>
          <a:p>
            <a:pPr marL="342900" indent="-342900">
              <a:buFont typeface="Arial" panose="020B0604020202020204" pitchFamily="34" charset="0"/>
              <a:buChar char="•"/>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有几个方法用于光刻胶显影。</a:t>
            </a:r>
          </a:p>
        </p:txBody>
      </p:sp>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0832" y="1196752"/>
            <a:ext cx="5275803" cy="461665"/>
          </a:xfrm>
          <a:prstGeom prst="rect">
            <a:avLst/>
          </a:prstGeom>
        </p:spPr>
        <p:txBody>
          <a:bodyPr wrap="non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）沉浸式显影</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最古老的显影方法</a:t>
            </a:r>
          </a:p>
        </p:txBody>
      </p:sp>
      <p:pic>
        <p:nvPicPr>
          <p:cNvPr id="9218" name="Picture 2" descr="https://timgsa.baidu.com/timg?image&amp;quality=80&amp;size=b9999_10000&amp;sec=1586086252767&amp;di=b85dc3423f1602cea1c697e2c269aac3&amp;imgtype=0&amp;src=http%3A%2F%2F5b0988e595225.cdn.sohucs.com%2Fq_70%2Cc_zoom%2Cw_640%2Fimages%2F20170923%2Ff1bdbe0a41b64ef08720cd9c07f435fc.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715000" cy="3171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0832" y="1196752"/>
            <a:ext cx="5615640"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）喷雾式</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显影</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：最受欢迎的</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显影方法</a:t>
            </a:r>
          </a:p>
        </p:txBody>
      </p:sp>
      <p:pic>
        <p:nvPicPr>
          <p:cNvPr id="12290" name="Picture 2" descr="https://timgsa.baidu.com/timg?image&amp;quality=80&amp;size=b9999_10000&amp;sec=1586086615971&amp;di=77c772556acec76c2c1ef443f04810fc&amp;imgtype=0&amp;src=http%3A%2F%2Ffile02.16sucai.com%2Fd%2Ffile%2F2014%2F0818%2Fa15daea16a893c73b811885d33906ef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7078" y="1916832"/>
            <a:ext cx="5396880" cy="4365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0832" y="1196752"/>
            <a:ext cx="5270995"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）混凝式显影：均匀性好，产能高</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1266" name="Picture 2" descr="http://5b0988e595225.cdn.sohucs.com/images/20181207/8a7632c9315740b9a26587aba80a8ad4.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2" y="1916832"/>
            <a:ext cx="571500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0832" y="1196752"/>
            <a:ext cx="4368504"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d</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）干法显影：</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等离子体刻蚀</a:t>
            </a:r>
          </a:p>
        </p:txBody>
      </p:sp>
      <p:pic>
        <p:nvPicPr>
          <p:cNvPr id="10242" name="Picture 2" descr="https://timgsa.baidu.com/timg?image&amp;quality=80&amp;size=b9999_10000&amp;sec=1586087547370&amp;di=498f9ad2b8b9dafa882f2b1e45f7b5e9&amp;imgtype=0&amp;src=http%3A%2F%2Fi1.sinaimg.cn%2Fdy%2Fw%2F2011-06-17%2F1308257874_MfPIe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2210" y="2060848"/>
            <a:ext cx="5112568" cy="3715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5821" y="1124744"/>
            <a:ext cx="235032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第六步：硬烘焙</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772816"/>
            <a:ext cx="9144000" cy="1569660"/>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硬烘培是在掩模工艺中的第二个热处理操作。它的作用实质上和软烘培是一样的，通过溶液的蒸发来固化光刻胶。然而，对于硬烘培，其唯一的目标是使光刻胶和晶圆表面有良好的黏结，这个步骤有时称为刻蚀前烘培。</a:t>
            </a:r>
          </a:p>
        </p:txBody>
      </p:sp>
      <p:sp>
        <p:nvSpPr>
          <p:cNvPr id="6" name="矩形 5"/>
          <p:cNvSpPr/>
          <p:nvPr/>
        </p:nvSpPr>
        <p:spPr>
          <a:xfrm>
            <a:off x="15820" y="4149080"/>
            <a:ext cx="9128179"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硬烘培是在设备和方法上与软烘培相似。对流炉、在线及手动热板、红外线隧道炉、移动带传导炉和真空炉都用于硬烘培。对于自动生产线，轨道系统受到青睐。</a:t>
            </a:r>
          </a:p>
        </p:txBody>
      </p:sp>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13314" name="Picture 2" descr="http://5b0988e595225.cdn.sohucs.com/images/20181209/5fc0347d58df4e1287415627cc3ec9c3.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647" y="2348880"/>
            <a:ext cx="6119830" cy="3796562"/>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1358" y="1196752"/>
            <a:ext cx="9132641"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硬烘培温度的上限以光刻胶流动点而定。光刻胶有像塑料的性质，当加热时会变软并可流动。当光刻胶流动时，图案尺寸便会改变。</a:t>
            </a:r>
          </a:p>
        </p:txBody>
      </p:sp>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5821" y="1124744"/>
            <a:ext cx="2659702"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第七步：显影检查</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4666" y="1700808"/>
            <a:ext cx="9148666" cy="1569660"/>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在显影和烘培之后就要完成光刻掩模工艺的第一次质检。恰当的说，应该叫显影检验，简称</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DI</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。检验的目的是区分那些通过最终掩模检验可能性很小的晶圆；提供工艺性能和工艺控制数据；以及分拣出需要返工的晶圆。</a:t>
            </a:r>
          </a:p>
        </p:txBody>
      </p:sp>
      <p:pic>
        <p:nvPicPr>
          <p:cNvPr id="15362" name="Picture 2" descr="http://5b0988e595225.cdn.sohucs.com/images/20181209/cea0de66d73e42ecbcee0bea5737e1c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429000"/>
            <a:ext cx="4752528" cy="3159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5821" y="1124744"/>
            <a:ext cx="204094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第八步：刻蚀</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15820" y="1700808"/>
            <a:ext cx="9128179"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在完成显影检验步骤后，掩膜版的图形就被固定在光刻胶膜上并准备刻蚀。在刻蚀后图形就会被永久的转移到晶圆的表面。刻蚀就是通过光刻胶暴露区域来去掉晶圆最表层的工艺</a:t>
            </a:r>
            <a:r>
              <a:rPr lang="zh-CN" altLang="en-US" dirty="0"/>
              <a:t>。</a:t>
            </a:r>
          </a:p>
        </p:txBody>
      </p:sp>
      <p:sp>
        <p:nvSpPr>
          <p:cNvPr id="6" name="矩形 5"/>
          <p:cNvSpPr/>
          <p:nvPr/>
        </p:nvSpPr>
        <p:spPr>
          <a:xfrm>
            <a:off x="-25763" y="3645024"/>
            <a:ext cx="9166110"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刻蚀工艺主要有两大类：湿法和干法刻蚀。两种方法的主要目标是将光刻掩膜版上的图形精确的转移到晶圆的表面</a:t>
            </a:r>
          </a:p>
        </p:txBody>
      </p:sp>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5763" y="1124744"/>
            <a:ext cx="9166110" cy="830997"/>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）湿法刻蚀，包括</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湿法喷射</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硅湿法</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淀积氧化物湿法刻蚀、蒸汽刻蚀等</a:t>
            </a:r>
          </a:p>
        </p:txBody>
      </p:sp>
      <p:pic>
        <p:nvPicPr>
          <p:cNvPr id="16386" name="Picture 2" descr="http://5b0988e595225.cdn.sohucs.com/images/20181214/a7a45cf4c8734b1e835cd51a93f2d9f2.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2553" y="2348880"/>
            <a:ext cx="5760000" cy="3840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5763" y="1124744"/>
            <a:ext cx="9166110" cy="830997"/>
          </a:xfrm>
          <a:prstGeom prst="rect">
            <a:avLst/>
          </a:prstGeom>
        </p:spPr>
        <p:txBody>
          <a:bodyPr wrap="squar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）干法刻蚀，主要就是等离子体刻蚀，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它使用气体和等离子体能量来进行</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化学反应，其他的干法刻蚀包括</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离子束刻蚀</a:t>
            </a:r>
          </a:p>
        </p:txBody>
      </p:sp>
      <p:pic>
        <p:nvPicPr>
          <p:cNvPr id="18434" name="Picture 2" descr="http://5b0988e595225.cdn.sohucs.com/images/20181217/6dd5ebba27c14a8393f1e6af3b47c950.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20" y="2276872"/>
            <a:ext cx="4896544" cy="4221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5821" y="1124744"/>
            <a:ext cx="2969083"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第九步：去除光刻胶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0" y="1772816"/>
            <a:ext cx="9180512" cy="1200329"/>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刻蚀之后，图形成为晶圆最表层永久的一部分。作为刻蚀阻挡层的光刻胶层不再需要了，而要从表面去掉。传统的方法是用湿法化学工艺将其去除。</a:t>
            </a:r>
          </a:p>
        </p:txBody>
      </p:sp>
      <p:sp>
        <p:nvSpPr>
          <p:cNvPr id="6" name="矩形 5"/>
          <p:cNvSpPr/>
          <p:nvPr/>
        </p:nvSpPr>
        <p:spPr>
          <a:xfrm>
            <a:off x="8925" y="3232770"/>
            <a:ext cx="3876382" cy="461665"/>
          </a:xfrm>
          <a:prstGeom prst="rect">
            <a:avLst/>
          </a:prstGeom>
        </p:spPr>
        <p:txBody>
          <a:bodyPr wrap="none">
            <a:spAutoFit/>
          </a:bodyPr>
          <a:lstStyle/>
          <a:p>
            <a:pPr marL="285750" indent="-28575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有金属</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表面的</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湿法</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去胶</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96752"/>
            <a:ext cx="3876382" cy="461665"/>
          </a:xfrm>
          <a:prstGeom prst="rect">
            <a:avLst/>
          </a:prstGeom>
        </p:spPr>
        <p:txBody>
          <a:bodyPr wrap="none">
            <a:spAutoFit/>
          </a:bodyPr>
          <a:lstStyle/>
          <a:p>
            <a:pPr marL="285750" indent="-28575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无金属</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表面的湿法</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去胶：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20482" name="Picture 2" descr="http://inews.gtimg.com/newsapp_bt/0/7369887703/100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844824"/>
            <a:ext cx="4171971" cy="486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1420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96752"/>
            <a:ext cx="1710725" cy="461665"/>
          </a:xfrm>
          <a:prstGeom prst="rect">
            <a:avLst/>
          </a:prstGeom>
        </p:spPr>
        <p:txBody>
          <a:bodyPr wrap="none">
            <a:spAutoFit/>
          </a:bodyPr>
          <a:lstStyle/>
          <a:p>
            <a:pPr marL="285750" indent="-285750">
              <a:buFont typeface="Arial" panose="020B0604020202020204" pitchFamily="34" charset="0"/>
              <a:buChar char="•"/>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干法去胶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0190085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15821" y="1124744"/>
            <a:ext cx="2659702" cy="461665"/>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第十步：最终检查</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p:cNvSpPr/>
          <p:nvPr/>
        </p:nvSpPr>
        <p:spPr>
          <a:xfrm>
            <a:off x="-41418" y="1772816"/>
            <a:ext cx="9185418" cy="830997"/>
          </a:xfrm>
          <a:prstGeom prst="rect">
            <a:avLst/>
          </a:prstGeom>
        </p:spPr>
        <p:txBody>
          <a:bodyPr wrap="square">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在基本的</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光刻工艺</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中最终</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步步骤是</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目检。实际上与显影目检是一样</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的</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规程</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只是大多数的拒收是无法挽回的（不能进行重新工艺处理</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593216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4" name="Picture 2" descr="https://upload.semidata.info/new.eefocus.com/article/image/2019/02/01/5c54155d10f34-thum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772" y="1172142"/>
            <a:ext cx="6912246" cy="5626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93216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Text Box 4"/>
          <p:cNvSpPr txBox="1">
            <a:spLocks noChangeArrowheads="1"/>
          </p:cNvSpPr>
          <p:nvPr/>
        </p:nvSpPr>
        <p:spPr bwMode="auto">
          <a:xfrm>
            <a:off x="125600" y="1124744"/>
            <a:ext cx="7308057" cy="581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ATHENA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重点学习语句包括：</a:t>
            </a:r>
          </a:p>
          <a:p>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网格</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定义：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line</a:t>
            </a: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初始化</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语句：</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initialize</a:t>
            </a: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离子注入</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implant</a:t>
            </a: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扩散</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diffusion</a:t>
            </a: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刻蚀</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etch</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rate</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 etch</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氧</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化：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oxide</a:t>
            </a: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淀积</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deposit</a:t>
            </a:r>
          </a:p>
          <a:p>
            <a:pPr>
              <a:lnSpc>
                <a:spcPct val="150000"/>
              </a:lnSpc>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                         外延</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expitaxy</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p>
          <a:p>
            <a:pPr>
              <a:lnSpc>
                <a:spcPct val="150000"/>
              </a:lnSpc>
            </a:pPr>
            <a:endParaRPr lang="en-US" altLang="zh-CN" sz="2400" b="0" dirty="0"/>
          </a:p>
        </p:txBody>
      </p:sp>
    </p:spTree>
    <p:extLst>
      <p:ext uri="{BB962C8B-B14F-4D97-AF65-F5344CB8AC3E}">
        <p14:creationId xmlns:p14="http://schemas.microsoft.com/office/powerpoint/2010/main" val="280675262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1196752"/>
            <a:ext cx="4035079" cy="461665"/>
          </a:xfrm>
          <a:prstGeom prst="rect">
            <a:avLst/>
          </a:prstGeom>
        </p:spPr>
        <p:txBody>
          <a:bodyPr wrap="none">
            <a:spAutoFit/>
          </a:bodyPr>
          <a:lstStyle/>
          <a:p>
            <a:pPr marL="342900" indent="-342900">
              <a:buFont typeface="Wingdings" panose="05000000000000000000" pitchFamily="2" charset="2"/>
              <a:buChar char="Ø"/>
            </a:pP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看一个最简单的</a:t>
            </a:r>
            <a:r>
              <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rPr>
              <a:t>PN</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结工艺</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1832976"/>
            <a:ext cx="2907877" cy="21141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3690" y="4509120"/>
            <a:ext cx="3682778" cy="21139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3723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428604"/>
            <a:ext cx="3068469" cy="584775"/>
          </a:xfrm>
          <a:prstGeom prst="rect">
            <a:avLst/>
          </a:prstGeom>
          <a:noFill/>
        </p:spPr>
        <p:txBody>
          <a:bodyPr wrap="none" rtlCol="0">
            <a:spAutoFit/>
          </a:bodyPr>
          <a:lstStyle/>
          <a:p>
            <a:pPr>
              <a:defRPr/>
            </a:pPr>
            <a:r>
              <a:rPr lang="zh-CN" altLang="en-US" sz="3200" b="1" dirty="0" smtClean="0">
                <a:latin typeface="Times New Roman" panose="02020603050405020304" pitchFamily="18" charset="0"/>
                <a:ea typeface="楷体" panose="02010609060101010101" pitchFamily="49" charset="-122"/>
                <a:cs typeface="Times New Roman" panose="02020603050405020304" pitchFamily="18" charset="0"/>
              </a:rPr>
              <a:t>图形化光刻工艺</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flipV="1">
            <a:off x="142844" y="928670"/>
            <a:ext cx="8715436" cy="71438"/>
          </a:xfrm>
          <a:prstGeom prst="line">
            <a:avLst/>
          </a:prstGeom>
          <a:ln w="28575">
            <a:solidFill>
              <a:srgbClr val="CC3300"/>
            </a:solidFill>
          </a:ln>
        </p:spPr>
        <p:style>
          <a:lnRef idx="1">
            <a:schemeClr val="accent1"/>
          </a:lnRef>
          <a:fillRef idx="0">
            <a:schemeClr val="accent1"/>
          </a:fillRef>
          <a:effectRef idx="0">
            <a:schemeClr val="accent1"/>
          </a:effectRef>
          <a:fontRef idx="minor">
            <a:schemeClr val="tx1"/>
          </a:fontRef>
        </p:style>
      </p:cxn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196752"/>
            <a:ext cx="5200650" cy="544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97646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717</TotalTime>
  <Words>927</Words>
  <Application>Microsoft Office PowerPoint</Application>
  <PresentationFormat>全屏显示(4:3)</PresentationFormat>
  <Paragraphs>76</Paragraphs>
  <Slides>28</Slides>
  <Notes>0</Notes>
  <HiddenSlides>0</HiddenSlides>
  <MMClips>0</MMClips>
  <ScaleCrop>false</ScaleCrop>
  <HeadingPairs>
    <vt:vector size="4" baseType="variant">
      <vt:variant>
        <vt:lpstr>主题</vt:lpstr>
      </vt:variant>
      <vt:variant>
        <vt:i4>1</vt:i4>
      </vt:variant>
      <vt:variant>
        <vt:lpstr>幻灯片标题</vt:lpstr>
      </vt:variant>
      <vt:variant>
        <vt:i4>28</vt:i4>
      </vt:variant>
    </vt:vector>
  </HeadingPairs>
  <TitlesOfParts>
    <vt:vector size="29" baseType="lpstr">
      <vt:lpstr>Office 主题​​</vt:lpstr>
      <vt:lpstr>集成电路EDA技术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集成电路EDA技术</dc:title>
  <dc:creator>个人用户</dc:creator>
  <cp:lastModifiedBy>个人用户</cp:lastModifiedBy>
  <cp:revision>18</cp:revision>
  <dcterms:created xsi:type="dcterms:W3CDTF">2020-04-03T15:02:14Z</dcterms:created>
  <dcterms:modified xsi:type="dcterms:W3CDTF">2020-04-06T05:06:32Z</dcterms:modified>
</cp:coreProperties>
</file>