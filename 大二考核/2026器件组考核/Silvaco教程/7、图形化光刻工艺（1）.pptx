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3" r:id="rId3"/>
    <p:sldId id="304" r:id="rId4"/>
    <p:sldId id="305" r:id="rId5"/>
    <p:sldId id="306" r:id="rId6"/>
    <p:sldId id="307" r:id="rId7"/>
    <p:sldId id="308" r:id="rId8"/>
    <p:sldId id="309" r:id="rId9"/>
    <p:sldId id="310" r:id="rId10"/>
    <p:sldId id="311" r:id="rId11"/>
    <p:sldId id="312" r:id="rId12"/>
    <p:sldId id="288" r:id="rId13"/>
    <p:sldId id="289" r:id="rId14"/>
    <p:sldId id="290" r:id="rId15"/>
    <p:sldId id="291" r:id="rId16"/>
    <p:sldId id="292" r:id="rId17"/>
    <p:sldId id="327" r:id="rId18"/>
    <p:sldId id="293" r:id="rId19"/>
    <p:sldId id="294" r:id="rId20"/>
    <p:sldId id="295" r:id="rId21"/>
    <p:sldId id="296" r:id="rId22"/>
    <p:sldId id="297" r:id="rId23"/>
    <p:sldId id="298" r:id="rId24"/>
    <p:sldId id="299" r:id="rId25"/>
    <p:sldId id="300" r:id="rId26"/>
    <p:sldId id="301" r:id="rId27"/>
    <p:sldId id="302" r:id="rId28"/>
    <p:sldId id="313" r:id="rId29"/>
    <p:sldId id="314" r:id="rId30"/>
    <p:sldId id="315" r:id="rId31"/>
    <p:sldId id="316" r:id="rId32"/>
    <p:sldId id="317" r:id="rId33"/>
    <p:sldId id="318" r:id="rId34"/>
    <p:sldId id="326" r:id="rId3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18" autoAdjust="0"/>
    <p:restoredTop sz="94660"/>
  </p:normalViewPr>
  <p:slideViewPr>
    <p:cSldViewPr>
      <p:cViewPr varScale="1">
        <p:scale>
          <a:sx n="66" d="100"/>
          <a:sy n="66" d="100"/>
        </p:scale>
        <p:origin x="-1770"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737134B-BBEB-43E8-920C-394B7033AF4B}" type="datetimeFigureOut">
              <a:rPr lang="zh-CN" altLang="en-US" smtClean="0"/>
              <a:t>2021/4/18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A590EC-C292-4902-8CD9-CF6B1EAF0104}" type="slidenum">
              <a:rPr lang="zh-CN" altLang="en-US" smtClean="0"/>
              <a:t>‹#›</a:t>
            </a:fld>
            <a:endParaRPr lang="zh-CN" altLang="en-US"/>
          </a:p>
        </p:txBody>
      </p:sp>
    </p:spTree>
    <p:extLst>
      <p:ext uri="{BB962C8B-B14F-4D97-AF65-F5344CB8AC3E}">
        <p14:creationId xmlns:p14="http://schemas.microsoft.com/office/powerpoint/2010/main" val="1075106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737134B-BBEB-43E8-920C-394B7033AF4B}" type="datetimeFigureOut">
              <a:rPr lang="zh-CN" altLang="en-US" smtClean="0"/>
              <a:t>2021/4/18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A590EC-C292-4902-8CD9-CF6B1EAF0104}" type="slidenum">
              <a:rPr lang="zh-CN" altLang="en-US" smtClean="0"/>
              <a:t>‹#›</a:t>
            </a:fld>
            <a:endParaRPr lang="zh-CN" altLang="en-US"/>
          </a:p>
        </p:txBody>
      </p:sp>
    </p:spTree>
    <p:extLst>
      <p:ext uri="{BB962C8B-B14F-4D97-AF65-F5344CB8AC3E}">
        <p14:creationId xmlns:p14="http://schemas.microsoft.com/office/powerpoint/2010/main" val="3404079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737134B-BBEB-43E8-920C-394B7033AF4B}" type="datetimeFigureOut">
              <a:rPr lang="zh-CN" altLang="en-US" smtClean="0"/>
              <a:t>2021/4/18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A590EC-C292-4902-8CD9-CF6B1EAF0104}" type="slidenum">
              <a:rPr lang="zh-CN" altLang="en-US" smtClean="0"/>
              <a:t>‹#›</a:t>
            </a:fld>
            <a:endParaRPr lang="zh-CN" altLang="en-US"/>
          </a:p>
        </p:txBody>
      </p:sp>
    </p:spTree>
    <p:extLst>
      <p:ext uri="{BB962C8B-B14F-4D97-AF65-F5344CB8AC3E}">
        <p14:creationId xmlns:p14="http://schemas.microsoft.com/office/powerpoint/2010/main" val="3470555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737134B-BBEB-43E8-920C-394B7033AF4B}" type="datetimeFigureOut">
              <a:rPr lang="zh-CN" altLang="en-US" smtClean="0"/>
              <a:t>2021/4/18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9A590EC-C292-4902-8CD9-CF6B1EAF0104}" type="slidenum">
              <a:rPr lang="zh-CN" altLang="en-US" smtClean="0"/>
              <a:t>‹#›</a:t>
            </a:fld>
            <a:endParaRPr lang="zh-CN" altLang="en-US"/>
          </a:p>
        </p:txBody>
      </p:sp>
    </p:spTree>
    <p:extLst>
      <p:ext uri="{BB962C8B-B14F-4D97-AF65-F5344CB8AC3E}">
        <p14:creationId xmlns:p14="http://schemas.microsoft.com/office/powerpoint/2010/main" val="2447267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737134B-BBEB-43E8-920C-394B7033AF4B}" type="datetimeFigureOut">
              <a:rPr lang="zh-CN" altLang="en-US" smtClean="0"/>
              <a:t>2021/4/18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9A590EC-C292-4902-8CD9-CF6B1EAF0104}" type="slidenum">
              <a:rPr lang="zh-CN" altLang="en-US" smtClean="0"/>
              <a:t>‹#›</a:t>
            </a:fld>
            <a:endParaRPr lang="zh-CN" altLang="en-US"/>
          </a:p>
        </p:txBody>
      </p:sp>
    </p:spTree>
    <p:extLst>
      <p:ext uri="{BB962C8B-B14F-4D97-AF65-F5344CB8AC3E}">
        <p14:creationId xmlns:p14="http://schemas.microsoft.com/office/powerpoint/2010/main" val="2868842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737134B-BBEB-43E8-920C-394B7033AF4B}" type="datetimeFigureOut">
              <a:rPr lang="zh-CN" altLang="en-US" smtClean="0"/>
              <a:t>2021/4/18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9A590EC-C292-4902-8CD9-CF6B1EAF0104}" type="slidenum">
              <a:rPr lang="zh-CN" altLang="en-US" smtClean="0"/>
              <a:t>‹#›</a:t>
            </a:fld>
            <a:endParaRPr lang="zh-CN" altLang="en-US"/>
          </a:p>
        </p:txBody>
      </p:sp>
    </p:spTree>
    <p:extLst>
      <p:ext uri="{BB962C8B-B14F-4D97-AF65-F5344CB8AC3E}">
        <p14:creationId xmlns:p14="http://schemas.microsoft.com/office/powerpoint/2010/main" val="3865735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737134B-BBEB-43E8-920C-394B7033AF4B}" type="datetimeFigureOut">
              <a:rPr lang="zh-CN" altLang="en-US" smtClean="0"/>
              <a:t>2021/4/18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9A590EC-C292-4902-8CD9-CF6B1EAF0104}" type="slidenum">
              <a:rPr lang="zh-CN" altLang="en-US" smtClean="0"/>
              <a:t>‹#›</a:t>
            </a:fld>
            <a:endParaRPr lang="zh-CN" altLang="en-US"/>
          </a:p>
        </p:txBody>
      </p:sp>
    </p:spTree>
    <p:extLst>
      <p:ext uri="{BB962C8B-B14F-4D97-AF65-F5344CB8AC3E}">
        <p14:creationId xmlns:p14="http://schemas.microsoft.com/office/powerpoint/2010/main" val="2943916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737134B-BBEB-43E8-920C-394B7033AF4B}" type="datetimeFigureOut">
              <a:rPr lang="zh-CN" altLang="en-US" smtClean="0"/>
              <a:t>2021/4/18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9A590EC-C292-4902-8CD9-CF6B1EAF0104}" type="slidenum">
              <a:rPr lang="zh-CN" altLang="en-US" smtClean="0"/>
              <a:t>‹#›</a:t>
            </a:fld>
            <a:endParaRPr lang="zh-CN" altLang="en-US"/>
          </a:p>
        </p:txBody>
      </p:sp>
    </p:spTree>
    <p:extLst>
      <p:ext uri="{BB962C8B-B14F-4D97-AF65-F5344CB8AC3E}">
        <p14:creationId xmlns:p14="http://schemas.microsoft.com/office/powerpoint/2010/main" val="1567363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737134B-BBEB-43E8-920C-394B7033AF4B}" type="datetimeFigureOut">
              <a:rPr lang="zh-CN" altLang="en-US" smtClean="0"/>
              <a:t>2021/4/18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9A590EC-C292-4902-8CD9-CF6B1EAF0104}" type="slidenum">
              <a:rPr lang="zh-CN" altLang="en-US" smtClean="0"/>
              <a:t>‹#›</a:t>
            </a:fld>
            <a:endParaRPr lang="zh-CN" altLang="en-US"/>
          </a:p>
        </p:txBody>
      </p:sp>
    </p:spTree>
    <p:extLst>
      <p:ext uri="{BB962C8B-B14F-4D97-AF65-F5344CB8AC3E}">
        <p14:creationId xmlns:p14="http://schemas.microsoft.com/office/powerpoint/2010/main" val="1835256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737134B-BBEB-43E8-920C-394B7033AF4B}" type="datetimeFigureOut">
              <a:rPr lang="zh-CN" altLang="en-US" smtClean="0"/>
              <a:t>2021/4/18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A590EC-C292-4902-8CD9-CF6B1EAF0104}" type="slidenum">
              <a:rPr lang="zh-CN" altLang="en-US" smtClean="0"/>
              <a:t>‹#›</a:t>
            </a:fld>
            <a:endParaRPr lang="zh-CN" altLang="en-US"/>
          </a:p>
        </p:txBody>
      </p:sp>
    </p:spTree>
    <p:extLst>
      <p:ext uri="{BB962C8B-B14F-4D97-AF65-F5344CB8AC3E}">
        <p14:creationId xmlns:p14="http://schemas.microsoft.com/office/powerpoint/2010/main" val="1604831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737134B-BBEB-43E8-920C-394B7033AF4B}" type="datetimeFigureOut">
              <a:rPr lang="zh-CN" altLang="en-US" smtClean="0"/>
              <a:t>2021/4/18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A590EC-C292-4902-8CD9-CF6B1EAF0104}" type="slidenum">
              <a:rPr lang="zh-CN" altLang="en-US" smtClean="0"/>
              <a:t>‹#›</a:t>
            </a:fld>
            <a:endParaRPr lang="zh-CN" altLang="en-US"/>
          </a:p>
        </p:txBody>
      </p:sp>
    </p:spTree>
    <p:extLst>
      <p:ext uri="{BB962C8B-B14F-4D97-AF65-F5344CB8AC3E}">
        <p14:creationId xmlns:p14="http://schemas.microsoft.com/office/powerpoint/2010/main" val="3421452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37134B-BBEB-43E8-920C-394B7033AF4B}" type="datetimeFigureOut">
              <a:rPr lang="zh-CN" altLang="en-US" smtClean="0"/>
              <a:t>2021/4/18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A590EC-C292-4902-8CD9-CF6B1EAF0104}" type="slidenum">
              <a:rPr lang="zh-CN" altLang="en-US" smtClean="0"/>
              <a:t>‹#›</a:t>
            </a:fld>
            <a:endParaRPr lang="zh-CN" altLang="en-US"/>
          </a:p>
        </p:txBody>
      </p:sp>
    </p:spTree>
    <p:extLst>
      <p:ext uri="{BB962C8B-B14F-4D97-AF65-F5344CB8AC3E}">
        <p14:creationId xmlns:p14="http://schemas.microsoft.com/office/powerpoint/2010/main" val="3080450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755650" y="1339850"/>
            <a:ext cx="7772400" cy="1873250"/>
          </a:xfrm>
        </p:spPr>
        <p:txBody>
          <a:bodyPr/>
          <a:lstStyle/>
          <a:p>
            <a:pPr lvl="0">
              <a:defRPr/>
            </a:pPr>
            <a:r>
              <a:rPr lang="zh-CN" altLang="en-US" sz="4800" b="1" dirty="0" smtClean="0">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4800" b="1" dirty="0" smtClean="0">
                <a:latin typeface="Times New Roman" panose="02020603050405020304" pitchFamily="18" charset="0"/>
                <a:ea typeface="楷体" panose="02010609060101010101" pitchFamily="49" charset="-122"/>
                <a:cs typeface="Times New Roman" panose="02020603050405020304" pitchFamily="18" charset="0"/>
              </a:rPr>
              <a:t>EDA</a:t>
            </a:r>
            <a:r>
              <a:rPr lang="zh-CN" altLang="en-US" sz="4800" b="1" dirty="0" smtClean="0">
                <a:latin typeface="Times New Roman" panose="02020603050405020304" pitchFamily="18" charset="0"/>
                <a:ea typeface="楷体" panose="02010609060101010101" pitchFamily="49" charset="-122"/>
                <a:cs typeface="Times New Roman" panose="02020603050405020304" pitchFamily="18" charset="0"/>
              </a:rPr>
              <a:t>技术</a:t>
            </a:r>
          </a:p>
        </p:txBody>
      </p:sp>
      <p:grpSp>
        <p:nvGrpSpPr>
          <p:cNvPr id="7172" name="Group 4"/>
          <p:cNvGrpSpPr>
            <a:grpSpLocks/>
          </p:cNvGrpSpPr>
          <p:nvPr/>
        </p:nvGrpSpPr>
        <p:grpSpPr bwMode="auto">
          <a:xfrm>
            <a:off x="250825" y="3357563"/>
            <a:ext cx="8610600" cy="201612"/>
            <a:chOff x="144" y="1680"/>
            <a:chExt cx="5424" cy="144"/>
          </a:xfrm>
        </p:grpSpPr>
        <p:sp>
          <p:nvSpPr>
            <p:cNvPr id="7175" name="Rectangle 5"/>
            <p:cNvSpPr>
              <a:spLocks noChangeArrowheads="1"/>
            </p:cNvSpPr>
            <p:nvPr/>
          </p:nvSpPr>
          <p:spPr bwMode="auto">
            <a:xfrm>
              <a:off x="144" y="1680"/>
              <a:ext cx="1808"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176" name="Rectangle 6"/>
            <p:cNvSpPr>
              <a:spLocks noChangeArrowheads="1"/>
            </p:cNvSpPr>
            <p:nvPr/>
          </p:nvSpPr>
          <p:spPr bwMode="auto">
            <a:xfrm>
              <a:off x="1952" y="1680"/>
              <a:ext cx="1808" cy="144"/>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177" name="Rectangle 7"/>
            <p:cNvSpPr>
              <a:spLocks noChangeArrowheads="1"/>
            </p:cNvSpPr>
            <p:nvPr/>
          </p:nvSpPr>
          <p:spPr bwMode="auto">
            <a:xfrm>
              <a:off x="3760" y="1680"/>
              <a:ext cx="1808"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pSp>
      <p:pic>
        <p:nvPicPr>
          <p:cNvPr id="717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25" y="3857628"/>
            <a:ext cx="4067175"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2"/>
          <p:cNvSpPr txBox="1">
            <a:spLocks/>
          </p:cNvSpPr>
          <p:nvPr/>
        </p:nvSpPr>
        <p:spPr>
          <a:xfrm>
            <a:off x="467544" y="3562623"/>
            <a:ext cx="7772400" cy="1873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smtClean="0">
                <a:latin typeface="Times New Roman" panose="02020603050405020304" pitchFamily="18" charset="0"/>
                <a:ea typeface="楷体" panose="02010609060101010101" pitchFamily="49" charset="-122"/>
                <a:cs typeface="Times New Roman" panose="02020603050405020304" pitchFamily="18" charset="0"/>
              </a:rPr>
              <a:t>7</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r>
              <a:rPr lang="en-US" altLang="zh-CN" sz="3200" b="1"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95457397"/>
      </p:ext>
    </p:extLst>
  </p:cSld>
  <p:clrMapOvr>
    <a:masterClrMapping/>
  </p:clrMapOvr>
  <p:transition advTm="22344"/>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参数提取</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1521570" cy="461665"/>
          </a:xfrm>
          <a:prstGeom prst="rect">
            <a:avLst/>
          </a:prstGeom>
        </p:spPr>
        <p:txBody>
          <a:bodyPr wrap="none">
            <a:spAutoFit/>
          </a:bodyPr>
          <a:lstStyle/>
          <a:p>
            <a:pPr marL="342900" indent="-342900">
              <a:buFont typeface="Wingdings" panose="05000000000000000000" pitchFamily="2" charset="2"/>
              <a:buChar char="Ø"/>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Extract</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矩形 3"/>
          <p:cNvSpPr/>
          <p:nvPr/>
        </p:nvSpPr>
        <p:spPr>
          <a:xfrm>
            <a:off x="0" y="1658159"/>
            <a:ext cx="9144000" cy="1200329"/>
          </a:xfrm>
          <a:prstGeom prst="rect">
            <a:avLst/>
          </a:prstGeom>
        </p:spPr>
        <p:txBody>
          <a:bodyPr wrap="square">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Extract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可以用于提取仿真结果，如工艺仿真得到的结果，如材料厚度、结深、</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方块电阻等</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，或提取器件仿真的阈值电压，电流放大倍数等。</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417" y="3068960"/>
            <a:ext cx="8445863" cy="3096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1068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参数提取</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1268760"/>
            <a:ext cx="9144000" cy="461665"/>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）抽取</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I-V</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曲线</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142844" y="3789040"/>
            <a:ext cx="9144000" cy="461665"/>
          </a:xfrm>
          <a:prstGeom prst="rect">
            <a:avLst/>
          </a:prstGeom>
        </p:spPr>
        <p:txBody>
          <a:bodyPr wrap="square">
            <a:spAutoFit/>
          </a:bodyPr>
          <a:lstStyle/>
          <a:p>
            <a:pPr algn="ct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抽取</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emitter1</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的电压作为</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x</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轴，</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base2</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的电流作为</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y</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轴</a:t>
            </a:r>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862" y="2648917"/>
            <a:ext cx="7391400"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1227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参数提取</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1268760"/>
            <a:ext cx="9144000" cy="461665"/>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）对轴进行操作</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79" y="2078495"/>
            <a:ext cx="9124121" cy="4915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490" y="3394164"/>
            <a:ext cx="8378898" cy="504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1227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参数提取</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1268760"/>
            <a:ext cx="9144000" cy="461665"/>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）显示轴的范围</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2132856"/>
            <a:ext cx="9144000" cy="830997"/>
          </a:xfrm>
          <a:prstGeom prst="rect">
            <a:avLst/>
          </a:prstGeom>
        </p:spPr>
        <p:txBody>
          <a:bodyPr wrap="square">
            <a:spAutoFit/>
          </a:bodyPr>
          <a:lstStyle/>
          <a:p>
            <a:pPr algn="ct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extract name=“limit” </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max(curve(</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gate</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i</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drain”,x.min</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=0.5 x.max=2.5</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outf</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=“limit.dat”</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81227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参数提取</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1268760"/>
            <a:ext cx="9144000" cy="461665"/>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4</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）具体某种参数提取</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14808" y="2060848"/>
            <a:ext cx="9144000" cy="461665"/>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比如：漏源结深</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24342" y="3902216"/>
            <a:ext cx="9144000" cy="461665"/>
          </a:xfrm>
          <a:prstGeom prst="rect">
            <a:avLst/>
          </a:prstGeom>
        </p:spPr>
        <p:txBody>
          <a:bodyPr wrap="square">
            <a:spAutoFit/>
          </a:bodyPr>
          <a:lstStyle/>
          <a:p>
            <a:pPr marL="342900" indent="-342900">
              <a:buFont typeface="Arial" panose="020B0604020202020204" pitchFamily="34" charset="0"/>
              <a:buChar char="•"/>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给抽取的参数指定名字，这里是</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nxj</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矩形 7"/>
          <p:cNvSpPr/>
          <p:nvPr/>
        </p:nvSpPr>
        <p:spPr>
          <a:xfrm>
            <a:off x="-24342" y="4636493"/>
            <a:ext cx="9144000" cy="461665"/>
          </a:xfrm>
          <a:prstGeom prst="rect">
            <a:avLst/>
          </a:prstGeom>
        </p:spPr>
        <p:txBody>
          <a:bodyPr wrap="square">
            <a:spAutoFit/>
          </a:bodyPr>
          <a:lstStyle/>
          <a:p>
            <a:pPr marL="342900" indent="-342900">
              <a:buFont typeface="Arial" panose="020B0604020202020204" pitchFamily="34" charset="0"/>
              <a:buChar char="•"/>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要抽取的参数，这里是结深</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xj</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矩形 8"/>
          <p:cNvSpPr/>
          <p:nvPr/>
        </p:nvSpPr>
        <p:spPr>
          <a:xfrm>
            <a:off x="-33876" y="5342376"/>
            <a:ext cx="9144000" cy="461665"/>
          </a:xfrm>
          <a:prstGeom prst="rect">
            <a:avLst/>
          </a:prstGeom>
        </p:spPr>
        <p:txBody>
          <a:bodyPr wrap="square">
            <a:spAutoFit/>
          </a:bodyPr>
          <a:lstStyle/>
          <a:p>
            <a:pPr marL="342900" indent="-342900">
              <a:buFont typeface="Arial" panose="020B0604020202020204" pitchFamily="34" charset="0"/>
              <a:buChar char="•"/>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结的材料，这里是硅 </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Silicon</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4664" y="2627372"/>
            <a:ext cx="9114994" cy="830997"/>
          </a:xfrm>
          <a:prstGeom prst="rect">
            <a:avLst/>
          </a:prstGeom>
        </p:spPr>
        <p:txBody>
          <a:bodyPr wrap="square">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extract name=“</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nxj</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xj</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material = “Silicon”  </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mat.occno</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=1  </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x.val</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=0.2  </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junc.occno</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=1</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81227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1832553" cy="584775"/>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参数提取</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4808" y="2780928"/>
            <a:ext cx="9144000" cy="830997"/>
          </a:xfrm>
          <a:prstGeom prst="rect">
            <a:avLst/>
          </a:prstGeom>
        </p:spPr>
        <p:txBody>
          <a:bodyPr wrap="square">
            <a:spAutoFit/>
          </a:bodyPr>
          <a:lstStyle/>
          <a:p>
            <a:pPr marL="342900" indent="-342900">
              <a:buFont typeface="Arial" panose="020B0604020202020204" pitchFamily="34" charset="0"/>
              <a:buChar char="•"/>
            </a:pP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mat. occno</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意思是表明材料的序号，</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occno</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的其实就是</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number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of  </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occurrence</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的意思</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0" y="4028391"/>
            <a:ext cx="9144000" cy="461665"/>
          </a:xfrm>
          <a:prstGeom prst="rect">
            <a:avLst/>
          </a:prstGeom>
        </p:spPr>
        <p:txBody>
          <a:bodyPr wrap="square">
            <a:spAutoFit/>
          </a:bodyPr>
          <a:lstStyle/>
          <a:p>
            <a:pPr marL="342900" indent="-342900">
              <a:buFont typeface="Arial" panose="020B0604020202020204" pitchFamily="34" charset="0"/>
              <a:buChar char="•"/>
            </a:pP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x.val</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表示在这个位置上提取结深</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矩形 7"/>
          <p:cNvSpPr/>
          <p:nvPr/>
        </p:nvSpPr>
        <p:spPr>
          <a:xfrm>
            <a:off x="5476" y="5229200"/>
            <a:ext cx="9144000" cy="461665"/>
          </a:xfrm>
          <a:prstGeom prst="rect">
            <a:avLst/>
          </a:prstGeom>
        </p:spPr>
        <p:txBody>
          <a:bodyPr wrap="square">
            <a:spAutoFit/>
          </a:bodyPr>
          <a:lstStyle/>
          <a:p>
            <a:pPr marL="342900" indent="-342900">
              <a:buFont typeface="Arial" panose="020B0604020202020204" pitchFamily="34" charset="0"/>
              <a:buChar char="•"/>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j</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unc. occno</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表明结的序号</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矩形 8"/>
          <p:cNvSpPr/>
          <p:nvPr/>
        </p:nvSpPr>
        <p:spPr>
          <a:xfrm>
            <a:off x="19979" y="1268760"/>
            <a:ext cx="9114994" cy="830997"/>
          </a:xfrm>
          <a:prstGeom prst="rect">
            <a:avLst/>
          </a:prstGeom>
        </p:spPr>
        <p:txBody>
          <a:bodyPr wrap="square">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extract name=“</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nxj</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xj</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material = “Silicon”  mat. occno=1  </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x.val</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=0.2  junc. occno=1</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95561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1832553" cy="584775"/>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参数提取</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4808" y="1268760"/>
            <a:ext cx="9144000" cy="461665"/>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再比如：测量沟道的阈值电压</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48112" y="2060848"/>
            <a:ext cx="9177304" cy="461665"/>
          </a:xfrm>
          <a:prstGeom prst="rect">
            <a:avLst/>
          </a:prstGeom>
        </p:spPr>
        <p:txBody>
          <a:bodyPr wrap="square">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extract </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name =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1dvt” </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1dvt  </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ntype</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qss</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=1e10   </a:t>
            </a:r>
            <a:r>
              <a:rPr lang="en-US" altLang="zh-CN" sz="2400" b="1" dirty="0" err="1" smtClean="0">
                <a:latin typeface="Times New Roman" panose="02020603050405020304" pitchFamily="18" charset="0"/>
                <a:ea typeface="楷体" panose="02010609060101010101" pitchFamily="49" charset="-122"/>
                <a:cs typeface="Times New Roman" panose="02020603050405020304" pitchFamily="18" charset="0"/>
              </a:rPr>
              <a:t>x.val</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=0.5</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7404" y="2992121"/>
            <a:ext cx="9129192" cy="461665"/>
          </a:xfrm>
          <a:prstGeom prst="rect">
            <a:avLst/>
          </a:prstGeom>
        </p:spPr>
        <p:txBody>
          <a:bodyPr wrap="square">
            <a:spAutoFit/>
          </a:bodyPr>
          <a:lstStyle/>
          <a:p>
            <a:pPr marL="342900" indent="-342900">
              <a:buFont typeface="Arial" panose="020B0604020202020204" pitchFamily="34" charset="0"/>
              <a:buChar char="•"/>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1dvt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说明了测量一维阈值电压的</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Extract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程序</a:t>
            </a:r>
          </a:p>
        </p:txBody>
      </p:sp>
      <p:sp>
        <p:nvSpPr>
          <p:cNvPr id="7" name="矩形 6"/>
          <p:cNvSpPr/>
          <p:nvPr/>
        </p:nvSpPr>
        <p:spPr>
          <a:xfrm>
            <a:off x="14808" y="3789040"/>
            <a:ext cx="9129192" cy="461665"/>
          </a:xfrm>
          <a:prstGeom prst="rect">
            <a:avLst/>
          </a:prstGeom>
        </p:spPr>
        <p:txBody>
          <a:bodyPr wrap="square">
            <a:spAutoFit/>
          </a:bodyPr>
          <a:lstStyle/>
          <a:p>
            <a:pPr marL="342900" indent="-342900">
              <a:buFont typeface="Arial" panose="020B0604020202020204" pitchFamily="34" charset="0"/>
              <a:buChar char="•"/>
            </a:pP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ntype</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是器件</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类型</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矩形 7"/>
          <p:cNvSpPr/>
          <p:nvPr/>
        </p:nvSpPr>
        <p:spPr>
          <a:xfrm>
            <a:off x="-7404" y="4725144"/>
            <a:ext cx="9129192" cy="1569660"/>
          </a:xfrm>
          <a:prstGeom prst="rect">
            <a:avLst/>
          </a:prstGeom>
        </p:spPr>
        <p:txBody>
          <a:bodyPr wrap="square">
            <a:spAutoFit/>
          </a:bodyPr>
          <a:lstStyle/>
          <a:p>
            <a:pPr marL="342900" indent="-342900">
              <a:buFont typeface="Arial" panose="020B0604020202020204" pitchFamily="34" charset="0"/>
              <a:buChar char="•"/>
            </a:pP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x.val</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=0.5</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为器件沟道内的一点</a:t>
            </a:r>
          </a:p>
          <a:p>
            <a:pPr marL="342900" indent="-342900">
              <a:buFont typeface="Arial" panose="020B0604020202020204" pitchFamily="34" charset="0"/>
              <a:buChar char="•"/>
            </a:pPr>
            <a:endParaRPr lang="en-US" altLang="zh-CN" sz="2400" dirty="0"/>
          </a:p>
          <a:p>
            <a:pPr marL="342900" indent="-342900">
              <a:buFont typeface="Arial" panose="020B0604020202020204" pitchFamily="34" charset="0"/>
              <a:buChar char="•"/>
            </a:pP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qss</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=1e10</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是指浓度</a:t>
            </a:r>
          </a:p>
          <a:p>
            <a:pPr marL="342900" indent="-342900">
              <a:buFont typeface="Arial" panose="020B0604020202020204" pitchFamily="34" charset="0"/>
              <a:buChar char="•"/>
            </a:pP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43815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1832553" cy="584775"/>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参数提取</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4808" y="1268760"/>
            <a:ext cx="9144000" cy="461665"/>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举例：提取电导曲线</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2420888"/>
            <a:ext cx="8964488" cy="17548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14808" y="5085184"/>
            <a:ext cx="9144000" cy="461665"/>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两条抽取语句：第一条是建立偏压条件，第二条是抽取电导曲线。</a:t>
            </a:r>
          </a:p>
        </p:txBody>
      </p:sp>
    </p:spTree>
    <p:extLst>
      <p:ext uri="{BB962C8B-B14F-4D97-AF65-F5344CB8AC3E}">
        <p14:creationId xmlns:p14="http://schemas.microsoft.com/office/powerpoint/2010/main" val="143815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1832553" cy="584775"/>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参数提取</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5" y="1412776"/>
            <a:ext cx="8838845" cy="1728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5" y="4293096"/>
            <a:ext cx="9124565" cy="9024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815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1832553" cy="584775"/>
          </a:xfrm>
          <a:prstGeom prst="rect">
            <a:avLst/>
          </a:prstGeom>
          <a:noFill/>
        </p:spPr>
        <p:txBody>
          <a:bodyPr wrap="none" rtlCol="0">
            <a:spAutoFit/>
          </a:bodyPr>
          <a:lstStyle/>
          <a:p>
            <a:pPr>
              <a:defRPr/>
            </a:pPr>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参数提取</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4808" y="1268760"/>
            <a:ext cx="9144000" cy="461665"/>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举例：涉及到加减乘除运算的</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08" y="2132856"/>
            <a:ext cx="9129192" cy="18149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5" y="4217277"/>
            <a:ext cx="8334375" cy="64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2" y="5790434"/>
            <a:ext cx="9036496" cy="7489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815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7708" y="1196751"/>
            <a:ext cx="2696572" cy="461665"/>
          </a:xfrm>
          <a:prstGeom prst="rect">
            <a:avLst/>
          </a:prstGeom>
        </p:spPr>
        <p:txBody>
          <a:bodyPr wrap="none">
            <a:spAutoFit/>
          </a:bodyPr>
          <a:lstStyle/>
          <a:p>
            <a:pPr marL="342900" indent="-342900">
              <a:buFont typeface="Wingdings" panose="05000000000000000000" pitchFamily="2" charset="2"/>
              <a:buChar char="Ø"/>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2132856"/>
            <a:ext cx="9151708" cy="1569660"/>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图形化光刻工艺还</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包括光刻、光掩模、掩模、去除氧化膜、去除金属膜和微光刻</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。图形化光刻工艺是</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半导体工艺过程中最重要的工序之一，它是用在不同的器件和电路表面上建立图形的工艺过程。这个工艺过程的目标有两个：</a:t>
            </a:r>
          </a:p>
        </p:txBody>
      </p:sp>
    </p:spTree>
    <p:extLst>
      <p:ext uri="{BB962C8B-B14F-4D97-AF65-F5344CB8AC3E}">
        <p14:creationId xmlns:p14="http://schemas.microsoft.com/office/powerpoint/2010/main" val="2145412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96752"/>
            <a:ext cx="9252520" cy="1938992"/>
          </a:xfrm>
          <a:prstGeom prst="rect">
            <a:avLst/>
          </a:prstGeom>
        </p:spPr>
        <p:txBody>
          <a:bodyPr wrap="square">
            <a:spAutoFit/>
          </a:bodyPr>
          <a:lstStyle/>
          <a:p>
            <a:pPr marL="342900" indent="-342900">
              <a:buAutoNum type="arabicPeriod"/>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在晶圆中和表面上产生图形，这些图形的尺寸在集成电路或器件设计阶段建立。</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buAutoNum type="arabicPeriod"/>
            </a:pP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将电路图形相对于晶圆的晶向及以所有层的部分对准的方式，正确地定位于晶圆上。</a:t>
            </a:r>
          </a:p>
        </p:txBody>
      </p:sp>
      <p:pic>
        <p:nvPicPr>
          <p:cNvPr id="6" name="Picture 2" descr="http://5b0988e595225.cdn.sohucs.com/images/20181028/9d02bfc842d8425fb3a4ecee93a1b20a.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3356992"/>
            <a:ext cx="4365197" cy="2910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305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21546" y="1161863"/>
            <a:ext cx="2350323"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第一次图形转移</a:t>
            </a:r>
          </a:p>
        </p:txBody>
      </p:sp>
      <p:pic>
        <p:nvPicPr>
          <p:cNvPr id="12290" name="Picture 2" descr="http://5b0988e595225.cdn.sohucs.com/images/20181028/56e2d2a1c90c4ae79f4ccad4d72a4925.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46" y="1988840"/>
            <a:ext cx="9122454" cy="3083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89442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546" y="1161863"/>
            <a:ext cx="2350323"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第二次</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图形转移</a:t>
            </a:r>
          </a:p>
        </p:txBody>
      </p:sp>
      <p:pic>
        <p:nvPicPr>
          <p:cNvPr id="11266" name="Picture 2" descr="http://5b0988e595225.cdn.sohucs.com/images/20181028/d77b8cd28bc14a1b99458574a5e8f0c0.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46" y="1988840"/>
            <a:ext cx="9062460" cy="2911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89442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0242" name="Picture 2" descr="http://5b0988e595225.cdn.sohucs.com/images/20181028/e802bdecd88d4c378661710a4c8052d8.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55" y="1692086"/>
            <a:ext cx="9033251" cy="4223881"/>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21546" y="1161863"/>
            <a:ext cx="1731564"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正胶与负胶</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5789442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083392"/>
            <a:ext cx="2969083"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光刻十步法工艺过程</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883" y="1536290"/>
            <a:ext cx="7337358" cy="53071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110991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083392"/>
            <a:ext cx="2969083"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光刻十步法工艺过程</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700808"/>
            <a:ext cx="8098209" cy="4968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89442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9815"/>
            <a:ext cx="2350323"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光刻十步法步骤</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9127" y="1988839"/>
            <a:ext cx="9134873" cy="830997"/>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第一步：表面准备，包含</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三个阶段：微粒清除、脱水烘培、晶圆涂底胶。</a:t>
            </a:r>
          </a:p>
        </p:txBody>
      </p:sp>
      <p:sp>
        <p:nvSpPr>
          <p:cNvPr id="4" name="矩形 3"/>
          <p:cNvSpPr/>
          <p:nvPr/>
        </p:nvSpPr>
        <p:spPr>
          <a:xfrm>
            <a:off x="9127" y="3140967"/>
            <a:ext cx="9134873" cy="1200329"/>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）微粒</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清除，方法包括</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手动吹扫、机械</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洗刷、高压</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水喷</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洗以及超声波擦洗。极端情况下，</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可能会给晶圆进行化学湿法</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清洗，</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它包含酸清洗、水冲洗和</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烘干。</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5789442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8114" y="1052736"/>
            <a:ext cx="5832879"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）脱水烘</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培：</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Cleaning and Pre-Baking</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7169"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700808"/>
            <a:ext cx="6723088" cy="20744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9127" y="4005064"/>
            <a:ext cx="9134873" cy="1938992"/>
          </a:xfrm>
          <a:prstGeom prst="rect">
            <a:avLst/>
          </a:prstGeom>
        </p:spPr>
        <p:txBody>
          <a:bodyPr wrap="square">
            <a:spAutoFit/>
          </a:bodyPr>
          <a:lstStyle/>
          <a:p>
            <a:pPr algn="ct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时间和温度烘烤</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规格</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lgn="ct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模拟光刻胶材料</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流动</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lgn="ct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模拟光活性化合物扩散</a:t>
            </a:r>
          </a:p>
        </p:txBody>
      </p:sp>
    </p:spTree>
    <p:extLst>
      <p:ext uri="{BB962C8B-B14F-4D97-AF65-F5344CB8AC3E}">
        <p14:creationId xmlns:p14="http://schemas.microsoft.com/office/powerpoint/2010/main" val="5789442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3587842"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厌水性表面与亲水性表面</a:t>
            </a:r>
          </a:p>
        </p:txBody>
      </p:sp>
      <p:pic>
        <p:nvPicPr>
          <p:cNvPr id="6148" name="Picture 4" descr="https://timgsa.baidu.com/timg?image&amp;quality=80&amp;size=b9999_10000&amp;sec=1585497801816&amp;di=322feaac607ee5e6224dc9c2049f34e2&amp;imgtype=0&amp;src=http%3A%2F%2Fimg.pconline.com.cn%2Fimages%2Fbbs4%2F20085%2F30%2F121215583954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44" y="2127177"/>
            <a:ext cx="4206735" cy="315378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http://img.jigao616.com/upload/patent/2017/10/27/9642483.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2591" y="2084881"/>
            <a:ext cx="4522865" cy="3238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89442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9144000" cy="1200329"/>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加热的操作可以使晶圆表面恢复到厌水性</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条件</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低温烘焙</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124" name="Picture 4" descr="https://www.bio-equip.com/img2017/405975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016" y="2564904"/>
            <a:ext cx="2736304" cy="3679064"/>
          </a:xfrm>
          <a:prstGeom prst="rect">
            <a:avLst/>
          </a:prstGeom>
          <a:noFill/>
          <a:extLst>
            <a:ext uri="{909E8E84-426E-40DD-AFC4-6F175D3DCCD1}">
              <a14:hiddenFill xmlns:a14="http://schemas.microsoft.com/office/drawing/2010/main">
                <a:solidFill>
                  <a:srgbClr val="FFFFFF"/>
                </a:solidFill>
              </a14:hiddenFill>
            </a:ext>
          </a:extLst>
        </p:spPr>
      </p:pic>
      <p:pic>
        <p:nvPicPr>
          <p:cNvPr id="512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1" y="2341301"/>
            <a:ext cx="2847975" cy="3924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89442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0" y="1124744"/>
            <a:ext cx="3430747"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高温烘焙（</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750</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度以上）</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4098" name="Picture 2" descr="https://timgsa.baidu.com/timg?image&amp;quality=80&amp;size=b9999_10000&amp;sec=1585502396902&amp;di=a56e5171bd648d45c3758a09025fc718&amp;imgtype=0&amp;src=http%3A%2F%2Ffile16.zk71.com%2FFile%2FCorpEditInsertImages%2F2017%2F09%2F08%2F0_yiqi_0002_2017090810202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586409"/>
            <a:ext cx="3789133" cy="50521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89442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8114" y="1052736"/>
            <a:ext cx="3889206"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）晶圆涂底胶：</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Priming</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1700808"/>
            <a:ext cx="9164690" cy="1569660"/>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除了脱水烘培外，晶圆还可以通过涂化学底胶来保证它能和光刻胶粘结的很好。涂胶时，所选择的底胶有很好的吸附表面并且能够为正式涂胶提供一个平滑的表面。在半导体光刻工艺中，底胶的</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作用就是增加</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了表面的附着能力。</a:t>
            </a:r>
          </a:p>
        </p:txBody>
      </p:sp>
      <p:sp>
        <p:nvSpPr>
          <p:cNvPr id="7" name="矩形 6"/>
          <p:cNvSpPr/>
          <p:nvPr/>
        </p:nvSpPr>
        <p:spPr>
          <a:xfrm>
            <a:off x="-22922" y="4221088"/>
            <a:ext cx="5819058" cy="461665"/>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底胶材料：</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HMDS</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六甲基二硅氮烷）</a:t>
            </a:r>
          </a:p>
        </p:txBody>
      </p:sp>
    </p:spTree>
    <p:extLst>
      <p:ext uri="{BB962C8B-B14F-4D97-AF65-F5344CB8AC3E}">
        <p14:creationId xmlns:p14="http://schemas.microsoft.com/office/powerpoint/2010/main" val="5789442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 y="1196752"/>
            <a:ext cx="3736920"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HMDS</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蒸气</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淀积涂底</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1772816"/>
            <a:ext cx="9144000" cy="461665"/>
          </a:xfrm>
          <a:prstGeom prst="rect">
            <a:avLst/>
          </a:prstGeom>
        </p:spPr>
        <p:txBody>
          <a:bodyPr wrap="square">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200</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2500</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摄氏度</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30</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秒钟；优点：涂底均匀、避免颗粒污染</a:t>
            </a:r>
          </a:p>
        </p:txBody>
      </p:sp>
      <p:sp>
        <p:nvSpPr>
          <p:cNvPr id="6" name="矩形 5"/>
          <p:cNvSpPr/>
          <p:nvPr/>
        </p:nvSpPr>
        <p:spPr>
          <a:xfrm>
            <a:off x="-2" y="3068960"/>
            <a:ext cx="4060727"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旋转涂</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底与</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浸泡式涂底</a:t>
            </a:r>
          </a:p>
        </p:txBody>
      </p:sp>
      <p:sp>
        <p:nvSpPr>
          <p:cNvPr id="7" name="矩形 6"/>
          <p:cNvSpPr/>
          <p:nvPr/>
        </p:nvSpPr>
        <p:spPr>
          <a:xfrm>
            <a:off x="-2" y="3645024"/>
            <a:ext cx="9144002" cy="461665"/>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缺点：颗粒污染、涂底不均匀、</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HMDS</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用量大。</a:t>
            </a:r>
          </a:p>
        </p:txBody>
      </p:sp>
    </p:spTree>
    <p:extLst>
      <p:ext uri="{BB962C8B-B14F-4D97-AF65-F5344CB8AC3E}">
        <p14:creationId xmlns:p14="http://schemas.microsoft.com/office/powerpoint/2010/main" val="6517556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2969083"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第二步，旋涂光刻胶</a:t>
            </a:r>
            <a:endParaRPr lang="zh-CN" altLang="en-US" sz="2400" dirty="0"/>
          </a:p>
        </p:txBody>
      </p:sp>
      <p:sp>
        <p:nvSpPr>
          <p:cNvPr id="4" name="矩形 3"/>
          <p:cNvSpPr/>
          <p:nvPr/>
        </p:nvSpPr>
        <p:spPr>
          <a:xfrm>
            <a:off x="0" y="1844824"/>
            <a:ext cx="9144000" cy="461665"/>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目的是在晶圆表面建立薄的、均匀的并且没有缺陷的光刻胶膜。</a:t>
            </a:r>
          </a:p>
        </p:txBody>
      </p:sp>
      <p:sp>
        <p:nvSpPr>
          <p:cNvPr id="6" name="矩形 5"/>
          <p:cNvSpPr/>
          <p:nvPr/>
        </p:nvSpPr>
        <p:spPr>
          <a:xfrm>
            <a:off x="15821" y="2780928"/>
            <a:ext cx="2813591"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）静态涂胶工艺</a:t>
            </a:r>
          </a:p>
        </p:txBody>
      </p:sp>
      <p:pic>
        <p:nvPicPr>
          <p:cNvPr id="1026" name="Picture 2" descr="https://www.51dzw.com/UploadFiles/20151031/2015103119108190819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856" y="2492896"/>
            <a:ext cx="4032448" cy="4336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175562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1196752"/>
            <a:ext cx="2206053"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动态喷洒</a:t>
            </a:r>
          </a:p>
        </p:txBody>
      </p:sp>
      <p:pic>
        <p:nvPicPr>
          <p:cNvPr id="2050" name="Picture 2" descr="http://img61.chem17.com/9/20170727/63636755133590349430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2733" y="3140967"/>
            <a:ext cx="6574929" cy="3039117"/>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0" y="1844824"/>
            <a:ext cx="9144000" cy="461665"/>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主要针对大直径的晶圆</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6517556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2840" y="1124744"/>
            <a:ext cx="2795958"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c</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）移动手臂喷洒</a:t>
            </a:r>
          </a:p>
        </p:txBody>
      </p:sp>
      <p:sp>
        <p:nvSpPr>
          <p:cNvPr id="4" name="矩形 3"/>
          <p:cNvSpPr/>
          <p:nvPr/>
        </p:nvSpPr>
        <p:spPr>
          <a:xfrm>
            <a:off x="-18236" y="1844824"/>
            <a:ext cx="9162236" cy="1569660"/>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动态喷洒技术的一项提高是移动手臂喷洒。手臂是从晶圆的中心向晶圆的边缘缓慢移动。这个动作会给最初和最后一层带来更好的表面均匀性。移动手臂喷洒，还能节省光刻胶，特别是对于大直径的晶圆。</a:t>
            </a:r>
          </a:p>
        </p:txBody>
      </p:sp>
    </p:spTree>
    <p:extLst>
      <p:ext uri="{BB962C8B-B14F-4D97-AF65-F5344CB8AC3E}">
        <p14:creationId xmlns:p14="http://schemas.microsoft.com/office/powerpoint/2010/main" val="85110646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0" y="1124744"/>
            <a:ext cx="2040943"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第三步，软烘</a:t>
            </a:r>
            <a:endParaRPr lang="zh-CN" altLang="en-US" sz="2400" dirty="0"/>
          </a:p>
        </p:txBody>
      </p:sp>
      <p:sp>
        <p:nvSpPr>
          <p:cNvPr id="2" name="矩形 1"/>
          <p:cNvSpPr/>
          <p:nvPr/>
        </p:nvSpPr>
        <p:spPr>
          <a:xfrm>
            <a:off x="0" y="1700808"/>
            <a:ext cx="9148666" cy="1200329"/>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软烘培是一种以蒸发掉光刻胶中一部分溶剂为目的的加热过程。软烘培完成之后，光刻胶还保持软的状态，而不是被烘培成像灰烬一样。</a:t>
            </a:r>
          </a:p>
        </p:txBody>
      </p:sp>
      <p:pic>
        <p:nvPicPr>
          <p:cNvPr id="3074" name="Picture 2" descr="http://5b0988e595225.cdn.sohucs.com/images/20181117/6c7202f94fd44844b834c1bad94a7b4c.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106" y="2973145"/>
            <a:ext cx="5926688"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110646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96752"/>
            <a:ext cx="9144000" cy="3046988"/>
          </a:xfrm>
          <a:prstGeom prst="rect">
            <a:avLst/>
          </a:prstGeom>
        </p:spPr>
        <p:txBody>
          <a:bodyPr wrap="square">
            <a:spAutoFit/>
          </a:bodyPr>
          <a:lstStyle/>
          <a:p>
            <a:pPr marL="342900" indent="-342900">
              <a:buFont typeface="Arial" panose="020B0604020202020204" pitchFamily="34" charset="0"/>
              <a:buChar char="•"/>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时间和温度是软烘培的主要参数。在光刻过程中，两大主要目标是正确的图形定义和在刻蚀过程中光刻胶和晶圆表面良好的粘结。这两个目标都会受软烘培温度的影响</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buFont typeface="Arial" panose="020B0604020202020204" pitchFamily="34" charset="0"/>
              <a:buChar char="•"/>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在</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极端情况下，不充分的烘培会在曝光过程中造成图像成型不完整和在刻蚀过程中造成多于的光刻胶剥落。过分烘培会造成光刻胶中的聚合物产生聚合反应，并且不与曝光射线反应。</a:t>
            </a:r>
          </a:p>
        </p:txBody>
      </p:sp>
      <p:sp>
        <p:nvSpPr>
          <p:cNvPr id="6" name="矩形 5"/>
          <p:cNvSpPr/>
          <p:nvPr/>
        </p:nvSpPr>
        <p:spPr>
          <a:xfrm>
            <a:off x="0" y="4797152"/>
            <a:ext cx="9144000" cy="830997"/>
          </a:xfrm>
          <a:prstGeom prst="rect">
            <a:avLst/>
          </a:prstGeom>
        </p:spPr>
        <p:txBody>
          <a:bodyPr wrap="square">
            <a:spAutoFit/>
          </a:bodyPr>
          <a:lstStyle/>
          <a:p>
            <a:pPr marL="342900" indent="-342900">
              <a:buFont typeface="Arial" panose="020B0604020202020204" pitchFamily="34" charset="0"/>
              <a:buChar char="•"/>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软烘培的方法很多，他们是通过设备和三种热传递方法组合来完成的</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。热传导</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的三种方式是：传导、对流和辐射。</a:t>
            </a:r>
          </a:p>
        </p:txBody>
      </p:sp>
    </p:spTree>
    <p:extLst>
      <p:ext uri="{BB962C8B-B14F-4D97-AF65-F5344CB8AC3E}">
        <p14:creationId xmlns:p14="http://schemas.microsoft.com/office/powerpoint/2010/main" val="413106869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9144000" cy="1200329"/>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）传导是热量通过直接接触物体的热表面传递的。热板就是通过传导加热。在传导过程中，热表面的振动原子使待加热对象的原子也振动起来。由于它们的振动和碰撞，这些原子就会变热。</a:t>
            </a:r>
          </a:p>
        </p:txBody>
      </p:sp>
      <p:sp>
        <p:nvSpPr>
          <p:cNvPr id="6" name="矩形 5"/>
          <p:cNvSpPr/>
          <p:nvPr/>
        </p:nvSpPr>
        <p:spPr>
          <a:xfrm>
            <a:off x="0" y="3212976"/>
            <a:ext cx="9144000" cy="1569660"/>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一些脱水烘培在对流烘箱中进行。使用对流加热的系统包括：家用强制对流炉、电吹风、空气和氮气烘箱，以及氧化炉。在这些系统中，一个装置将气体加热，然后利用鼓风机或压力将气体推向一个空间，这样一来，能量就传递给了物体。</a:t>
            </a:r>
          </a:p>
        </p:txBody>
      </p:sp>
    </p:spTree>
    <p:extLst>
      <p:ext uri="{BB962C8B-B14F-4D97-AF65-F5344CB8AC3E}">
        <p14:creationId xmlns:p14="http://schemas.microsoft.com/office/powerpoint/2010/main" val="373620691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6" name="Picture 2" descr="http://5b0988e595225.cdn.sohucs.com/images/20181117/ae6a7ae28a994e32add4dceb0aa89e94.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3140968"/>
            <a:ext cx="5715000" cy="361950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0" y="1124744"/>
            <a:ext cx="9144000" cy="1938992"/>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c</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第三种方式是辐射。辐射这个词所描述的是电磁能量波在空间的传播。辐射波在真空和气体中都能够传播。太阳就是通过辐射将热量传递给地球的。加热灯也是靠辐射传递能量的。辐射是快速热处理系统所使用的加热方式。当物体受到辐射时，由波携带着的能量直接传递给物体的分子</a:t>
            </a:r>
          </a:p>
        </p:txBody>
      </p:sp>
    </p:spTree>
    <p:extLst>
      <p:ext uri="{BB962C8B-B14F-4D97-AF65-F5344CB8AC3E}">
        <p14:creationId xmlns:p14="http://schemas.microsoft.com/office/powerpoint/2010/main" val="373620691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2969083"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第四步：对准和曝光</a:t>
            </a:r>
          </a:p>
        </p:txBody>
      </p:sp>
      <p:sp>
        <p:nvSpPr>
          <p:cNvPr id="4" name="矩形 3"/>
          <p:cNvSpPr/>
          <p:nvPr/>
        </p:nvSpPr>
        <p:spPr>
          <a:xfrm>
            <a:off x="-1" y="1772816"/>
            <a:ext cx="9132721" cy="830997"/>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对准和曝光的第一步是把所需图形在晶圆表面上定位或对准。第二步是通过曝光灯或其他辐射源将图形转移到光刻胶涂层上。</a:t>
            </a:r>
          </a:p>
        </p:txBody>
      </p:sp>
      <p:pic>
        <p:nvPicPr>
          <p:cNvPr id="5122" name="Picture 2" descr="http://5b0988e595225.cdn.sohucs.com/images/20181119/76dd1e928cba4d6695b4f64a7b84b4b5.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966841"/>
            <a:ext cx="7200000" cy="35401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62069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1124744"/>
            <a:ext cx="9144000" cy="461665"/>
          </a:xfrm>
          <a:prstGeom prst="rect">
            <a:avLst/>
          </a:prstGeom>
        </p:spPr>
        <p:txBody>
          <a:bodyPr wrap="square">
            <a:spAutoFit/>
          </a:bodyPr>
          <a:lstStyle/>
          <a:p>
            <a:pPr marL="342900" indent="-342900">
              <a:buFont typeface="Arial" panose="020B0604020202020204" pitchFamily="34" charset="0"/>
              <a:buChar char="•"/>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曝光光源</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8194" name="Picture 2" descr="https://pics2.baidu.com/feed/35a85edf8db1cb13ace921427e80b94b93584b3d.jpeg?token=1944faf7d85810fe5643f53c38084428&amp;s=6800F51A95785F8048E181CC0300D0B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608" y="1772816"/>
            <a:ext cx="7948164" cy="4346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620691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2559</TotalTime>
  <Words>1310</Words>
  <Application>Microsoft Office PowerPoint</Application>
  <PresentationFormat>全屏显示(4:3)</PresentationFormat>
  <Paragraphs>113</Paragraphs>
  <Slides>34</Slides>
  <Notes>0</Notes>
  <HiddenSlides>0</HiddenSlides>
  <MMClips>0</MMClips>
  <ScaleCrop>false</ScaleCrop>
  <HeadingPairs>
    <vt:vector size="4" baseType="variant">
      <vt:variant>
        <vt:lpstr>主题</vt:lpstr>
      </vt:variant>
      <vt:variant>
        <vt:i4>1</vt:i4>
      </vt:variant>
      <vt:variant>
        <vt:lpstr>幻灯片标题</vt:lpstr>
      </vt:variant>
      <vt:variant>
        <vt:i4>34</vt:i4>
      </vt:variant>
    </vt:vector>
  </HeadingPairs>
  <TitlesOfParts>
    <vt:vector size="35" baseType="lpstr">
      <vt:lpstr>Office 主题​​</vt:lpstr>
      <vt:lpstr>集成电路EDA技术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集成电路EDA技术</dc:title>
  <dc:creator>个人用户</dc:creator>
  <cp:lastModifiedBy>个人用户</cp:lastModifiedBy>
  <cp:revision>56</cp:revision>
  <dcterms:created xsi:type="dcterms:W3CDTF">2020-03-29T01:14:43Z</dcterms:created>
  <dcterms:modified xsi:type="dcterms:W3CDTF">2021-04-18T08:26:32Z</dcterms:modified>
</cp:coreProperties>
</file>