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96" r:id="rId4"/>
    <p:sldId id="346" r:id="rId5"/>
    <p:sldId id="348" r:id="rId6"/>
    <p:sldId id="349" r:id="rId7"/>
    <p:sldId id="297" r:id="rId8"/>
    <p:sldId id="298" r:id="rId9"/>
    <p:sldId id="299" r:id="rId10"/>
    <p:sldId id="300" r:id="rId11"/>
    <p:sldId id="340" r:id="rId12"/>
    <p:sldId id="339" r:id="rId13"/>
    <p:sldId id="343" r:id="rId14"/>
    <p:sldId id="341" r:id="rId15"/>
    <p:sldId id="345" r:id="rId16"/>
    <p:sldId id="350" r:id="rId17"/>
    <p:sldId id="304" r:id="rId18"/>
    <p:sldId id="305" r:id="rId19"/>
    <p:sldId id="306" r:id="rId20"/>
    <p:sldId id="318" r:id="rId21"/>
    <p:sldId id="308" r:id="rId22"/>
    <p:sldId id="321" r:id="rId23"/>
    <p:sldId id="311" r:id="rId24"/>
    <p:sldId id="312" r:id="rId25"/>
    <p:sldId id="313" r:id="rId26"/>
    <p:sldId id="351" r:id="rId27"/>
    <p:sldId id="314" r:id="rId28"/>
    <p:sldId id="320" r:id="rId29"/>
    <p:sldId id="352" r:id="rId30"/>
    <p:sldId id="322" r:id="rId31"/>
    <p:sldId id="323" r:id="rId32"/>
    <p:sldId id="324" r:id="rId33"/>
    <p:sldId id="325" r:id="rId34"/>
    <p:sldId id="326" r:id="rId35"/>
    <p:sldId id="327" r:id="rId36"/>
    <p:sldId id="328" r:id="rId37"/>
    <p:sldId id="330" r:id="rId38"/>
    <p:sldId id="329" r:id="rId39"/>
    <p:sldId id="331" r:id="rId40"/>
    <p:sldId id="332" r:id="rId41"/>
    <p:sldId id="333" r:id="rId42"/>
    <p:sldId id="334" r:id="rId43"/>
    <p:sldId id="335" r:id="rId44"/>
    <p:sldId id="336" r:id="rId45"/>
    <p:sldId id="337" r:id="rId46"/>
    <p:sldId id="338"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0000" autoAdjust="0"/>
    <p:restoredTop sz="94660"/>
  </p:normalViewPr>
  <p:slideViewPr>
    <p:cSldViewPr>
      <p:cViewPr varScale="1">
        <p:scale>
          <a:sx n="66" d="100"/>
          <a:sy n="66" d="100"/>
        </p:scale>
        <p:origin x="-195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19376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82967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414250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1383829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33349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339919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145809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11064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763809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751454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3536100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2A97E4-3C2C-4956-BB3C-A3BD39A6B995}" type="datetimeFigureOut">
              <a:rPr lang="zh-CN" altLang="en-US" smtClean="0"/>
              <a:t>2021/3/29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11E466-CEF0-403A-8015-29D16ED16173}" type="slidenum">
              <a:rPr lang="zh-CN" altLang="en-US" smtClean="0"/>
              <a:t>‹#›</a:t>
            </a:fld>
            <a:endParaRPr lang="zh-CN" altLang="en-US"/>
          </a:p>
        </p:txBody>
      </p:sp>
    </p:spTree>
    <p:extLst>
      <p:ext uri="{BB962C8B-B14F-4D97-AF65-F5344CB8AC3E}">
        <p14:creationId xmlns:p14="http://schemas.microsoft.com/office/powerpoint/2010/main" val="278995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image" Target="../media/image38.png"/><Relationship Id="rId3" Type="http://schemas.openxmlformats.org/officeDocument/2006/relationships/image" Target="../media/image28.wmf"/><Relationship Id="rId7" Type="http://schemas.openxmlformats.org/officeDocument/2006/relationships/image" Target="../media/image32.wmf"/><Relationship Id="rId12" Type="http://schemas.openxmlformats.org/officeDocument/2006/relationships/image" Target="../media/image37.wmf"/><Relationship Id="rId2" Type="http://schemas.openxmlformats.org/officeDocument/2006/relationships/image" Target="../media/image27.wmf"/><Relationship Id="rId1" Type="http://schemas.openxmlformats.org/officeDocument/2006/relationships/slideLayout" Target="../slideLayouts/slideLayout2.xml"/><Relationship Id="rId6" Type="http://schemas.openxmlformats.org/officeDocument/2006/relationships/image" Target="../media/image31.wmf"/><Relationship Id="rId11" Type="http://schemas.openxmlformats.org/officeDocument/2006/relationships/image" Target="../media/image36.wmf"/><Relationship Id="rId5" Type="http://schemas.openxmlformats.org/officeDocument/2006/relationships/image" Target="../media/image30.wmf"/><Relationship Id="rId10" Type="http://schemas.openxmlformats.org/officeDocument/2006/relationships/image" Target="../media/image35.wmf"/><Relationship Id="rId4" Type="http://schemas.openxmlformats.org/officeDocument/2006/relationships/image" Target="../media/image29.wmf"/><Relationship Id="rId9" Type="http://schemas.openxmlformats.org/officeDocument/2006/relationships/image" Target="../media/image34.wmf"/><Relationship Id="rId1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5</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、仿真结果分析与交流仿真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9558998"/>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93" y="1196752"/>
            <a:ext cx="9124950" cy="111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84984"/>
            <a:ext cx="9105900" cy="80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94011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2377574" cy="461665"/>
          </a:xfrm>
          <a:prstGeom prst="rect">
            <a:avLst/>
          </a:prstGeom>
        </p:spPr>
        <p:txBody>
          <a:bodyPr wrap="none">
            <a:spAutoFit/>
          </a:bodyPr>
          <a:lstStyle/>
          <a:p>
            <a:pPr marL="342900" indent="-342900">
              <a:buFont typeface="Wingdings" panose="05000000000000000000" pitchFamily="2" charset="2"/>
              <a:buChar char="Ø"/>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仿真结果分析</a:t>
            </a:r>
          </a:p>
        </p:txBody>
      </p:sp>
      <p:sp>
        <p:nvSpPr>
          <p:cNvPr id="4" name="矩形 3"/>
          <p:cNvSpPr/>
          <p:nvPr/>
        </p:nvSpPr>
        <p:spPr>
          <a:xfrm>
            <a:off x="-23328" y="1700808"/>
            <a:ext cx="9167327" cy="1200329"/>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的仿真结果可以有多种方式得到，</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DeckBuild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界面的实时输出，仿真中保存的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日志文件</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，提取的器件特性，用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显示结果以及它的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function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功能。</a:t>
            </a:r>
          </a:p>
        </p:txBody>
      </p:sp>
      <p:sp>
        <p:nvSpPr>
          <p:cNvPr id="6" name="矩形 5"/>
          <p:cNvSpPr/>
          <p:nvPr/>
        </p:nvSpPr>
        <p:spPr>
          <a:xfrm>
            <a:off x="0" y="3140968"/>
            <a:ext cx="2262158" cy="461665"/>
          </a:xfrm>
          <a:prstGeom prst="rect">
            <a:avLst/>
          </a:prstGeom>
        </p:spPr>
        <p:txBody>
          <a:bodyPr wrap="non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）实时输出 </a:t>
            </a:r>
          </a:p>
        </p:txBody>
      </p:sp>
      <p:sp>
        <p:nvSpPr>
          <p:cNvPr id="7" name="矩形 6"/>
          <p:cNvSpPr/>
          <p:nvPr/>
        </p:nvSpPr>
        <p:spPr>
          <a:xfrm>
            <a:off x="0" y="3644977"/>
            <a:ext cx="4262705" cy="461665"/>
          </a:xfrm>
          <a:prstGeom prst="rect">
            <a:avLst/>
          </a:prstGeom>
        </p:spPr>
        <p:txBody>
          <a:bodyPr wrap="non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网格生成时显示的网格信息：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862" y="4293096"/>
            <a:ext cx="8267418"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9192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027289"/>
            <a:ext cx="9144000" cy="1569660"/>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当模型里指定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print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时，</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DeckBuild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的实时输出窗口将显示当前仿真使用的物理参数，</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材料</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参数（如能带参数、复合参数、隧穿参数、迁移率参数等），各材料区域使用的模型等。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如果</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相关的参数在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进行了设置则会替换掉默认值</a:t>
            </a:r>
            <a:r>
              <a:rPr lang="zh-CN" altLang="en-US" dirty="0"/>
              <a:t>。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06" y="2852936"/>
            <a:ext cx="8378274"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873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194" y="1038148"/>
            <a:ext cx="8342338" cy="5819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70248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25" y="1340768"/>
            <a:ext cx="9075207" cy="4680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18600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13656" y="1036281"/>
            <a:ext cx="9310871" cy="707886"/>
          </a:xfrm>
          <a:prstGeom prst="rect">
            <a:avLst/>
          </a:prstGeom>
        </p:spPr>
        <p:txBody>
          <a:bodyPr wrap="square">
            <a:spAutoFit/>
          </a:bodyPr>
          <a:lstStyle/>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当仿真进行到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solve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时，</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DeckBuild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输出窗口将显示实时计算结果以及各个电极的电流</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18" y="1635809"/>
            <a:ext cx="8172338" cy="519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57077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36" y="1435146"/>
            <a:ext cx="8506941" cy="54228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0" y="1035037"/>
            <a:ext cx="9144000" cy="400110"/>
          </a:xfrm>
          <a:prstGeom prst="rect">
            <a:avLst/>
          </a:prstGeom>
        </p:spPr>
        <p:txBody>
          <a:bodyPr wrap="square">
            <a:spAutoFit/>
          </a:bodyPr>
          <a:lstStyle/>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第一栏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project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指明使用的仿真初始，这些可以是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previous</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local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或 </a:t>
            </a:r>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init</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27436290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49552"/>
            <a:ext cx="9144000" cy="400110"/>
          </a:xfrm>
          <a:prstGeom prst="rect">
            <a:avLst/>
          </a:prstGeom>
        </p:spPr>
        <p:txBody>
          <a:bodyPr wrap="square">
            <a:spAutoFit/>
          </a:bodyPr>
          <a:lstStyle/>
          <a:p>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第二栏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direct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指明是求解类型，可以是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direct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iterative</a:t>
            </a:r>
            <a:endParaRPr lang="zh-CN" altLang="en-US" sz="2000" b="1"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77" y="1449663"/>
            <a:ext cx="8846496" cy="5408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13829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9174" y="1124744"/>
            <a:ext cx="9153174" cy="4524315"/>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第三栏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j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表示迭代计算的当前次数</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smtClean="0">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表示去耦之后的外循环迭代数，</a:t>
            </a: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j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表示内循环数，</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m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指明</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计算方法</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字母</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含义：</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G=</a:t>
            </a:r>
            <a:r>
              <a:rPr lang="en-US" altLang="zh-CN" sz="2400" b="1" dirty="0" err="1" smtClean="0">
                <a:latin typeface="Times New Roman" panose="02020603050405020304" pitchFamily="18" charset="0"/>
                <a:ea typeface="华文楷体" panose="02010600040101010101" pitchFamily="2" charset="-122"/>
                <a:cs typeface="Times New Roman" panose="02020603050405020304" pitchFamily="18" charset="0"/>
              </a:rPr>
              <a:t>Gummel</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B=Block</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N=Newton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A=newton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with </a:t>
            </a:r>
            <a:r>
              <a:rPr lang="en-US" altLang="zh-CN" sz="2400" b="1" dirty="0" err="1" smtClean="0">
                <a:latin typeface="Times New Roman" panose="02020603050405020304" pitchFamily="18" charset="0"/>
                <a:ea typeface="华文楷体" panose="02010600040101010101" pitchFamily="2" charset="-122"/>
                <a:cs typeface="Times New Roman" panose="02020603050405020304" pitchFamily="18" charset="0"/>
              </a:rPr>
              <a:t>Autonr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        S=coupled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Poisson-Schrodinger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Solution</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225214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196752"/>
            <a:ext cx="9144000" cy="5539978"/>
          </a:xfrm>
          <a:prstGeom prst="rect">
            <a:avLst/>
          </a:prstGeom>
        </p:spPr>
        <p:txBody>
          <a:bodyPr wrap="square">
            <a:spAutoFit/>
          </a:bodyPr>
          <a:lstStyle/>
          <a:p>
            <a:r>
              <a:rPr lang="en-US" altLang="zh-CN" sz="2400" dirty="0" smtClean="0">
                <a:latin typeface="Times New Roman" panose="02020603050405020304" pitchFamily="18" charset="0"/>
                <a:cs typeface="Times New Roman" panose="02020603050405020304" pitchFamily="18" charset="0"/>
              </a:rPr>
              <a:t>Different </a:t>
            </a:r>
            <a:r>
              <a:rPr lang="en-US" altLang="zh-CN" sz="2400" dirty="0">
                <a:latin typeface="Times New Roman" panose="02020603050405020304" pitchFamily="18" charset="0"/>
                <a:cs typeface="Times New Roman" panose="02020603050405020304" pitchFamily="18" charset="0"/>
              </a:rPr>
              <a:t>combinations of models will require Atlas to solve up to six equations. For each of the model types, there are basically three types of solution techniques</a:t>
            </a:r>
            <a:r>
              <a:rPr lang="en-US" altLang="zh-CN" sz="2400" dirty="0" smtClean="0">
                <a:latin typeface="Times New Roman" panose="02020603050405020304" pitchFamily="18" charset="0"/>
                <a:cs typeface="Times New Roman" panose="02020603050405020304" pitchFamily="18" charset="0"/>
              </a:rPr>
              <a:t>:</a:t>
            </a: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 decoupled (</a:t>
            </a:r>
            <a:r>
              <a:rPr lang="en-US" altLang="zh-CN" sz="2400" b="1" dirty="0">
                <a:latin typeface="Times New Roman" panose="02020603050405020304" pitchFamily="18" charset="0"/>
                <a:cs typeface="Times New Roman" panose="02020603050405020304" pitchFamily="18" charset="0"/>
              </a:rPr>
              <a:t>GUMMEL</a:t>
            </a:r>
            <a:r>
              <a:rPr lang="en-US" altLang="zh-CN" sz="2400" dirty="0" smtClean="0">
                <a:latin typeface="Times New Roman" panose="02020603050405020304" pitchFamily="18" charset="0"/>
                <a:cs typeface="Times New Roman" panose="02020603050405020304" pitchFamily="18" charset="0"/>
              </a:rPr>
              <a:t>),</a:t>
            </a: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 fully coupled (</a:t>
            </a:r>
            <a:r>
              <a:rPr lang="en-US" altLang="zh-CN" sz="2400" b="1" dirty="0">
                <a:latin typeface="Times New Roman" panose="02020603050405020304" pitchFamily="18" charset="0"/>
                <a:cs typeface="Times New Roman" panose="02020603050405020304" pitchFamily="18" charset="0"/>
              </a:rPr>
              <a:t>NEWTON</a:t>
            </a:r>
            <a:r>
              <a:rPr lang="en-US" altLang="zh-CN" sz="2400" dirty="0">
                <a:latin typeface="Times New Roman" panose="02020603050405020304" pitchFamily="18" charset="0"/>
                <a:cs typeface="Times New Roman" panose="02020603050405020304" pitchFamily="18" charset="0"/>
              </a:rPr>
              <a:t>) </a:t>
            </a:r>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c) </a:t>
            </a:r>
            <a:r>
              <a:rPr lang="en-US" altLang="zh-CN" sz="2400" b="1" dirty="0">
                <a:latin typeface="Times New Roman" panose="02020603050405020304" pitchFamily="18" charset="0"/>
                <a:cs typeface="Times New Roman" panose="02020603050405020304" pitchFamily="18" charset="0"/>
              </a:rPr>
              <a:t>BLOCK. </a:t>
            </a:r>
            <a:endParaRPr lang="en-US" altLang="zh-CN" sz="2400" b="1" dirty="0" smtClean="0">
              <a:latin typeface="Times New Roman" panose="02020603050405020304" pitchFamily="18" charset="0"/>
              <a:cs typeface="Times New Roman" panose="02020603050405020304" pitchFamily="18" charset="0"/>
            </a:endParaRPr>
          </a:p>
          <a:p>
            <a:endParaRPr lang="en-US" altLang="zh-CN"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The </a:t>
            </a:r>
            <a:r>
              <a:rPr lang="en-US" altLang="zh-CN" sz="2400" b="1" dirty="0">
                <a:latin typeface="Times New Roman" panose="02020603050405020304" pitchFamily="18" charset="0"/>
                <a:cs typeface="Times New Roman" panose="02020603050405020304" pitchFamily="18" charset="0"/>
              </a:rPr>
              <a:t>GUMMEL</a:t>
            </a:r>
            <a:r>
              <a:rPr lang="en-US" altLang="zh-CN" sz="2400" dirty="0">
                <a:latin typeface="Times New Roman" panose="02020603050405020304" pitchFamily="18" charset="0"/>
                <a:cs typeface="Times New Roman" panose="02020603050405020304" pitchFamily="18" charset="0"/>
              </a:rPr>
              <a:t> method will solve for each unknown in turn keeping the other variables constant, repeating the process until a stable solution is achieved. </a:t>
            </a:r>
            <a:endParaRPr lang="en-US" altLang="zh-CN" sz="2400" dirty="0" smtClean="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The </a:t>
            </a:r>
            <a:r>
              <a:rPr lang="en-US" altLang="zh-CN" sz="2400" b="1" dirty="0">
                <a:latin typeface="Times New Roman" panose="02020603050405020304" pitchFamily="18" charset="0"/>
                <a:cs typeface="Times New Roman" panose="02020603050405020304" pitchFamily="18" charset="0"/>
              </a:rPr>
              <a:t>NEWTON</a:t>
            </a:r>
            <a:r>
              <a:rPr lang="en-US" altLang="zh-CN" sz="2400" dirty="0">
                <a:latin typeface="Times New Roman" panose="02020603050405020304" pitchFamily="18" charset="0"/>
                <a:cs typeface="Times New Roman" panose="02020603050405020304" pitchFamily="18" charset="0"/>
              </a:rPr>
              <a:t> method solve the total system of unknowns together. </a:t>
            </a:r>
            <a:endParaRPr lang="en-US" altLang="zh-CN" sz="2400" dirty="0" smtClean="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smtClean="0">
                <a:latin typeface="Times New Roman" panose="02020603050405020304" pitchFamily="18" charset="0"/>
                <a:cs typeface="Times New Roman" panose="02020603050405020304" pitchFamily="18" charset="0"/>
              </a:rPr>
              <a:t>The </a:t>
            </a:r>
            <a:r>
              <a:rPr lang="en-US" altLang="zh-CN" sz="2400" b="1" dirty="0">
                <a:latin typeface="Times New Roman" panose="02020603050405020304" pitchFamily="18" charset="0"/>
                <a:cs typeface="Times New Roman" panose="02020603050405020304" pitchFamily="18" charset="0"/>
              </a:rPr>
              <a:t>BLOCK</a:t>
            </a:r>
            <a:r>
              <a:rPr lang="en-US" altLang="zh-CN" sz="2400" dirty="0">
                <a:latin typeface="Times New Roman" panose="02020603050405020304" pitchFamily="18" charset="0"/>
                <a:cs typeface="Times New Roman" panose="02020603050405020304" pitchFamily="18" charset="0"/>
              </a:rPr>
              <a:t> methods will solve some equations fully coupled while others are de-coupled.</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28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18324" y="1029911"/>
            <a:ext cx="9162323" cy="4154984"/>
          </a:xfrm>
          <a:prstGeom prst="rect">
            <a:avLst/>
          </a:prstGeom>
        </p:spPr>
        <p:txBody>
          <a:bodyPr wrap="square">
            <a:spAutoFit/>
          </a:bodyPr>
          <a:lstStyle/>
          <a:p>
            <a:pPr algn="just"/>
            <a:r>
              <a:rPr lang="en-US" altLang="zh-CN" sz="2400" dirty="0" smtClean="0">
                <a:latin typeface="Times New Roman" panose="02020603050405020304" pitchFamily="18" charset="0"/>
                <a:cs typeface="Times New Roman" panose="02020603050405020304" pitchFamily="18" charset="0"/>
              </a:rPr>
              <a:t>Generally</a:t>
            </a:r>
            <a:r>
              <a:rPr lang="en-US" altLang="zh-CN" sz="2400" dirty="0">
                <a:latin typeface="Times New Roman" panose="02020603050405020304" pitchFamily="18" charset="0"/>
                <a:cs typeface="Times New Roman" panose="02020603050405020304" pitchFamily="18" charset="0"/>
              </a:rPr>
              <a:t>, the </a:t>
            </a:r>
            <a:r>
              <a:rPr lang="en-US" altLang="zh-CN" sz="2400" b="1" dirty="0">
                <a:latin typeface="Times New Roman" panose="02020603050405020304" pitchFamily="18" charset="0"/>
                <a:cs typeface="Times New Roman" panose="02020603050405020304" pitchFamily="18" charset="0"/>
              </a:rPr>
              <a:t>GUMMEL </a:t>
            </a:r>
            <a:r>
              <a:rPr lang="en-US" altLang="zh-CN" sz="2400" dirty="0">
                <a:latin typeface="Times New Roman" panose="02020603050405020304" pitchFamily="18" charset="0"/>
                <a:cs typeface="Times New Roman" panose="02020603050405020304" pitchFamily="18" charset="0"/>
              </a:rPr>
              <a:t>method is useful where the system of equations is weakly coupled but has only linear convergence. </a:t>
            </a:r>
            <a:endParaRPr lang="en-US" altLang="zh-CN" sz="2400" dirty="0" smtClean="0">
              <a:latin typeface="Times New Roman" panose="02020603050405020304" pitchFamily="18" charset="0"/>
              <a:cs typeface="Times New Roman" panose="02020603050405020304" pitchFamily="18" charset="0"/>
            </a:endParaRP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smtClean="0">
                <a:latin typeface="Times New Roman" panose="02020603050405020304" pitchFamily="18" charset="0"/>
                <a:cs typeface="Times New Roman" panose="02020603050405020304" pitchFamily="18" charset="0"/>
              </a:rPr>
              <a:t>The</a:t>
            </a:r>
            <a:r>
              <a:rPr lang="en-US" altLang="zh-CN" sz="2400" b="1" dirty="0" smtClean="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NEWTON </a:t>
            </a:r>
            <a:r>
              <a:rPr lang="en-US" altLang="zh-CN" sz="2400" dirty="0">
                <a:latin typeface="Times New Roman" panose="02020603050405020304" pitchFamily="18" charset="0"/>
                <a:cs typeface="Times New Roman" panose="02020603050405020304" pitchFamily="18" charset="0"/>
              </a:rPr>
              <a:t>method is useful when the system of equations is strongly coupled and has quadratic convergence. The NEWTON method may, however, spend extra time solving for quantities, which are essentially constant or weakly coupled. </a:t>
            </a:r>
            <a:r>
              <a:rPr lang="en-US" altLang="zh-CN" sz="2400" dirty="0" smtClean="0">
                <a:latin typeface="Times New Roman" panose="02020603050405020304" pitchFamily="18" charset="0"/>
                <a:cs typeface="Times New Roman" panose="02020603050405020304" pitchFamily="18" charset="0"/>
              </a:rPr>
              <a:t>NEWTON also </a:t>
            </a:r>
            <a:r>
              <a:rPr lang="en-US" altLang="zh-CN" sz="2400" dirty="0">
                <a:latin typeface="Times New Roman" panose="02020603050405020304" pitchFamily="18" charset="0"/>
                <a:cs typeface="Times New Roman" panose="02020603050405020304" pitchFamily="18" charset="0"/>
              </a:rPr>
              <a:t>requires a more accurate initial guess to the problem to obtain convergence</a:t>
            </a:r>
            <a:r>
              <a:rPr lang="en-US" altLang="zh-CN" sz="2400" dirty="0" smtClean="0">
                <a:latin typeface="Times New Roman" panose="02020603050405020304" pitchFamily="18" charset="0"/>
                <a:cs typeface="Times New Roman" panose="02020603050405020304" pitchFamily="18" charset="0"/>
              </a:rPr>
              <a:t>.</a:t>
            </a: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smtClean="0">
                <a:latin typeface="Times New Roman" panose="02020603050405020304" pitchFamily="18" charset="0"/>
                <a:cs typeface="Times New Roman" panose="02020603050405020304" pitchFamily="18" charset="0"/>
              </a:rPr>
              <a:t>Thus</a:t>
            </a:r>
            <a:r>
              <a:rPr lang="en-US" altLang="zh-CN" sz="2400" dirty="0">
                <a:latin typeface="Times New Roman" panose="02020603050405020304" pitchFamily="18" charset="0"/>
                <a:cs typeface="Times New Roman" panose="02020603050405020304" pitchFamily="18" charset="0"/>
              </a:rPr>
              <a:t>, a </a:t>
            </a:r>
            <a:r>
              <a:rPr lang="en-US" altLang="zh-CN" sz="2400" b="1" dirty="0">
                <a:latin typeface="Times New Roman" panose="02020603050405020304" pitchFamily="18" charset="0"/>
                <a:cs typeface="Times New Roman" panose="02020603050405020304" pitchFamily="18" charset="0"/>
              </a:rPr>
              <a:t>BLOCK</a:t>
            </a:r>
            <a:r>
              <a:rPr lang="en-US" altLang="zh-CN" sz="2400" dirty="0">
                <a:latin typeface="Times New Roman" panose="02020603050405020304" pitchFamily="18" charset="0"/>
                <a:cs typeface="Times New Roman" panose="02020603050405020304" pitchFamily="18" charset="0"/>
              </a:rPr>
              <a:t> method can provide for faster simulations times in these cases over </a:t>
            </a:r>
            <a:r>
              <a:rPr lang="en-US" altLang="zh-CN" sz="2400" b="1" dirty="0">
                <a:latin typeface="Times New Roman" panose="02020603050405020304" pitchFamily="18" charset="0"/>
                <a:cs typeface="Times New Roman" panose="02020603050405020304" pitchFamily="18" charset="0"/>
              </a:rPr>
              <a:t>NEWTON</a:t>
            </a:r>
            <a:r>
              <a:rPr lang="en-US" altLang="zh-CN" sz="24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465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4744"/>
            <a:ext cx="9144000" cy="2308324"/>
          </a:xfrm>
          <a:prstGeom prst="rect">
            <a:avLst/>
          </a:prstGeom>
        </p:spPr>
        <p:txBody>
          <a:bodyPr wrap="square">
            <a:spAutoFit/>
          </a:bodyPr>
          <a:lstStyle/>
          <a:p>
            <a:pPr algn="just"/>
            <a:r>
              <a:rPr lang="en-US" altLang="zh-CN" sz="2400" b="1" dirty="0">
                <a:latin typeface="Times New Roman" panose="02020603050405020304" pitchFamily="18" charset="0"/>
                <a:cs typeface="Times New Roman" panose="02020603050405020304" pitchFamily="18" charset="0"/>
              </a:rPr>
              <a:t>GUMMEL</a:t>
            </a:r>
            <a:r>
              <a:rPr lang="en-US" altLang="zh-CN" sz="2400" dirty="0">
                <a:latin typeface="Times New Roman" panose="02020603050405020304" pitchFamily="18" charset="0"/>
                <a:cs typeface="Times New Roman" panose="02020603050405020304" pitchFamily="18" charset="0"/>
              </a:rPr>
              <a:t> can often provide better initial guesses to problems. It can be useful to start a solution with a few </a:t>
            </a:r>
            <a:r>
              <a:rPr lang="en-US" altLang="zh-CN" sz="2400" b="1" dirty="0">
                <a:latin typeface="Times New Roman" panose="02020603050405020304" pitchFamily="18" charset="0"/>
                <a:cs typeface="Times New Roman" panose="02020603050405020304" pitchFamily="18" charset="0"/>
              </a:rPr>
              <a:t>GUMMEL</a:t>
            </a:r>
            <a:r>
              <a:rPr lang="en-US" altLang="zh-CN" sz="2400" dirty="0">
                <a:latin typeface="Times New Roman" panose="02020603050405020304" pitchFamily="18" charset="0"/>
                <a:cs typeface="Times New Roman" panose="02020603050405020304" pitchFamily="18" charset="0"/>
              </a:rPr>
              <a:t> iterations to generate a better guess. </a:t>
            </a:r>
            <a:endParaRPr lang="en-US" altLang="zh-CN" sz="2400" dirty="0" smtClean="0">
              <a:latin typeface="Times New Roman" panose="02020603050405020304" pitchFamily="18" charset="0"/>
              <a:cs typeface="Times New Roman" panose="02020603050405020304" pitchFamily="18" charset="0"/>
            </a:endParaRPr>
          </a:p>
          <a:p>
            <a:pPr algn="just"/>
            <a:endParaRPr lang="en-US" altLang="zh-CN" sz="2400" dirty="0">
              <a:latin typeface="Times New Roman" panose="02020603050405020304" pitchFamily="18" charset="0"/>
              <a:cs typeface="Times New Roman" panose="02020603050405020304" pitchFamily="18" charset="0"/>
            </a:endParaRPr>
          </a:p>
          <a:p>
            <a:pPr algn="just"/>
            <a:r>
              <a:rPr lang="en-US" altLang="zh-CN" sz="2400" dirty="0">
                <a:latin typeface="Times New Roman" panose="02020603050405020304" pitchFamily="18" charset="0"/>
                <a:cs typeface="Times New Roman" panose="02020603050405020304" pitchFamily="18" charset="0"/>
              </a:rPr>
              <a:t>Then, switch to </a:t>
            </a:r>
            <a:r>
              <a:rPr lang="en-US" altLang="zh-CN" sz="2400" b="1" dirty="0">
                <a:latin typeface="Times New Roman" panose="02020603050405020304" pitchFamily="18" charset="0"/>
                <a:cs typeface="Times New Roman" panose="02020603050405020304" pitchFamily="18" charset="0"/>
              </a:rPr>
              <a:t>NEWTON</a:t>
            </a:r>
            <a:r>
              <a:rPr lang="en-US" altLang="zh-CN" sz="2400" dirty="0">
                <a:latin typeface="Times New Roman" panose="02020603050405020304" pitchFamily="18" charset="0"/>
                <a:cs typeface="Times New Roman" panose="02020603050405020304" pitchFamily="18" charset="0"/>
              </a:rPr>
              <a:t> to complete the solution. Specification of the solution method is carried out as follows:</a:t>
            </a: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矩形 6"/>
          <p:cNvSpPr/>
          <p:nvPr/>
        </p:nvSpPr>
        <p:spPr>
          <a:xfrm>
            <a:off x="1341623" y="3962356"/>
            <a:ext cx="6317878" cy="461665"/>
          </a:xfrm>
          <a:prstGeom prst="rect">
            <a:avLst/>
          </a:prstGeom>
        </p:spPr>
        <p:txBody>
          <a:bodyPr wrap="square">
            <a:spAutoFit/>
          </a:bodyPr>
          <a:lstStyle/>
          <a:p>
            <a:r>
              <a:rPr lang="en-US" altLang="zh-CN" sz="2400" b="1" dirty="0">
                <a:latin typeface="Times New Roman" panose="02020603050405020304" pitchFamily="18" charset="0"/>
                <a:cs typeface="Times New Roman" panose="02020603050405020304" pitchFamily="18" charset="0"/>
              </a:rPr>
              <a:t>METHOD GUMMEL BLOCK NEWTON</a:t>
            </a:r>
            <a:endParaRPr lang="zh-C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8545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0" y="1043648"/>
            <a:ext cx="9141972" cy="707886"/>
          </a:xfrm>
          <a:prstGeom prst="rect">
            <a:avLst/>
          </a:prstGeom>
        </p:spPr>
        <p:txBody>
          <a:bodyPr wrap="square">
            <a:spAutoFit/>
          </a:bodyPr>
          <a:lstStyle/>
          <a:p>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Xnrom</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rhsnorm</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为</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方程计算时的误差，虚线下的值是以 </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10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为底的对数表示误差大小。有星号的数字表明</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已经</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达到误差容限</a:t>
            </a:r>
            <a:r>
              <a:rPr lang="zh-CN" altLang="en-US" sz="20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000" dirty="0"/>
              <a:t> </a:t>
            </a:r>
            <a:r>
              <a:rPr lang="en-US" altLang="zh-CN" sz="2000" b="1" dirty="0" err="1">
                <a:latin typeface="Times New Roman" panose="02020603050405020304" pitchFamily="18" charset="0"/>
                <a:ea typeface="华文楷体" panose="02010600040101010101" pitchFamily="2" charset="-122"/>
                <a:cs typeface="Times New Roman" panose="02020603050405020304" pitchFamily="18" charset="0"/>
              </a:rPr>
              <a:t>Va</a:t>
            </a:r>
            <a:r>
              <a:rPr lang="en-US" altLang="zh-CN" sz="20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000" b="1" dirty="0">
                <a:latin typeface="Times New Roman" panose="02020603050405020304" pitchFamily="18" charset="0"/>
                <a:ea typeface="华文楷体" panose="02010600040101010101" pitchFamily="2" charset="-122"/>
                <a:cs typeface="Times New Roman" panose="02020603050405020304" pitchFamily="18" charset="0"/>
              </a:rPr>
              <a:t>栏列出了接触表面的电压</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684270"/>
            <a:ext cx="8462744" cy="5173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82572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124744"/>
            <a:ext cx="9144000" cy="2308324"/>
          </a:xfrm>
          <a:prstGeom prst="rect">
            <a:avLst/>
          </a:prstGeom>
        </p:spPr>
        <p:txBody>
          <a:bodyPr wrap="square">
            <a:spAutoFit/>
          </a:bodyPr>
          <a:lstStyle/>
          <a:p>
            <a:pPr algn="just"/>
            <a:r>
              <a:rPr lang="en-US" altLang="zh-CN" sz="2400" dirty="0" smtClean="0">
                <a:latin typeface="Times New Roman" panose="02020603050405020304" pitchFamily="18" charset="0"/>
                <a:cs typeface="Times New Roman" panose="02020603050405020304" pitchFamily="18" charset="0"/>
              </a:rPr>
              <a:t>A </a:t>
            </a:r>
            <a:r>
              <a:rPr lang="en-US" altLang="zh-CN" sz="2400" dirty="0">
                <a:latin typeface="Times New Roman" panose="02020603050405020304" pitchFamily="18" charset="0"/>
                <a:cs typeface="Times New Roman" panose="02020603050405020304" pitchFamily="18" charset="0"/>
              </a:rPr>
              <a:t>single positive number that characterizes error is obtained by taking a norm of the errors associated with each unknown. The quantity that Atlas tries to reduce to zero is the difference between the left and right hand sides of the equation. It is natural to use this quantity as the measure of the error. The associated error norm is called the right hand side (</a:t>
            </a:r>
            <a:r>
              <a:rPr lang="en-US" altLang="zh-CN" sz="2400" b="1" dirty="0">
                <a:latin typeface="Times New Roman" panose="02020603050405020304" pitchFamily="18" charset="0"/>
                <a:cs typeface="Times New Roman" panose="02020603050405020304" pitchFamily="18" charset="0"/>
              </a:rPr>
              <a:t>RHS</a:t>
            </a:r>
            <a:r>
              <a:rPr lang="en-US" altLang="zh-CN" sz="2400" dirty="0">
                <a:latin typeface="Times New Roman" panose="02020603050405020304" pitchFamily="18" charset="0"/>
                <a:cs typeface="Times New Roman" panose="02020603050405020304" pitchFamily="18" charset="0"/>
              </a:rPr>
              <a:t>) norm. </a:t>
            </a:r>
            <a:endParaRPr lang="zh-CN" altLang="en-US" sz="2400" dirty="0">
              <a:latin typeface="Times New Roman" panose="02020603050405020304" pitchFamily="18" charset="0"/>
              <a:cs typeface="Times New Roman" panose="02020603050405020304" pitchFamily="18" charset="0"/>
            </a:endParaRPr>
          </a:p>
        </p:txBody>
      </p:sp>
      <p:sp>
        <p:nvSpPr>
          <p:cNvPr id="3" name="矩形 2"/>
          <p:cNvSpPr/>
          <p:nvPr/>
        </p:nvSpPr>
        <p:spPr>
          <a:xfrm>
            <a:off x="0" y="4005064"/>
            <a:ext cx="9144000" cy="1200329"/>
          </a:xfrm>
          <a:prstGeom prst="rect">
            <a:avLst/>
          </a:prstGeom>
        </p:spPr>
        <p:txBody>
          <a:bodyPr wrap="square">
            <a:spAutoFit/>
          </a:bodyPr>
          <a:lstStyle/>
          <a:p>
            <a:pPr algn="just"/>
            <a:r>
              <a:rPr lang="en-US" altLang="zh-CN" sz="2400" dirty="0">
                <a:latin typeface="Times New Roman" panose="02020603050405020304" pitchFamily="18" charset="0"/>
                <a:cs typeface="Times New Roman" panose="02020603050405020304" pitchFamily="18" charset="0"/>
              </a:rPr>
              <a:t>Another measure of error is provided by the size of the calculated corrections for each unknown. Since the updates are the unknown “</a:t>
            </a:r>
            <a:r>
              <a:rPr lang="en-US" altLang="zh-CN" sz="2400" dirty="0" err="1">
                <a:latin typeface="Times New Roman" panose="02020603050405020304" pitchFamily="18" charset="0"/>
                <a:cs typeface="Times New Roman" panose="02020603050405020304" pitchFamily="18" charset="0"/>
              </a:rPr>
              <a:t>xs</a:t>
            </a:r>
            <a:r>
              <a:rPr lang="en-US" altLang="zh-CN" sz="2400" dirty="0">
                <a:latin typeface="Times New Roman" panose="02020603050405020304" pitchFamily="18" charset="0"/>
                <a:cs typeface="Times New Roman" panose="02020603050405020304" pitchFamily="18" charset="0"/>
              </a:rPr>
              <a:t>” at each step, this is called the </a:t>
            </a:r>
            <a:r>
              <a:rPr lang="en-US" altLang="zh-CN" sz="2400" b="1" dirty="0">
                <a:latin typeface="Times New Roman" panose="02020603050405020304" pitchFamily="18" charset="0"/>
                <a:cs typeface="Times New Roman" panose="02020603050405020304" pitchFamily="18" charset="0"/>
              </a:rPr>
              <a:t>X norm </a:t>
            </a:r>
            <a:endParaRPr lang="zh-C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44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124744"/>
            <a:ext cx="2262158" cy="461665"/>
          </a:xfrm>
          <a:prstGeom prst="rect">
            <a:avLst/>
          </a:prstGeom>
        </p:spPr>
        <p:txBody>
          <a:bodyPr wrap="non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）日志文件 </a:t>
            </a:r>
          </a:p>
        </p:txBody>
      </p:sp>
      <p:sp>
        <p:nvSpPr>
          <p:cNvPr id="6" name="矩形 5"/>
          <p:cNvSpPr/>
          <p:nvPr/>
        </p:nvSpPr>
        <p:spPr>
          <a:xfrm>
            <a:off x="-23842" y="1700808"/>
            <a:ext cx="9167842" cy="830997"/>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ATLAS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仿真能保存的结果主要有结构文件、</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文件和提取得到的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dat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文件。</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文件中</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包含</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有用端的</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电学信息（电流和电压）</a:t>
            </a:r>
          </a:p>
        </p:txBody>
      </p:sp>
      <p:sp>
        <p:nvSpPr>
          <p:cNvPr id="7" name="矩形 6"/>
          <p:cNvSpPr/>
          <p:nvPr/>
        </p:nvSpPr>
        <p:spPr>
          <a:xfrm>
            <a:off x="-45796" y="2924944"/>
            <a:ext cx="9189795" cy="461665"/>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Win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系统中直接打开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文件，很难看清其数据结构。</a:t>
            </a:r>
          </a:p>
        </p:txBody>
      </p:sp>
      <p:sp>
        <p:nvSpPr>
          <p:cNvPr id="8" name="矩形 7"/>
          <p:cNvSpPr/>
          <p:nvPr/>
        </p:nvSpPr>
        <p:spPr>
          <a:xfrm>
            <a:off x="8784" y="3717032"/>
            <a:ext cx="3041025" cy="461665"/>
          </a:xfrm>
          <a:prstGeom prst="rect">
            <a:avLst/>
          </a:prstGeom>
        </p:spPr>
        <p:txBody>
          <a:bodyPr wrap="non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工具查看</a:t>
            </a:r>
          </a:p>
        </p:txBody>
      </p:sp>
      <p:sp>
        <p:nvSpPr>
          <p:cNvPr id="9" name="矩形 8"/>
          <p:cNvSpPr/>
          <p:nvPr/>
        </p:nvSpPr>
        <p:spPr>
          <a:xfrm>
            <a:off x="8784" y="4422303"/>
            <a:ext cx="5144165" cy="461665"/>
          </a:xfrm>
          <a:prstGeom prst="rect">
            <a:avLst/>
          </a:prstGeom>
        </p:spPr>
        <p:txBody>
          <a:bodyPr wrap="non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将其导出成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csv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格式文件</a:t>
            </a:r>
          </a:p>
        </p:txBody>
      </p:sp>
    </p:spTree>
    <p:extLst>
      <p:ext uri="{BB962C8B-B14F-4D97-AF65-F5344CB8AC3E}">
        <p14:creationId xmlns:p14="http://schemas.microsoft.com/office/powerpoint/2010/main" val="77828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 y="2324742"/>
            <a:ext cx="9203960" cy="2757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7505" y="1340768"/>
            <a:ext cx="5527475"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log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文件导出成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csv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格式以查看仿真数据</a:t>
            </a:r>
          </a:p>
        </p:txBody>
      </p:sp>
    </p:spTree>
    <p:extLst>
      <p:ext uri="{BB962C8B-B14F-4D97-AF65-F5344CB8AC3E}">
        <p14:creationId xmlns:p14="http://schemas.microsoft.com/office/powerpoint/2010/main" val="14737986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882" y="1124744"/>
            <a:ext cx="9138118" cy="461665"/>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将结构文件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Cutline</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之后</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导出含一维数据分布的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dat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文件</a:t>
            </a:r>
          </a:p>
        </p:txBody>
      </p: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0" y="1700808"/>
            <a:ext cx="9000000" cy="46010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26347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7" y="1700808"/>
            <a:ext cx="9159577" cy="467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0" y="1208311"/>
            <a:ext cx="7281160" cy="461665"/>
          </a:xfrm>
          <a:prstGeom prst="rect">
            <a:avLst/>
          </a:prstGeom>
        </p:spPr>
        <p:txBody>
          <a:bodyPr wrap="non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右边的曲线图右键</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——display</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可以选择所要显示的值</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TextBox 7"/>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488580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512719"/>
            <a:ext cx="4324474" cy="5206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p:cNvSpPr/>
          <p:nvPr/>
        </p:nvSpPr>
        <p:spPr>
          <a:xfrm>
            <a:off x="0" y="1055910"/>
            <a:ext cx="3570208" cy="461665"/>
          </a:xfrm>
          <a:prstGeom prst="rect">
            <a:avLst/>
          </a:prstGeom>
        </p:spPr>
        <p:txBody>
          <a:bodyPr wrap="non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电场分布曲线导出的数据</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47234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30877" y="1052736"/>
            <a:ext cx="3946914"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Functions——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函数计算功能</a:t>
            </a:r>
          </a:p>
        </p:txBody>
      </p:sp>
      <p:sp>
        <p:nvSpPr>
          <p:cNvPr id="6" name="矩形 5"/>
          <p:cNvSpPr/>
          <p:nvPr/>
        </p:nvSpPr>
        <p:spPr>
          <a:xfrm>
            <a:off x="-31238" y="2053536"/>
            <a:ext cx="9175238" cy="461665"/>
          </a:xfrm>
          <a:prstGeom prst="rect">
            <a:avLst/>
          </a:prstGeom>
        </p:spPr>
        <p:txBody>
          <a:bodyPr wrap="square">
            <a:spAutoFit/>
          </a:bodyPr>
          <a:lstStyle/>
          <a:p>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一</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种是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Graph </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Functions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，对用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XY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坐标表示的电学量进行计算</a:t>
            </a:r>
          </a:p>
        </p:txBody>
      </p:sp>
      <p:sp>
        <p:nvSpPr>
          <p:cNvPr id="7" name="矩形 6"/>
          <p:cNvSpPr/>
          <p:nvPr/>
        </p:nvSpPr>
        <p:spPr>
          <a:xfrm>
            <a:off x="-31238" y="3212976"/>
            <a:ext cx="9175238" cy="461665"/>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另一种是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Impurity functions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，即对</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杂质进行</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计算后显示出来</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7" y="4149080"/>
            <a:ext cx="9132393" cy="1855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45520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312574"/>
            <a:ext cx="7591425"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8973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273653" cy="584775"/>
          </a:xfrm>
          <a:prstGeom prst="rect">
            <a:avLst/>
          </a:prstGeom>
          <a:noFill/>
        </p:spPr>
        <p:txBody>
          <a:bodyPr wrap="none" rtlCol="0">
            <a:spAutoFit/>
          </a:bodyPr>
          <a:lstStyle/>
          <a:p>
            <a:pPr>
              <a:defRPr/>
            </a:pP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ATLAS </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其他仿真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013379"/>
            <a:ext cx="9144000" cy="1569660"/>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Probe—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点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Probe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菜单，然后用左键在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显示区域点击某一“点”就可获得该</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点的</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信息。如果点在网格的同一个三角形内，那么显示的结果会是相同的，而不是所认为的点的坐标不同结果就不同。这就是网格离散化带来的必然结果</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42" y="2583039"/>
            <a:ext cx="8511311" cy="4274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69501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9144000" cy="830997"/>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Movie—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制作动画。执行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Edit&gt;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Selectes</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All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选中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中的所有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plots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，这时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Movie </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就处于</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可用状态</a:t>
            </a:r>
          </a:p>
        </p:txBody>
      </p:sp>
      <p:sp>
        <p:nvSpPr>
          <p:cNvPr id="6" name="TextBox 5"/>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955740"/>
            <a:ext cx="8784976" cy="47008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64815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013379"/>
            <a:ext cx="9144000" cy="830997"/>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HP4145—</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对数据图（</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graph</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）进行简单的处理。经常会碰到要提取仿真得到的</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特性曲线的</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参数的情况，如曲线的斜率、和轴的交点</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等</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矩形 2"/>
          <p:cNvSpPr/>
          <p:nvPr/>
        </p:nvSpPr>
        <p:spPr>
          <a:xfrm>
            <a:off x="12596" y="2276872"/>
            <a:ext cx="9131403" cy="3914533"/>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先由“</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Marker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”在数据曲线上标记一个点（圆圈符号），然后点击“</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Create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”，得到线</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的另</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一点（“</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”号），通过</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Cursor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的四个方向按钮可以调节位置，再点击“</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Line 1</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”，就出现</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了由</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这两点所连成的直线。直线显示在</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的原来图窗口中，而直线的数据显示在</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Tonyplot</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HP4145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界面。如图</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1.24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所示即为在原转移特性曲线图上添加点和直线的效果。“点”</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的坐标</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和“线”的斜率显示在</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HP4145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的界面上。</a:t>
            </a:r>
          </a:p>
        </p:txBody>
      </p:sp>
    </p:spTree>
    <p:extLst>
      <p:ext uri="{BB962C8B-B14F-4D97-AF65-F5344CB8AC3E}">
        <p14:creationId xmlns:p14="http://schemas.microsoft.com/office/powerpoint/2010/main" val="392094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17020"/>
            <a:ext cx="9144000" cy="5324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73696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124744"/>
            <a:ext cx="9108504" cy="461665"/>
          </a:xfrm>
          <a:prstGeom prst="rect">
            <a:avLst/>
          </a:prstGeom>
        </p:spPr>
        <p:txBody>
          <a:bodyPr wrap="squar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Integrate—</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测量单条曲线和横轴之间的面积或两条曲线之间的面积</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6" y="1772816"/>
            <a:ext cx="8964488" cy="4680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54925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124744"/>
            <a:ext cx="4014240" cy="461665"/>
          </a:xfrm>
          <a:prstGeom prst="rect">
            <a:avLst/>
          </a:prstGeom>
        </p:spPr>
        <p:txBody>
          <a:bodyPr wrap="none">
            <a:spAutoFit/>
          </a:bodyPr>
          <a:lstStyle/>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Ruler—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测量图中两点的距离</a:t>
            </a:r>
          </a:p>
        </p:txBody>
      </p:sp>
      <p:sp>
        <p:nvSpPr>
          <p:cNvPr id="3" name="矩形 2"/>
          <p:cNvSpPr/>
          <p:nvPr/>
        </p:nvSpPr>
        <p:spPr>
          <a:xfrm>
            <a:off x="1960" y="2245973"/>
            <a:ext cx="9144000" cy="3360535"/>
          </a:xfrm>
          <a:prstGeom prst="rect">
            <a:avLst/>
          </a:prstGeom>
        </p:spPr>
        <p:txBody>
          <a:bodyPr wrap="square">
            <a:spAutoFit/>
          </a:bodyPr>
          <a:lstStyle/>
          <a:p>
            <a:pPr>
              <a:lnSpc>
                <a:spcPct val="150000"/>
              </a:lnSpc>
            </a:pP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Ruler—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测量图中两点的距离。按住鼠标左键并拖动则可以得到起止两点间的距离</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信息</a:t>
            </a:r>
            <a:r>
              <a:rPr lang="el-GR"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Δ</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a:t>
            </a:r>
            <a:r>
              <a:rPr lang="el-GR" altLang="zh-CN" sz="2400" b="1" dirty="0">
                <a:latin typeface="Times New Roman" panose="02020603050405020304" pitchFamily="18" charset="0"/>
                <a:ea typeface="华文楷体" panose="02010600040101010101" pitchFamily="2" charset="-122"/>
                <a:cs typeface="Times New Roman" panose="02020603050405020304" pitchFamily="18" charset="0"/>
              </a:rPr>
              <a:t>Δ</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y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Length</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，两点间的连线和水平线的夹角</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angle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以及斜率</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slope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等</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50000"/>
              </a:lnSpc>
            </a:pP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通常</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使用</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ruler</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前</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先将特定区域放大会使测试更准确，区域放大可按住鼠标左键并拖动，拖曳的范围即会</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放大</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到填满整个</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Tonyplot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窗口。</a:t>
            </a:r>
          </a:p>
        </p:txBody>
      </p:sp>
    </p:spTree>
    <p:extLst>
      <p:ext uri="{BB962C8B-B14F-4D97-AF65-F5344CB8AC3E}">
        <p14:creationId xmlns:p14="http://schemas.microsoft.com/office/powerpoint/2010/main" val="150110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142844" y="428604"/>
            <a:ext cx="2656496"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仿真结果分析</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4211"/>
            <a:ext cx="9014669" cy="5735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31847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015813"/>
            <a:ext cx="1762021" cy="461665"/>
          </a:xfrm>
          <a:prstGeom prst="rect">
            <a:avLst/>
          </a:prstGeom>
        </p:spPr>
        <p:txBody>
          <a:bodyPr wrap="non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交流</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特性</a:t>
            </a:r>
          </a:p>
        </p:txBody>
      </p:sp>
      <p:sp>
        <p:nvSpPr>
          <p:cNvPr id="2" name="矩形 1"/>
          <p:cNvSpPr/>
          <p:nvPr/>
        </p:nvSpPr>
        <p:spPr>
          <a:xfrm>
            <a:off x="14604" y="1700808"/>
            <a:ext cx="9129396" cy="1200329"/>
          </a:xfrm>
          <a:prstGeom prst="rect">
            <a:avLst/>
          </a:prstGeom>
        </p:spPr>
        <p:txBody>
          <a:bodyPr wrap="square">
            <a:spAutoFit/>
          </a:bodyPr>
          <a:lstStyle/>
          <a:p>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交流仿真的语法和直流仿真的语法很相似，只是添加了频率相关的参数。有两种交流</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仿真类型</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，一是频率不变只变直流偏置，一是变频率直流偏置不变。</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76" y="3429000"/>
            <a:ext cx="8734425"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26865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551" y="1013379"/>
            <a:ext cx="5777253" cy="5799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860862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015813"/>
            <a:ext cx="2664512" cy="461665"/>
          </a:xfrm>
          <a:prstGeom prst="rect">
            <a:avLst/>
          </a:prstGeom>
        </p:spPr>
        <p:txBody>
          <a:bodyPr wrap="none">
            <a:spAutoFit/>
          </a:bodyPr>
          <a:lstStyle/>
          <a:p>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管的</a:t>
            </a:r>
            <a:r>
              <a:rPr lang="en-US" altLang="zh-CN" sz="2400" b="1" dirty="0" smtClean="0">
                <a:latin typeface="Times New Roman" panose="02020603050405020304" pitchFamily="18" charset="0"/>
                <a:ea typeface="华文楷体" panose="02010600040101010101" pitchFamily="2" charset="-122"/>
                <a:cs typeface="Times New Roman" panose="02020603050405020304" pitchFamily="18" charset="0"/>
              </a:rPr>
              <a:t>C-V</a:t>
            </a:r>
            <a:r>
              <a:rPr lang="zh-CN" altLang="en-US" sz="2400" b="1" dirty="0" smtClean="0">
                <a:latin typeface="Times New Roman" panose="02020603050405020304" pitchFamily="18" charset="0"/>
                <a:ea typeface="华文楷体" panose="02010600040101010101" pitchFamily="2" charset="-122"/>
                <a:cs typeface="Times New Roman" panose="02020603050405020304" pitchFamily="18" charset="0"/>
              </a:rPr>
              <a:t>特性</a:t>
            </a:r>
            <a:endParaRPr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Rectangle 2"/>
          <p:cNvSpPr>
            <a:spLocks noChangeArrowheads="1"/>
          </p:cNvSpPr>
          <p:nvPr/>
        </p:nvSpPr>
        <p:spPr bwMode="auto">
          <a:xfrm>
            <a:off x="0" y="1982450"/>
            <a:ext cx="9144000" cy="2092881"/>
          </a:xfrm>
          <a:prstGeom prst="rect">
            <a:avLst/>
          </a:prstGeom>
          <a:noFill/>
          <a:ln w="9525">
            <a:noFill/>
            <a:miter lim="800000"/>
          </a:ln>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eaLnBrk="1" hangingPunct="1">
              <a:lnSpc>
                <a:spcPct val="130000"/>
              </a:lnSpc>
              <a:spcBef>
                <a:spcPct val="50000"/>
              </a:spcBef>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对于一个理想的</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系统，当外加偏压</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变化时，金属极板上的电荷</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2400" b="1" baseline="-250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和半导体表面空间电荷</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Q</a:t>
            </a:r>
            <a:r>
              <a:rPr lang="en-US" altLang="zh-CN" sz="2400" b="1" baseline="-25000" dirty="0">
                <a:latin typeface="Times New Roman" panose="02020603050405020304" pitchFamily="18" charset="0"/>
                <a:ea typeface="华文楷体" panose="02010600040101010101" pitchFamily="2" charset="-122"/>
                <a:cs typeface="Times New Roman" panose="02020603050405020304" pitchFamily="18" charset="0"/>
              </a:rPr>
              <a:t>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都要相应发生变化。说明，</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系统有一定的电容效应，所以把它叫做</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MOS</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电容器；但一般说来：总电荷</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Q</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并不正比于外加偏压</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V</a:t>
            </a:r>
            <a:r>
              <a:rPr lang="en-US" altLang="zh-CN" sz="2400" b="1" baseline="-25000" dirty="0">
                <a:latin typeface="Times New Roman" panose="02020603050405020304" pitchFamily="18" charset="0"/>
                <a:ea typeface="华文楷体" panose="02010600040101010101" pitchFamily="2" charset="-122"/>
                <a:cs typeface="Times New Roman" panose="02020603050405020304" pitchFamily="18" charset="0"/>
              </a:rPr>
              <a:t>G</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，需要讨论微分电容</a:t>
            </a:r>
            <a:r>
              <a:rPr lang="zh-CN" altLang="en-US" sz="2800" b="1" dirty="0">
                <a:latin typeface="Times New Roman" panose="02020603050405020304" pitchFamily="18" charset="0"/>
                <a:ea typeface="楷体_GB2312" panose="02010609030101010101" charset="-122"/>
              </a:rPr>
              <a:t>。</a:t>
            </a:r>
          </a:p>
        </p:txBody>
      </p:sp>
      <p:sp>
        <p:nvSpPr>
          <p:cNvPr id="8" name="TextBox 7"/>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813947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Rectangle 3"/>
          <p:cNvSpPr>
            <a:spLocks noChangeArrowheads="1"/>
          </p:cNvSpPr>
          <p:nvPr/>
        </p:nvSpPr>
        <p:spPr bwMode="auto">
          <a:xfrm>
            <a:off x="614329" y="4656576"/>
            <a:ext cx="5400675" cy="461665"/>
          </a:xfrm>
          <a:prstGeom prst="rect">
            <a:avLst/>
          </a:prstGeom>
          <a:noFill/>
          <a:ln w="9525">
            <a:noFill/>
            <a:miter lim="800000"/>
          </a:ln>
          <a:effec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电容</a:t>
            </a:r>
            <a:r>
              <a:rPr lang="en-US" sz="2400" b="1"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1" i="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1" i="1"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sz="2400" b="1" i="1" dirty="0">
                <a:latin typeface="Times New Roman" panose="02020603050405020304" pitchFamily="18" charset="0"/>
                <a:ea typeface="楷体" panose="02010609060101010101" pitchFamily="49" charset="-122"/>
                <a:cs typeface="Times New Roman" panose="02020603050405020304" pitchFamily="18" charset="0"/>
              </a:rPr>
              <a:t>C</a:t>
            </a:r>
            <a:r>
              <a:rPr lang="en-US" sz="2400" b="1" i="1" baseline="-25000" dirty="0">
                <a:latin typeface="Times New Roman" panose="02020603050405020304" pitchFamily="18" charset="0"/>
                <a:ea typeface="楷体" panose="02010609060101010101" pitchFamily="49" charset="-122"/>
                <a:cs typeface="Times New Roman" panose="02020603050405020304" pitchFamily="18" charset="0"/>
              </a:rPr>
              <a:t>ox</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与</a:t>
            </a:r>
            <a:r>
              <a:rPr lang="en-US" sz="2400" b="1"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sz="2400" b="1" i="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串联</a:t>
            </a:r>
          </a:p>
        </p:txBody>
      </p:sp>
      <p:pic>
        <p:nvPicPr>
          <p:cNvPr id="6" name="Picture 3" descr="场效应器件物理002"/>
          <p:cNvPicPr>
            <a:picLocks noChangeAspect="1" noChangeArrowheads="1"/>
          </p:cNvPicPr>
          <p:nvPr/>
        </p:nvPicPr>
        <p:blipFill>
          <a:blip r:embed="rId2">
            <a:lum contrast="36000"/>
          </a:blip>
          <a:srcRect/>
          <a:stretch>
            <a:fillRect/>
          </a:stretch>
        </p:blipFill>
        <p:spPr bwMode="auto">
          <a:xfrm>
            <a:off x="685767" y="1513304"/>
            <a:ext cx="4714908" cy="3024187"/>
          </a:xfrm>
          <a:prstGeom prst="rect">
            <a:avLst/>
          </a:prstGeom>
          <a:noFill/>
          <a:ln w="9525">
            <a:noFill/>
            <a:miter lim="800000"/>
            <a:headEnd/>
            <a:tailEnd/>
          </a:ln>
          <a:effectLst/>
        </p:spPr>
      </p:pic>
      <p:pic>
        <p:nvPicPr>
          <p:cNvPr id="7" name="Object 5"/>
          <p:cNvPicPr/>
          <p:nvPr/>
        </p:nvPicPr>
        <p:blipFill>
          <a:blip r:embed="rId3"/>
          <a:stretch>
            <a:fillRect/>
          </a:stretch>
        </p:blipFill>
        <p:spPr>
          <a:xfrm>
            <a:off x="6186493" y="1298990"/>
            <a:ext cx="2200302" cy="3857652"/>
          </a:xfrm>
          <a:noFill/>
          <a:ln w="9525">
            <a:noFill/>
          </a:ln>
        </p:spPr>
      </p:pic>
      <p:sp>
        <p:nvSpPr>
          <p:cNvPr id="8" name="Rectangle 7"/>
          <p:cNvSpPr>
            <a:spLocks noChangeArrowheads="1"/>
          </p:cNvSpPr>
          <p:nvPr/>
        </p:nvSpPr>
        <p:spPr bwMode="auto">
          <a:xfrm>
            <a:off x="-6376" y="1136571"/>
            <a:ext cx="3384550" cy="461665"/>
          </a:xfrm>
          <a:prstGeom prst="rect">
            <a:avLst/>
          </a:prstGeom>
          <a:noFill/>
          <a:ln w="9525">
            <a:noFill/>
            <a:miter lim="800000"/>
          </a:ln>
          <a:effec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器件电容定义</a:t>
            </a:r>
            <a:r>
              <a:rPr lang="en-US" sz="2400"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9" name="Comment 9"/>
          <p:cNvSpPr>
            <a:spLocks noChangeArrowheads="1"/>
          </p:cNvSpPr>
          <p:nvPr/>
        </p:nvSpPr>
        <p:spPr bwMode="auto">
          <a:xfrm>
            <a:off x="1685899" y="5585270"/>
            <a:ext cx="5143536" cy="830997"/>
          </a:xfrm>
          <a:prstGeom prst="rect">
            <a:avLst/>
          </a:prstGeom>
          <a:solidFill>
            <a:srgbClr val="FCFF91"/>
          </a:solidFill>
          <a:ln w="9525" cap="flat" cmpd="sng">
            <a:solidFill>
              <a:srgbClr val="000000"/>
            </a:solidFill>
            <a:miter lim="800000"/>
          </a:ln>
          <a:effectLst>
            <a:outerShdw dist="107763" dir="2700000" algn="ctr" rotWithShape="0">
              <a:srgbClr val="808080"/>
            </a:outerShdw>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相当于金属电容与半导体电容</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串联。电阻</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越串越大，电容越串越小</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216" y="1497013"/>
            <a:ext cx="2201863" cy="386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804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内容占位符 2"/>
          <p:cNvSpPr>
            <a:spLocks noGrp="1"/>
          </p:cNvSpPr>
          <p:nvPr/>
        </p:nvSpPr>
        <p:spPr>
          <a:xfrm>
            <a:off x="288454" y="1224879"/>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b="1" dirty="0" smtClean="0">
                <a:latin typeface="楷体" panose="02010609060101010101" pitchFamily="49" charset="-122"/>
                <a:ea typeface="楷体" panose="02010609060101010101" pitchFamily="49" charset="-122"/>
              </a:rPr>
              <a:t>氧化层完全绝缘</a:t>
            </a:r>
            <a:endParaRPr lang="en-US" altLang="zh-CN" sz="2400" b="1" dirty="0" smtClean="0">
              <a:latin typeface="楷体" panose="02010609060101010101" pitchFamily="49" charset="-122"/>
              <a:ea typeface="楷体" panose="02010609060101010101" pitchFamily="49" charset="-122"/>
            </a:endParaRPr>
          </a:p>
          <a:p>
            <a:r>
              <a:rPr lang="zh-CN" altLang="en-US" sz="2400" b="1" dirty="0" smtClean="0">
                <a:latin typeface="楷体" panose="02010609060101010101" pitchFamily="49" charset="-122"/>
                <a:ea typeface="楷体" panose="02010609060101010101" pitchFamily="49" charset="-122"/>
              </a:rPr>
              <a:t>氧化层中不存在任何电荷</a:t>
            </a:r>
            <a:endParaRPr lang="en-US" altLang="zh-CN" sz="2400" b="1" dirty="0" smtClean="0">
              <a:latin typeface="楷体" panose="02010609060101010101" pitchFamily="49" charset="-122"/>
              <a:ea typeface="楷体" panose="02010609060101010101" pitchFamily="49" charset="-122"/>
            </a:endParaRPr>
          </a:p>
          <a:p>
            <a:r>
              <a:rPr lang="zh-CN" altLang="en-US" sz="2400" b="1" dirty="0" smtClean="0">
                <a:latin typeface="楷体" panose="02010609060101010101" pitchFamily="49" charset="-122"/>
                <a:ea typeface="楷体" panose="02010609060101010101" pitchFamily="49" charset="-122"/>
              </a:rPr>
              <a:t>氧化层与半导体界面上无界面态</a:t>
            </a:r>
            <a:endParaRPr lang="en-US" altLang="zh-CN" sz="2400" b="1" dirty="0" smtClean="0">
              <a:latin typeface="楷体" panose="02010609060101010101" pitchFamily="49" charset="-122"/>
              <a:ea typeface="楷体" panose="02010609060101010101" pitchFamily="49" charset="-122"/>
            </a:endParaRPr>
          </a:p>
          <a:p>
            <a:r>
              <a:rPr lang="zh-CN" altLang="en-US" sz="2400" b="1" dirty="0" smtClean="0">
                <a:latin typeface="楷体" panose="02010609060101010101" pitchFamily="49" charset="-122"/>
                <a:ea typeface="楷体" panose="02010609060101010101" pitchFamily="49" charset="-122"/>
              </a:rPr>
              <a:t>忽略金属与半导体的接触电势差</a:t>
            </a:r>
            <a:endParaRPr lang="zh-CN" altLang="en-US" sz="2400" b="1" dirty="0">
              <a:latin typeface="楷体" panose="02010609060101010101" pitchFamily="49" charset="-122"/>
              <a:ea typeface="楷体" panose="02010609060101010101" pitchFamily="49" charset="-122"/>
            </a:endParaRPr>
          </a:p>
        </p:txBody>
      </p:sp>
      <p:sp>
        <p:nvSpPr>
          <p:cNvPr id="6" name="矩形 5"/>
          <p:cNvSpPr/>
          <p:nvPr/>
        </p:nvSpPr>
        <p:spPr>
          <a:xfrm>
            <a:off x="6332080" y="1910671"/>
            <a:ext cx="1785950" cy="3571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sp>
        <p:nvSpPr>
          <p:cNvPr id="7" name="矩形 6"/>
          <p:cNvSpPr/>
          <p:nvPr/>
        </p:nvSpPr>
        <p:spPr>
          <a:xfrm>
            <a:off x="5974890" y="2267861"/>
            <a:ext cx="2500330" cy="9286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sp>
        <p:nvSpPr>
          <p:cNvPr id="8" name="矩形 7"/>
          <p:cNvSpPr/>
          <p:nvPr/>
        </p:nvSpPr>
        <p:spPr>
          <a:xfrm>
            <a:off x="6189204" y="3196555"/>
            <a:ext cx="2143140" cy="10001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sp>
        <p:nvSpPr>
          <p:cNvPr id="9" name="流程图: 联系 8"/>
          <p:cNvSpPr/>
          <p:nvPr/>
        </p:nvSpPr>
        <p:spPr>
          <a:xfrm>
            <a:off x="7117898" y="1410605"/>
            <a:ext cx="142876" cy="142876"/>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cxnSp>
        <p:nvCxnSpPr>
          <p:cNvPr id="10" name="直接连接符 9"/>
          <p:cNvCxnSpPr/>
          <p:nvPr/>
        </p:nvCxnSpPr>
        <p:spPr>
          <a:xfrm rot="5400000">
            <a:off x="7011535" y="1731282"/>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7010741" y="2446456"/>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6832146" y="3196555"/>
            <a:ext cx="71438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975022" y="2625051"/>
            <a:ext cx="4286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975022" y="2837777"/>
            <a:ext cx="4286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6200000" flipV="1">
            <a:off x="6975419" y="3981976"/>
            <a:ext cx="42942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975022" y="3552157"/>
            <a:ext cx="4286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975022" y="3766471"/>
            <a:ext cx="4286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5400000" flipH="1" flipV="1">
            <a:off x="6975022" y="3410869"/>
            <a:ext cx="428628" cy="4286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肘形连接符 18"/>
          <p:cNvCxnSpPr/>
          <p:nvPr/>
        </p:nvCxnSpPr>
        <p:spPr>
          <a:xfrm rot="16200000" flipH="1">
            <a:off x="7153618" y="4232406"/>
            <a:ext cx="285752" cy="21431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189336" y="4482439"/>
            <a:ext cx="42862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260774" y="4553877"/>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332212" y="4625315"/>
            <a:ext cx="142876"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23" name="Object 2"/>
          <p:cNvPicPr>
            <a:picLocks noChangeAspect="1"/>
          </p:cNvPicPr>
          <p:nvPr/>
        </p:nvPicPr>
        <p:blipFill>
          <a:blip r:embed="rId2"/>
          <a:stretch>
            <a:fillRect/>
          </a:stretch>
        </p:blipFill>
        <p:spPr>
          <a:xfrm>
            <a:off x="7302052" y="1267729"/>
            <a:ext cx="387350" cy="827088"/>
          </a:xfrm>
          <a:noFill/>
          <a:ln w="9525">
            <a:noFill/>
          </a:ln>
        </p:spPr>
      </p:pic>
      <p:pic>
        <p:nvPicPr>
          <p:cNvPr id="24" name="对象 24"/>
          <p:cNvPicPr>
            <a:picLocks noChangeAspect="1"/>
          </p:cNvPicPr>
          <p:nvPr/>
        </p:nvPicPr>
        <p:blipFill>
          <a:blip r:embed="rId3"/>
          <a:stretch>
            <a:fillRect/>
          </a:stretch>
        </p:blipFill>
        <p:spPr>
          <a:xfrm>
            <a:off x="7546526" y="2482175"/>
            <a:ext cx="430338" cy="1195383"/>
          </a:xfrm>
          <a:noFill/>
          <a:ln w="9525">
            <a:noFill/>
          </a:ln>
        </p:spPr>
      </p:pic>
      <p:pic>
        <p:nvPicPr>
          <p:cNvPr id="25" name="对象 25"/>
          <p:cNvPicPr>
            <a:picLocks noChangeAspect="1"/>
          </p:cNvPicPr>
          <p:nvPr/>
        </p:nvPicPr>
        <p:blipFill>
          <a:blip r:embed="rId4"/>
          <a:stretch>
            <a:fillRect/>
          </a:stretch>
        </p:blipFill>
        <p:spPr>
          <a:xfrm>
            <a:off x="7546526" y="3482307"/>
            <a:ext cx="372812" cy="795331"/>
          </a:xfrm>
          <a:noFill/>
          <a:ln w="9525">
            <a:noFill/>
          </a:ln>
        </p:spPr>
      </p:pic>
      <p:pic>
        <p:nvPicPr>
          <p:cNvPr id="26" name="对象 26"/>
          <p:cNvPicPr>
            <a:picLocks noChangeAspect="1"/>
          </p:cNvPicPr>
          <p:nvPr/>
        </p:nvPicPr>
        <p:blipFill>
          <a:blip r:embed="rId5"/>
          <a:stretch>
            <a:fillRect/>
          </a:stretch>
        </p:blipFill>
        <p:spPr>
          <a:xfrm>
            <a:off x="6260642" y="3482307"/>
            <a:ext cx="642942" cy="709453"/>
          </a:xfrm>
          <a:noFill/>
          <a:ln w="9525">
            <a:noFill/>
          </a:ln>
        </p:spPr>
      </p:pic>
      <p:pic>
        <p:nvPicPr>
          <p:cNvPr id="27" name="对象 27"/>
          <p:cNvPicPr>
            <a:picLocks noChangeAspect="1"/>
          </p:cNvPicPr>
          <p:nvPr/>
        </p:nvPicPr>
        <p:blipFill>
          <a:blip r:embed="rId6"/>
          <a:stretch>
            <a:fillRect/>
          </a:stretch>
        </p:blipFill>
        <p:spPr>
          <a:xfrm>
            <a:off x="831354" y="3125117"/>
            <a:ext cx="1052520" cy="1180876"/>
          </a:xfrm>
          <a:noFill/>
          <a:ln w="9525">
            <a:noFill/>
          </a:ln>
        </p:spPr>
      </p:pic>
      <p:pic>
        <p:nvPicPr>
          <p:cNvPr id="28" name="对象 28"/>
          <p:cNvPicPr>
            <a:picLocks noChangeAspect="1"/>
          </p:cNvPicPr>
          <p:nvPr/>
        </p:nvPicPr>
        <p:blipFill>
          <a:blip r:embed="rId7"/>
          <a:stretch>
            <a:fillRect/>
          </a:stretch>
        </p:blipFill>
        <p:spPr>
          <a:xfrm>
            <a:off x="2831618" y="3196555"/>
            <a:ext cx="1817776" cy="938207"/>
          </a:xfrm>
          <a:noFill/>
          <a:ln w="9525">
            <a:noFill/>
          </a:ln>
        </p:spPr>
      </p:pic>
      <p:sp>
        <p:nvSpPr>
          <p:cNvPr id="29" name="右箭头 28"/>
          <p:cNvSpPr/>
          <p:nvPr/>
        </p:nvSpPr>
        <p:spPr>
          <a:xfrm>
            <a:off x="435144" y="4698794"/>
            <a:ext cx="428628"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pic>
        <p:nvPicPr>
          <p:cNvPr id="30" name="对象 30"/>
          <p:cNvPicPr>
            <a:picLocks noChangeAspect="1"/>
          </p:cNvPicPr>
          <p:nvPr/>
        </p:nvPicPr>
        <p:blipFill>
          <a:blip r:embed="rId8"/>
          <a:stretch>
            <a:fillRect/>
          </a:stretch>
        </p:blipFill>
        <p:spPr>
          <a:xfrm>
            <a:off x="974230" y="3982373"/>
            <a:ext cx="4643470" cy="1432842"/>
          </a:xfrm>
          <a:noFill/>
          <a:ln w="9525">
            <a:noFill/>
          </a:ln>
        </p:spPr>
      </p:pic>
      <p:pic>
        <p:nvPicPr>
          <p:cNvPr id="31" name="对象 31"/>
          <p:cNvPicPr>
            <a:picLocks noChangeAspect="1"/>
          </p:cNvPicPr>
          <p:nvPr/>
        </p:nvPicPr>
        <p:blipFill>
          <a:blip r:embed="rId9"/>
          <a:stretch>
            <a:fillRect/>
          </a:stretch>
        </p:blipFill>
        <p:spPr>
          <a:xfrm>
            <a:off x="545602" y="5125381"/>
            <a:ext cx="1383887" cy="714380"/>
          </a:xfrm>
          <a:noFill/>
          <a:ln w="9525">
            <a:noFill/>
          </a:ln>
        </p:spPr>
      </p:pic>
      <p:pic>
        <p:nvPicPr>
          <p:cNvPr id="32" name="Object 10"/>
          <p:cNvPicPr>
            <a:picLocks noChangeAspect="1"/>
          </p:cNvPicPr>
          <p:nvPr/>
        </p:nvPicPr>
        <p:blipFill>
          <a:blip r:embed="rId10"/>
          <a:stretch>
            <a:fillRect/>
          </a:stretch>
        </p:blipFill>
        <p:spPr>
          <a:xfrm>
            <a:off x="1974362" y="5125381"/>
            <a:ext cx="1214446" cy="714696"/>
          </a:xfrm>
          <a:noFill/>
          <a:ln w="9525">
            <a:noFill/>
          </a:ln>
        </p:spPr>
      </p:pic>
      <p:sp>
        <p:nvSpPr>
          <p:cNvPr id="33" name="TextBox 33"/>
          <p:cNvSpPr txBox="1"/>
          <p:nvPr/>
        </p:nvSpPr>
        <p:spPr>
          <a:xfrm>
            <a:off x="133494" y="5533360"/>
            <a:ext cx="492443"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smtClean="0">
                <a:latin typeface="楷体" panose="02010609060101010101" pitchFamily="49" charset="-122"/>
                <a:ea typeface="楷体" panose="02010609060101010101" pitchFamily="49" charset="-122"/>
              </a:rPr>
              <a:t>由</a:t>
            </a:r>
            <a:endParaRPr lang="zh-CN" altLang="en-US" sz="2400" b="1" dirty="0">
              <a:latin typeface="楷体" panose="02010609060101010101" pitchFamily="49" charset="-122"/>
              <a:ea typeface="楷体" panose="02010609060101010101" pitchFamily="49" charset="-122"/>
            </a:endParaRPr>
          </a:p>
        </p:txBody>
      </p:sp>
      <p:pic>
        <p:nvPicPr>
          <p:cNvPr id="35" name="对象 35"/>
          <p:cNvPicPr>
            <a:picLocks noChangeAspect="1"/>
          </p:cNvPicPr>
          <p:nvPr/>
        </p:nvPicPr>
        <p:blipFill>
          <a:blip r:embed="rId11"/>
          <a:stretch>
            <a:fillRect/>
          </a:stretch>
        </p:blipFill>
        <p:spPr>
          <a:xfrm>
            <a:off x="3922756" y="5318119"/>
            <a:ext cx="2211388" cy="1708150"/>
          </a:xfrm>
          <a:noFill/>
          <a:ln w="9525">
            <a:noFill/>
          </a:ln>
        </p:spPr>
      </p:pic>
      <p:sp>
        <p:nvSpPr>
          <p:cNvPr id="36" name="TextBox 36"/>
          <p:cNvSpPr txBox="1"/>
          <p:nvPr/>
        </p:nvSpPr>
        <p:spPr>
          <a:xfrm>
            <a:off x="6403534" y="5077909"/>
            <a:ext cx="2143108"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err="1" smtClean="0">
                <a:latin typeface="楷体" panose="02010609060101010101" pitchFamily="49" charset="-122"/>
                <a:ea typeface="楷体" panose="02010609060101010101" pitchFamily="49" charset="-122"/>
              </a:rPr>
              <a:t>x</a:t>
            </a:r>
            <a:r>
              <a:rPr lang="en-US" altLang="zh-CN" sz="2400" b="1" baseline="-25000" dirty="0" err="1" smtClean="0">
                <a:latin typeface="楷体" panose="02010609060101010101" pitchFamily="49" charset="-122"/>
                <a:ea typeface="楷体" panose="02010609060101010101" pitchFamily="49" charset="-122"/>
              </a:rPr>
              <a:t>d</a:t>
            </a:r>
            <a:r>
              <a:rPr lang="zh-CN" altLang="en-US" sz="2400" b="1" dirty="0" smtClean="0">
                <a:latin typeface="楷体" panose="02010609060101010101" pitchFamily="49" charset="-122"/>
                <a:ea typeface="楷体" panose="02010609060101010101" pitchFamily="49" charset="-122"/>
              </a:rPr>
              <a:t>为空间电荷区宽度</a:t>
            </a:r>
            <a:endParaRPr lang="zh-CN" altLang="en-US" sz="2400" b="1" dirty="0">
              <a:latin typeface="楷体" panose="02010609060101010101" pitchFamily="49" charset="-122"/>
              <a:ea typeface="楷体" panose="02010609060101010101" pitchFamily="49" charset="-122"/>
            </a:endParaRPr>
          </a:p>
        </p:txBody>
      </p:sp>
      <p:pic>
        <p:nvPicPr>
          <p:cNvPr id="37" name="对象 37"/>
          <p:cNvPicPr>
            <a:picLocks noChangeAspect="1"/>
          </p:cNvPicPr>
          <p:nvPr/>
        </p:nvPicPr>
        <p:blipFill>
          <a:blip r:embed="rId12"/>
          <a:stretch>
            <a:fillRect/>
          </a:stretch>
        </p:blipFill>
        <p:spPr>
          <a:xfrm>
            <a:off x="6546394" y="5125381"/>
            <a:ext cx="390525" cy="501650"/>
          </a:xfrm>
          <a:noFill/>
          <a:ln w="9525">
            <a:noFill/>
          </a:ln>
        </p:spPr>
      </p:pic>
      <p:pic>
        <p:nvPicPr>
          <p:cNvPr id="5122"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5602" y="3494037"/>
            <a:ext cx="5608637" cy="353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60642" y="1259801"/>
            <a:ext cx="1722437"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右箭头 39"/>
          <p:cNvSpPr/>
          <p:nvPr/>
        </p:nvSpPr>
        <p:spPr>
          <a:xfrm>
            <a:off x="3289626" y="5621316"/>
            <a:ext cx="428628" cy="2857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a:latin typeface="楷体" panose="02010609060101010101" pitchFamily="49" charset="-122"/>
              <a:ea typeface="楷体" panose="02010609060101010101" pitchFamily="49" charset="-122"/>
            </a:endParaRPr>
          </a:p>
        </p:txBody>
      </p:sp>
      <p:sp>
        <p:nvSpPr>
          <p:cNvPr id="41" name="TextBox 40"/>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5871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3" grpId="0"/>
      <p:bldP spid="36" grpId="0"/>
      <p:bldP spid="4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659285"/>
            <a:ext cx="9144000" cy="353943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）测量电源：</a:t>
            </a:r>
            <a:r>
              <a:rPr lang="en-US" sz="28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外加直流栅压，在直流电压上叠加一交流小信号电压。</a:t>
            </a:r>
            <a:endPar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Ø"/>
            </a:pPr>
            <a:endPar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）直流电压：决定器件工作点，调整大小使</a:t>
            </a:r>
            <a:r>
              <a:rPr lang="en-US" sz="28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先后处于堆积、平带、耗尽、反型几种状态</a:t>
            </a:r>
          </a:p>
          <a:p>
            <a:pPr>
              <a:buFont typeface="Wingdings" panose="05000000000000000000" pitchFamily="2" charset="2"/>
              <a:buChar char="Ø"/>
            </a:pPr>
            <a:endPar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dirty="0" smtClean="0">
                <a:latin typeface="Times New Roman" panose="02020603050405020304" pitchFamily="18" charset="0"/>
                <a:ea typeface="楷体" panose="02010609060101010101" pitchFamily="49" charset="-122"/>
                <a:cs typeface="Times New Roman" panose="02020603050405020304" pitchFamily="18" charset="0"/>
              </a:rPr>
              <a:t>3</a:t>
            </a:r>
            <a:r>
              <a:rPr lang="zh-CN" altLang="en-US" sz="2800" b="1" dirty="0" smtClean="0">
                <a:latin typeface="Times New Roman" panose="02020603050405020304" pitchFamily="18" charset="0"/>
                <a:ea typeface="楷体" panose="02010609060101010101" pitchFamily="49" charset="-122"/>
                <a:cs typeface="Times New Roman" panose="02020603050405020304" pitchFamily="18" charset="0"/>
              </a:rPr>
              <a:t>）交流电压：幅值比较小，不改变半导体的状态</a:t>
            </a:r>
          </a:p>
          <a:p>
            <a:pPr>
              <a:buFont typeface="Wingdings" panose="05000000000000000000" pitchFamily="2" charset="2"/>
              <a:buChar char="Ø"/>
            </a:pPr>
            <a:endParaRPr lang="zh-CN" altLang="en-US" sz="28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TextBox 6"/>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9379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3" descr="场效应器件物理050"/>
          <p:cNvPicPr>
            <a:picLocks noChangeAspect="1" noChangeArrowheads="1"/>
          </p:cNvPicPr>
          <p:nvPr/>
        </p:nvPicPr>
        <p:blipFill>
          <a:blip r:embed="rId2"/>
          <a:srcRect l="862" r="1744"/>
          <a:stretch>
            <a:fillRect/>
          </a:stretch>
        </p:blipFill>
        <p:spPr bwMode="auto">
          <a:xfrm>
            <a:off x="172275" y="1315165"/>
            <a:ext cx="8786874" cy="3240883"/>
          </a:xfrm>
          <a:prstGeom prst="rect">
            <a:avLst/>
          </a:prstGeom>
          <a:noFill/>
          <a:ln w="9525">
            <a:noFill/>
            <a:miter lim="800000"/>
            <a:headEnd/>
            <a:tailEnd/>
          </a:ln>
        </p:spPr>
      </p:pic>
      <p:sp>
        <p:nvSpPr>
          <p:cNvPr id="6" name="矩形 5"/>
          <p:cNvSpPr/>
          <p:nvPr/>
        </p:nvSpPr>
        <p:spPr>
          <a:xfrm>
            <a:off x="29431" y="4458437"/>
            <a:ext cx="9144000" cy="15696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当</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电容器的金属电极上加有较大的负偏压时</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能带明显向上弯曲，在表面造成多数载流子空穴的大量积累；只要表面势</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1" i="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稍有变化，就会引起表面空间电荷</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Q</a:t>
            </a:r>
            <a:r>
              <a:rPr lang="en-US" altLang="zh-CN" sz="2400" b="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的很大变化；所以，半导体表面电容比较大</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 name="Object 2"/>
          <p:cNvPicPr>
            <a:picLocks noChangeAspect="1"/>
          </p:cNvPicPr>
          <p:nvPr/>
        </p:nvPicPr>
        <p:blipFill>
          <a:blip r:embed="rId3"/>
          <a:stretch>
            <a:fillRect/>
          </a:stretch>
        </p:blipFill>
        <p:spPr>
          <a:xfrm>
            <a:off x="3529861" y="5744321"/>
            <a:ext cx="1890645" cy="1143008"/>
          </a:xfrm>
          <a:noFill/>
          <a:ln w="9525">
            <a:noFill/>
          </a:ln>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723" y="5682317"/>
            <a:ext cx="1897063"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3845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Text Box 3"/>
          <p:cNvSpPr txBox="1">
            <a:spLocks noChangeArrowheads="1"/>
          </p:cNvSpPr>
          <p:nvPr/>
        </p:nvSpPr>
        <p:spPr bwMode="auto">
          <a:xfrm>
            <a:off x="0" y="4325858"/>
            <a:ext cx="4537075" cy="1200329"/>
          </a:xfrm>
          <a:prstGeom prst="rect">
            <a:avLst/>
          </a:prstGeom>
          <a:solidFill>
            <a:srgbClr val="FFCC99"/>
          </a:solidFill>
          <a:ln w="9525">
            <a:noFill/>
            <a:miter lim="800000"/>
          </a:ln>
          <a:effec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400" b="1" dirty="0">
                <a:latin typeface="楷体" panose="02010609060101010101" pitchFamily="49" charset="-122"/>
                <a:ea typeface="楷体" panose="02010609060101010101" pitchFamily="49" charset="-122"/>
              </a:rPr>
              <a:t>加小的正栅压，表面耗尽层电荷随交流小信号栅压的变化而变化，出现耗尽层电容</a:t>
            </a:r>
            <a:r>
              <a:rPr lang="zh-CN" altLang="en-US" sz="2400" b="1"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i="1" dirty="0" err="1" smtClean="0">
                <a:latin typeface="Times New Roman" panose="02020603050405020304" pitchFamily="18" charset="0"/>
                <a:ea typeface="楷体" panose="02010609060101010101" pitchFamily="49" charset="-122"/>
                <a:cs typeface="Times New Roman" panose="02020603050405020304" pitchFamily="18" charset="0"/>
              </a:rPr>
              <a:t>dep</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i="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 name="Picture 4" descr="场效应器件物理051"/>
          <p:cNvPicPr>
            <a:picLocks noChangeAspect="1" noChangeArrowheads="1"/>
          </p:cNvPicPr>
          <p:nvPr/>
        </p:nvPicPr>
        <p:blipFill>
          <a:blip r:embed="rId2"/>
          <a:srcRect l="4085" r="745"/>
          <a:stretch>
            <a:fillRect/>
          </a:stretch>
        </p:blipFill>
        <p:spPr bwMode="auto">
          <a:xfrm>
            <a:off x="0" y="1331812"/>
            <a:ext cx="9144000" cy="2930533"/>
          </a:xfrm>
          <a:prstGeom prst="rect">
            <a:avLst/>
          </a:prstGeom>
          <a:noFill/>
          <a:ln w="9525">
            <a:noFill/>
            <a:miter lim="800000"/>
            <a:headEnd/>
            <a:tailEnd/>
          </a:ln>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08" y="4254840"/>
            <a:ext cx="799465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5362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23944"/>
            <a:ext cx="9144000" cy="186512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spcBef>
                <a:spcPct val="50000"/>
              </a:spcBef>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当负偏压的数值逐渐减小时，表面积累的空穴数随之减少，且</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Q</a:t>
            </a:r>
            <a:r>
              <a:rPr lang="en-US" altLang="zh-CN" sz="2400" b="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随</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altLang="zh-CN" sz="2400" b="1" i="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的变化逐渐减慢，</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 C</a:t>
            </a:r>
            <a:r>
              <a:rPr lang="en-US" altLang="zh-CN" sz="2400" b="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变小，它的作用就不能忽略；将使总电容减小，所以负偏压的数值愈小，</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b="1" baseline="-25000"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愈小，</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电容器的总电容</a:t>
            </a:r>
            <a:r>
              <a:rPr lang="en-US" altLang="zh-CN" sz="2400" b="1" i="1"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就愈小。</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 name="Picture 5" descr="场效应器件物理042"/>
          <p:cNvPicPr>
            <a:picLocks noChangeAspect="1" noChangeArrowheads="1"/>
          </p:cNvPicPr>
          <p:nvPr/>
        </p:nvPicPr>
        <p:blipFill>
          <a:blip r:embed="rId2"/>
          <a:srcRect l="4256" b="3735"/>
          <a:stretch>
            <a:fillRect/>
          </a:stretch>
        </p:blipFill>
        <p:spPr bwMode="auto">
          <a:xfrm>
            <a:off x="0" y="2981332"/>
            <a:ext cx="4968875" cy="2752725"/>
          </a:xfrm>
          <a:prstGeom prst="rect">
            <a:avLst/>
          </a:prstGeom>
          <a:noFill/>
          <a:ln w="9525">
            <a:noFill/>
            <a:miter lim="800000"/>
            <a:headEnd/>
            <a:tailEnd/>
          </a:ln>
        </p:spPr>
      </p:pic>
      <p:sp>
        <p:nvSpPr>
          <p:cNvPr id="7" name="Text Box 3"/>
          <p:cNvSpPr txBox="1">
            <a:spLocks noChangeArrowheads="1"/>
          </p:cNvSpPr>
          <p:nvPr/>
        </p:nvSpPr>
        <p:spPr bwMode="auto">
          <a:xfrm>
            <a:off x="4606925" y="2909894"/>
            <a:ext cx="4537075" cy="855234"/>
          </a:xfrm>
          <a:prstGeom prst="rect">
            <a:avLst/>
          </a:prstGeom>
          <a:solidFill>
            <a:srgbClr val="FFCC99"/>
          </a:solidFill>
          <a:ln w="9525">
            <a:noFill/>
            <a:miter lim="800000"/>
          </a:ln>
          <a:effec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ct val="50000"/>
              </a:spcBef>
            </a:pP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所加负栅压正好等于平带电压</a:t>
            </a:r>
            <a:r>
              <a:rPr lang="en-US" sz="2000" b="1" dirty="0">
                <a:latin typeface="Times New Roman" panose="02020603050405020304" pitchFamily="18" charset="0"/>
                <a:ea typeface="楷体" panose="02010609060101010101" pitchFamily="49" charset="-122"/>
                <a:cs typeface="Times New Roman" panose="02020603050405020304" pitchFamily="18" charset="0"/>
              </a:rPr>
              <a:t>V</a:t>
            </a:r>
            <a:r>
              <a:rPr lang="en-US" sz="2000" b="1" baseline="-25000" dirty="0">
                <a:latin typeface="Times New Roman" panose="02020603050405020304" pitchFamily="18" charset="0"/>
                <a:ea typeface="楷体" panose="02010609060101010101" pitchFamily="49" charset="-122"/>
                <a:cs typeface="Times New Roman" panose="02020603050405020304" pitchFamily="18" charset="0"/>
              </a:rPr>
              <a:t>FB</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，使半导体表面能带无弯曲</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467" y="4499993"/>
            <a:ext cx="3833813"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8847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3" descr="场效应器件物理049"/>
          <p:cNvPicPr>
            <a:picLocks noChangeAspect="1" noChangeArrowheads="1"/>
          </p:cNvPicPr>
          <p:nvPr/>
        </p:nvPicPr>
        <p:blipFill>
          <a:blip r:embed="rId2"/>
          <a:srcRect r="2631" b="2339"/>
          <a:stretch>
            <a:fillRect/>
          </a:stretch>
        </p:blipFill>
        <p:spPr bwMode="auto">
          <a:xfrm>
            <a:off x="441172" y="1412776"/>
            <a:ext cx="8215370" cy="3028960"/>
          </a:xfrm>
          <a:prstGeom prst="rect">
            <a:avLst/>
          </a:prstGeom>
          <a:noFill/>
          <a:ln w="9525">
            <a:noFill/>
            <a:miter lim="800000"/>
            <a:headEnd/>
            <a:tailEnd/>
          </a:ln>
        </p:spPr>
      </p:pic>
      <p:sp>
        <p:nvSpPr>
          <p:cNvPr id="6" name="矩形 5"/>
          <p:cNvSpPr/>
          <p:nvPr/>
        </p:nvSpPr>
        <p:spPr>
          <a:xfrm>
            <a:off x="12576" y="4698924"/>
            <a:ext cx="9144000" cy="22713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30000"/>
              </a:spcBef>
              <a:buFont typeface="Wingdings" panose="05000000000000000000" pitchFamily="2" charset="2"/>
              <a:buChar char="Ø"/>
            </a:pP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CV</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特性测量直流偏压加交流信号，</a:t>
            </a:r>
            <a:r>
              <a:rPr lang="en-US" sz="2400" b="1" i="1" dirty="0" smtClean="0">
                <a:latin typeface="Times New Roman" panose="02020603050405020304" pitchFamily="18" charset="0"/>
                <a:ea typeface="楷体" panose="02010609060101010101" pitchFamily="49" charset="-122"/>
                <a:cs typeface="Times New Roman" panose="02020603050405020304" pitchFamily="18" charset="0"/>
              </a:rPr>
              <a:t>V</a:t>
            </a:r>
            <a:r>
              <a:rPr lang="en-US" sz="2400" b="1" i="1" baseline="-25000" dirty="0" smtClean="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变化，半导体表面电荷变化由谁来贡献？</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spcBef>
                <a:spcPct val="30000"/>
              </a:spcBef>
              <a:buFont typeface="Wingdings" panose="05000000000000000000" pitchFamily="2" charset="2"/>
              <a:buChar char="Ø"/>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spcBef>
                <a:spcPct val="30000"/>
              </a:spcBef>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与交流信号的频率有关。</a:t>
            </a:r>
          </a:p>
          <a:p>
            <a:pPr>
              <a:spcBef>
                <a:spcPct val="30000"/>
              </a:spcBef>
              <a:buFont typeface="Wingdings" panose="05000000000000000000" pitchFamily="2" charset="2"/>
              <a:buChar char="Ø"/>
            </a:pP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TextBox 6"/>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3039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1196752"/>
            <a:ext cx="9144000" cy="489364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热运动：电子从价带激发到导带，产生自由电子和空穴，</a:t>
            </a: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（电子热运动挣脱共价键束缚的过程）</a:t>
            </a:r>
          </a:p>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半导体始终存在热运动过程，不断有电子空穴对的产生和复合。</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反型层电荷来源：（热运动产生的少子）</a:t>
            </a:r>
          </a:p>
          <a:p>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型衬底少子电子通过耗尽层到反型层（扩散）</a:t>
            </a:r>
          </a:p>
          <a:p>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、耗尽层中热运动产生电子空穴对，电子漂移到反型层。</a:t>
            </a:r>
          </a:p>
          <a:p>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栅压正向变化对应电子产生过程，负向变化对应电子复合过程</a:t>
            </a: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p>
          <a:p>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少子的产生复合过程需要时间 ，反型层电荷是否跟得上交流信号变化与信号频率相关。</a:t>
            </a:r>
          </a:p>
          <a:p>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TextBox 5"/>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3932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Rectangle 4"/>
          <p:cNvSpPr>
            <a:spLocks noChangeArrowheads="1"/>
          </p:cNvSpPr>
          <p:nvPr/>
        </p:nvSpPr>
        <p:spPr bwMode="auto">
          <a:xfrm>
            <a:off x="-17242" y="1196752"/>
            <a:ext cx="9144000" cy="4893647"/>
          </a:xfrm>
          <a:prstGeom prst="rect">
            <a:avLst/>
          </a:prstGeom>
          <a:noFill/>
          <a:ln w="9525">
            <a:noFill/>
            <a:miter lim="800000"/>
          </a:ln>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eaLnBrk="1" hangingPunct="1">
              <a:lnSpc>
                <a:spcPct val="130000"/>
              </a:lnSpc>
              <a:buFont typeface="Wingdings" panose="05000000000000000000" pitchFamily="2" charset="2"/>
              <a:buChar char="Ø"/>
            </a:pPr>
            <a:r>
              <a:rPr lang="zh-CN" altLang="en-US" sz="2400" b="1" dirty="0">
                <a:solidFill>
                  <a:schemeClr val="tx1"/>
                </a:solidFill>
                <a:latin typeface="楷体" panose="02010609060101010101" pitchFamily="49" charset="-122"/>
                <a:ea typeface="楷体" panose="02010609060101010101" pitchFamily="49" charset="-122"/>
              </a:rPr>
              <a:t>在积累区和耗尽区，当表面势变化时，空间电荷的变化是通过</a:t>
            </a:r>
            <a:r>
              <a:rPr lang="zh-CN" altLang="en-US" sz="2400" b="1" dirty="0">
                <a:solidFill>
                  <a:srgbClr val="FF0000"/>
                </a:solidFill>
                <a:latin typeface="楷体" panose="02010609060101010101" pitchFamily="49" charset="-122"/>
                <a:ea typeface="楷体" panose="02010609060101010101" pitchFamily="49" charset="-122"/>
              </a:rPr>
              <a:t>多子空穴</a:t>
            </a:r>
            <a:r>
              <a:rPr lang="zh-CN" altLang="en-US" sz="2400" b="1" dirty="0">
                <a:solidFill>
                  <a:schemeClr val="tx1"/>
                </a:solidFill>
                <a:latin typeface="楷体" panose="02010609060101010101" pitchFamily="49" charset="-122"/>
                <a:ea typeface="楷体" panose="02010609060101010101" pitchFamily="49" charset="-122"/>
              </a:rPr>
              <a:t>的流动实现的，从而引起电容效应。在这种情况下，电荷变化的一般能跟得上交变电压的变化。</a:t>
            </a:r>
            <a:r>
              <a:rPr lang="zh-CN" altLang="en-US" sz="2400" b="1" dirty="0">
                <a:solidFill>
                  <a:srgbClr val="FF0000"/>
                </a:solidFill>
                <a:latin typeface="楷体" panose="02010609060101010101" pitchFamily="49" charset="-122"/>
                <a:ea typeface="楷体" panose="02010609060101010101" pitchFamily="49" charset="-122"/>
              </a:rPr>
              <a:t>电容与频率无关</a:t>
            </a:r>
            <a:r>
              <a:rPr lang="zh-CN" altLang="en-US" sz="2400" b="1" dirty="0" smtClean="0">
                <a:solidFill>
                  <a:srgbClr val="FF0000"/>
                </a:solidFill>
                <a:latin typeface="楷体" panose="02010609060101010101" pitchFamily="49" charset="-122"/>
                <a:ea typeface="楷体" panose="02010609060101010101" pitchFamily="49" charset="-122"/>
              </a:rPr>
              <a:t>。</a:t>
            </a:r>
            <a:endParaRPr lang="en-US" altLang="zh-CN" sz="2400" b="1" dirty="0" smtClean="0">
              <a:solidFill>
                <a:srgbClr val="FF0000"/>
              </a:solidFill>
              <a:latin typeface="楷体" panose="02010609060101010101" pitchFamily="49" charset="-122"/>
              <a:ea typeface="楷体" panose="02010609060101010101" pitchFamily="49" charset="-122"/>
            </a:endParaRPr>
          </a:p>
          <a:p>
            <a:pPr algn="just" eaLnBrk="1" hangingPunct="1">
              <a:lnSpc>
                <a:spcPct val="130000"/>
              </a:lnSpc>
              <a:buFont typeface="Wingdings" panose="05000000000000000000" pitchFamily="2" charset="2"/>
              <a:buChar char="Ø"/>
            </a:pPr>
            <a:endParaRPr lang="en-US" altLang="zh-CN" sz="2400" b="1" dirty="0" smtClean="0">
              <a:solidFill>
                <a:srgbClr val="FF0000"/>
              </a:solidFill>
              <a:latin typeface="楷体" panose="02010609060101010101" pitchFamily="49" charset="-122"/>
              <a:ea typeface="楷体" panose="02010609060101010101" pitchFamily="49" charset="-122"/>
            </a:endParaRPr>
          </a:p>
          <a:p>
            <a:pPr algn="just">
              <a:lnSpc>
                <a:spcPct val="130000"/>
              </a:lnSpc>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cs typeface="Times New Roman" panose="02020603050405020304" pitchFamily="18" charset="0"/>
              </a:rPr>
              <a:t>在出现反型层以后，特别是在接近强反型时，当</a:t>
            </a:r>
            <a:r>
              <a:rPr lang="zh-CN" altLang="en-US" sz="2400" b="1" dirty="0" smtClean="0">
                <a:latin typeface="楷体" panose="02010609060101010101" pitchFamily="49" charset="-122"/>
                <a:ea typeface="楷体" panose="02010609060101010101" pitchFamily="49" charset="-122"/>
              </a:rPr>
              <a:t>频率较高，耗尽层中电子-空穴对的产生和复合过程跟不上交流电压的变化，反型层中的电子电荷密度也就来不及改变。</a:t>
            </a:r>
            <a:endParaRPr lang="en-US" altLang="zh-CN" sz="2400" b="1" dirty="0" smtClean="0">
              <a:latin typeface="楷体" panose="02010609060101010101" pitchFamily="49" charset="-122"/>
              <a:ea typeface="楷体" panose="02010609060101010101" pitchFamily="49" charset="-122"/>
            </a:endParaRPr>
          </a:p>
          <a:p>
            <a:pPr algn="just">
              <a:lnSpc>
                <a:spcPct val="130000"/>
              </a:lnSpc>
              <a:buFont typeface="Wingdings" panose="05000000000000000000" pitchFamily="2" charset="2"/>
              <a:buChar char="Ø"/>
            </a:pPr>
            <a:endParaRPr lang="en-US" altLang="zh-CN" sz="2400" b="1" dirty="0" smtClean="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a:p>
            <a:pPr algn="just">
              <a:lnSpc>
                <a:spcPct val="130000"/>
              </a:lnSpc>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频率比较低，耗尽层中电子-空穴对的产生与复合过程能跟得上信号的变化。</a:t>
            </a:r>
            <a:endParaRPr lang="zh-CN" altLang="en-US" sz="2400" b="1" dirty="0">
              <a:solidFill>
                <a:srgbClr val="FF000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6" name="TextBox 5"/>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0120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3" descr="场效应器件物理049"/>
          <p:cNvPicPr>
            <a:picLocks noChangeAspect="1" noChangeArrowheads="1"/>
          </p:cNvPicPr>
          <p:nvPr/>
        </p:nvPicPr>
        <p:blipFill>
          <a:blip r:embed="rId2"/>
          <a:srcRect r="2631" b="2339"/>
          <a:stretch>
            <a:fillRect/>
          </a:stretch>
        </p:blipFill>
        <p:spPr bwMode="auto">
          <a:xfrm>
            <a:off x="142844" y="1126360"/>
            <a:ext cx="8715436" cy="3000396"/>
          </a:xfrm>
          <a:prstGeom prst="rect">
            <a:avLst/>
          </a:prstGeom>
          <a:noFill/>
          <a:ln w="9525">
            <a:noFill/>
            <a:miter lim="800000"/>
            <a:headEnd/>
            <a:tailEnd/>
          </a:ln>
        </p:spPr>
      </p:pic>
      <p:sp>
        <p:nvSpPr>
          <p:cNvPr id="6" name="矩形 5"/>
          <p:cNvSpPr/>
          <p:nvPr/>
        </p:nvSpPr>
        <p:spPr>
          <a:xfrm>
            <a:off x="0" y="4198194"/>
            <a:ext cx="4572000" cy="2677656"/>
          </a:xfrm>
          <a:prstGeom prst="rect">
            <a:avLst/>
          </a:prstGeom>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ct val="50000"/>
              </a:spcBef>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加大的正直流栅压：半导体表面强反型状态</a:t>
            </a:r>
          </a:p>
          <a:p>
            <a:pPr>
              <a:lnSpc>
                <a:spcPct val="130000"/>
              </a:lnSpc>
              <a:spcBef>
                <a:spcPct val="50000"/>
              </a:spcBef>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交流栅压变化较慢：反型层电荷跟得上交流栅压的变化，电荷随交流栅压变化较大</a:t>
            </a:r>
            <a:endParaRPr lang="zh-CN" altLang="en-US" sz="2400" b="1" dirty="0">
              <a:latin typeface="楷体" panose="02010609060101010101" pitchFamily="49" charset="-122"/>
              <a:ea typeface="楷体" panose="02010609060101010101" pitchFamily="49" charset="-122"/>
            </a:endParaRPr>
          </a:p>
        </p:txBody>
      </p:sp>
      <p:pic>
        <p:nvPicPr>
          <p:cNvPr id="7" name="Object 2"/>
          <p:cNvPicPr>
            <a:picLocks noChangeAspect="1"/>
          </p:cNvPicPr>
          <p:nvPr/>
        </p:nvPicPr>
        <p:blipFill>
          <a:blip r:embed="rId3"/>
          <a:stretch>
            <a:fillRect/>
          </a:stretch>
        </p:blipFill>
        <p:spPr>
          <a:xfrm>
            <a:off x="5143504" y="4412508"/>
            <a:ext cx="3483169" cy="1327167"/>
          </a:xfrm>
          <a:noFill/>
          <a:ln w="9525">
            <a:noFill/>
          </a:ln>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5760" y="4687788"/>
            <a:ext cx="3490913"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1001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4" descr="场效应器件物理049"/>
          <p:cNvPicPr>
            <a:picLocks noChangeAspect="1" noChangeArrowheads="1"/>
          </p:cNvPicPr>
          <p:nvPr/>
        </p:nvPicPr>
        <p:blipFill>
          <a:blip r:embed="rId2"/>
          <a:srcRect r="2631" b="2339"/>
          <a:stretch>
            <a:fillRect/>
          </a:stretch>
        </p:blipFill>
        <p:spPr bwMode="auto">
          <a:xfrm>
            <a:off x="153914" y="1087059"/>
            <a:ext cx="8704366" cy="2928958"/>
          </a:xfrm>
          <a:prstGeom prst="rect">
            <a:avLst/>
          </a:prstGeom>
          <a:solidFill>
            <a:srgbClr val="FF9900"/>
          </a:solidFill>
          <a:ln w="9525">
            <a:noFill/>
            <a:miter lim="800000"/>
            <a:headEnd/>
            <a:tailEnd/>
          </a:ln>
        </p:spPr>
      </p:pic>
      <p:sp>
        <p:nvSpPr>
          <p:cNvPr id="6" name="矩形 5"/>
          <p:cNvSpPr/>
          <p:nvPr/>
        </p:nvSpPr>
        <p:spPr>
          <a:xfrm>
            <a:off x="123979" y="4005064"/>
            <a:ext cx="5768061" cy="2677656"/>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加较大的直流正栅压：半导体表面强反型状态</a:t>
            </a:r>
          </a:p>
          <a:p>
            <a:pPr>
              <a:spcBef>
                <a:spcPct val="50000"/>
              </a:spcBef>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交流栅压变化较快：反型层电荷跟不上栅压的变化，电荷基本不随栅压变化</a:t>
            </a:r>
            <a:endParaRPr lang="en-US" sz="2400" b="1" dirty="0" smtClean="0">
              <a:latin typeface="楷体" panose="02010609060101010101" pitchFamily="49" charset="-122"/>
              <a:ea typeface="楷体" panose="02010609060101010101" pitchFamily="49" charset="-122"/>
            </a:endParaRPr>
          </a:p>
          <a:p>
            <a:pPr>
              <a:spcBef>
                <a:spcPct val="50000"/>
              </a:spcBef>
              <a:buFont typeface="Wingdings" panose="05000000000000000000" pitchFamily="2" charset="2"/>
              <a:buChar char="Ø"/>
            </a:pPr>
            <a:r>
              <a:rPr lang="zh-CN" altLang="en-US" sz="2400" b="1" dirty="0" smtClean="0">
                <a:latin typeface="楷体" panose="02010609060101010101" pitchFamily="49" charset="-122"/>
                <a:ea typeface="楷体" panose="02010609060101010101" pitchFamily="49" charset="-122"/>
              </a:rPr>
              <a:t>交流小信号：耗尽层宽度乃至耗尽层电容随栅压变化微弱。</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8815" y="4293096"/>
            <a:ext cx="3970337"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4440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6"/>
          <p:cNvPicPr>
            <a:picLocks noChangeAspect="1" noChangeArrowheads="1"/>
          </p:cNvPicPr>
          <p:nvPr/>
        </p:nvPicPr>
        <p:blipFill>
          <a:blip r:embed="rId2"/>
          <a:srcRect/>
          <a:stretch>
            <a:fillRect/>
          </a:stretch>
        </p:blipFill>
        <p:spPr bwMode="auto">
          <a:xfrm>
            <a:off x="612574" y="1412776"/>
            <a:ext cx="7586202" cy="4680000"/>
          </a:xfrm>
          <a:prstGeom prst="rect">
            <a:avLst/>
          </a:prstGeom>
          <a:noFill/>
          <a:ln w="9525">
            <a:noFill/>
            <a:miter lim="800000"/>
            <a:headEnd/>
            <a:tailEnd/>
          </a:ln>
        </p:spPr>
      </p:pic>
      <p:sp>
        <p:nvSpPr>
          <p:cNvPr id="6" name="TextBox 5"/>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814197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9" descr="场效应器件物理053"/>
          <p:cNvPicPr>
            <a:picLocks noChangeAspect="1" noChangeArrowheads="1"/>
          </p:cNvPicPr>
          <p:nvPr/>
        </p:nvPicPr>
        <p:blipFill>
          <a:blip r:embed="rId2"/>
          <a:srcRect l="3751"/>
          <a:stretch>
            <a:fillRect/>
          </a:stretch>
        </p:blipFill>
        <p:spPr bwMode="auto">
          <a:xfrm>
            <a:off x="1115616" y="1412776"/>
            <a:ext cx="6419732" cy="4680000"/>
          </a:xfrm>
          <a:prstGeom prst="rect">
            <a:avLst/>
          </a:prstGeom>
          <a:noFill/>
          <a:ln w="9525">
            <a:noFill/>
            <a:miter lim="800000"/>
            <a:headEnd/>
            <a:tailEnd/>
          </a:ln>
        </p:spPr>
      </p:pic>
      <p:sp>
        <p:nvSpPr>
          <p:cNvPr id="6" name="TextBox 5"/>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581055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3" descr="场效应器件物理048"/>
          <p:cNvPicPr>
            <a:picLocks noChangeAspect="1" noChangeArrowheads="1"/>
          </p:cNvPicPr>
          <p:nvPr/>
        </p:nvPicPr>
        <p:blipFill>
          <a:blip r:embed="rId2"/>
          <a:srcRect/>
          <a:stretch>
            <a:fillRect/>
          </a:stretch>
        </p:blipFill>
        <p:spPr bwMode="auto">
          <a:xfrm>
            <a:off x="539552" y="1196752"/>
            <a:ext cx="4464050" cy="2781300"/>
          </a:xfrm>
          <a:prstGeom prst="rect">
            <a:avLst/>
          </a:prstGeom>
          <a:noFill/>
          <a:ln w="9525">
            <a:noFill/>
            <a:miter lim="800000"/>
            <a:headEnd/>
            <a:tailEnd/>
          </a:ln>
        </p:spPr>
      </p:pic>
      <p:pic>
        <p:nvPicPr>
          <p:cNvPr id="6" name="Picture 4" descr="场效应器件物理052"/>
          <p:cNvPicPr>
            <a:picLocks noChangeAspect="1" noChangeArrowheads="1"/>
          </p:cNvPicPr>
          <p:nvPr/>
        </p:nvPicPr>
        <p:blipFill>
          <a:blip r:embed="rId3"/>
          <a:srcRect/>
          <a:stretch>
            <a:fillRect/>
          </a:stretch>
        </p:blipFill>
        <p:spPr bwMode="auto">
          <a:xfrm>
            <a:off x="4140002" y="3990752"/>
            <a:ext cx="4760912" cy="2755900"/>
          </a:xfrm>
          <a:prstGeom prst="rect">
            <a:avLst/>
          </a:prstGeom>
          <a:noFill/>
          <a:ln w="9525">
            <a:noFill/>
            <a:miter lim="800000"/>
            <a:headEnd/>
            <a:tailEnd/>
          </a:ln>
        </p:spPr>
      </p:pic>
      <p:sp>
        <p:nvSpPr>
          <p:cNvPr id="7" name="Text Box 5"/>
          <p:cNvSpPr txBox="1">
            <a:spLocks noChangeArrowheads="1"/>
          </p:cNvSpPr>
          <p:nvPr/>
        </p:nvSpPr>
        <p:spPr bwMode="auto">
          <a:xfrm>
            <a:off x="5722739" y="2133377"/>
            <a:ext cx="2919442" cy="461665"/>
          </a:xfrm>
          <a:prstGeom prst="rect">
            <a:avLst/>
          </a:prstGeom>
          <a:noFill/>
          <a:ln w="9525">
            <a:noFill/>
            <a:miter lim="800000"/>
          </a:ln>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型衬底</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N</a:t>
            </a: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结构</a:t>
            </a:r>
          </a:p>
        </p:txBody>
      </p:sp>
      <p:sp>
        <p:nvSpPr>
          <p:cNvPr id="8" name="AutoShape 6"/>
          <p:cNvSpPr>
            <a:spLocks noChangeArrowheads="1"/>
          </p:cNvSpPr>
          <p:nvPr/>
        </p:nvSpPr>
        <p:spPr bwMode="auto">
          <a:xfrm>
            <a:off x="5290939" y="2204815"/>
            <a:ext cx="287338" cy="360362"/>
          </a:xfrm>
          <a:prstGeom prst="leftArrow">
            <a:avLst>
              <a:gd name="adj1" fmla="val 50000"/>
              <a:gd name="adj2" fmla="val 25000"/>
            </a:avLst>
          </a:prstGeom>
          <a:noFill/>
          <a:ln w="38100" cmpd="sng">
            <a:solidFill>
              <a:schemeClr val="tx1"/>
            </a:solidFill>
            <a:miter lim="800000"/>
          </a:ln>
          <a:effectLst/>
        </p:spPr>
        <p:txBody>
          <a:bodyPr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AutoShape 7"/>
          <p:cNvSpPr>
            <a:spLocks noChangeArrowheads="1"/>
          </p:cNvSpPr>
          <p:nvPr/>
        </p:nvSpPr>
        <p:spPr bwMode="auto">
          <a:xfrm flipH="1">
            <a:off x="3419277" y="5157565"/>
            <a:ext cx="287337" cy="469900"/>
          </a:xfrm>
          <a:prstGeom prst="leftArrow">
            <a:avLst>
              <a:gd name="adj1" fmla="val 50000"/>
              <a:gd name="adj2" fmla="val 25000"/>
            </a:avLst>
          </a:prstGeom>
          <a:noFill/>
          <a:ln w="38100" cmpd="sng">
            <a:solidFill>
              <a:schemeClr val="tx1"/>
            </a:solidFill>
            <a:miter lim="800000"/>
          </a:ln>
          <a:effectLst/>
        </p:spPr>
        <p:txBody>
          <a:bodyPr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50000"/>
              </a:spcBef>
            </a:pPr>
            <a:endParaRPr lang="zh-CN" altLang="en-US" sz="1200">
              <a:ea typeface="宋体" panose="02010600030101010101" pitchFamily="2" charset="-122"/>
            </a:endParaRPr>
          </a:p>
        </p:txBody>
      </p:sp>
      <p:sp>
        <p:nvSpPr>
          <p:cNvPr id="10" name="Text Box 8"/>
          <p:cNvSpPr txBox="1">
            <a:spLocks noChangeArrowheads="1"/>
          </p:cNvSpPr>
          <p:nvPr/>
        </p:nvSpPr>
        <p:spPr bwMode="auto">
          <a:xfrm>
            <a:off x="498250" y="5157565"/>
            <a:ext cx="2849590" cy="461665"/>
          </a:xfrm>
          <a:prstGeom prst="rect">
            <a:avLst/>
          </a:prstGeom>
          <a:noFill/>
          <a:ln w="9525">
            <a:noFill/>
            <a:miter lim="800000"/>
          </a:ln>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型衬底</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P</a:t>
            </a:r>
            <a:r>
              <a:rPr lang="en-US" sz="2400" b="1" dirty="0" smtClean="0">
                <a:latin typeface="Times New Roman" panose="02020603050405020304" pitchFamily="18" charset="0"/>
                <a:ea typeface="楷体" panose="02010609060101010101" pitchFamily="49" charset="-122"/>
                <a:cs typeface="Times New Roman" panose="02020603050405020304" pitchFamily="18" charset="0"/>
              </a:rPr>
              <a:t>MOS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结构</a:t>
            </a:r>
          </a:p>
        </p:txBody>
      </p:sp>
      <p:sp>
        <p:nvSpPr>
          <p:cNvPr id="11" name="TextBox 10"/>
          <p:cNvSpPr txBox="1"/>
          <p:nvPr/>
        </p:nvSpPr>
        <p:spPr>
          <a:xfrm>
            <a:off x="142844" y="428604"/>
            <a:ext cx="1832553"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交流仿真</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226804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2075</TotalTime>
  <Words>1967</Words>
  <Application>Microsoft Office PowerPoint</Application>
  <PresentationFormat>全屏显示(4:3)</PresentationFormat>
  <Paragraphs>158</Paragraphs>
  <Slides>46</Slides>
  <Notes>0</Notes>
  <HiddenSlides>0</HiddenSlides>
  <MMClips>0</MMClips>
  <ScaleCrop>false</ScaleCrop>
  <HeadingPairs>
    <vt:vector size="4" baseType="variant">
      <vt:variant>
        <vt:lpstr>主题</vt:lpstr>
      </vt:variant>
      <vt:variant>
        <vt:i4>1</vt:i4>
      </vt:variant>
      <vt:variant>
        <vt:lpstr>幻灯片标题</vt:lpstr>
      </vt:variant>
      <vt:variant>
        <vt:i4>46</vt:i4>
      </vt:variant>
    </vt:vector>
  </HeadingPairs>
  <TitlesOfParts>
    <vt:vector size="47" baseType="lpstr">
      <vt:lpstr>Office 主题​​</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49</cp:revision>
  <dcterms:created xsi:type="dcterms:W3CDTF">2020-03-16T01:39:41Z</dcterms:created>
  <dcterms:modified xsi:type="dcterms:W3CDTF">2021-03-29T02:06:52Z</dcterms:modified>
</cp:coreProperties>
</file>